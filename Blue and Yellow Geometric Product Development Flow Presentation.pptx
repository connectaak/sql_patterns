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" charset="1" panose="00000000000000000000"/>
      <p:regular r:id="rId17"/>
    </p:embeddedFont>
    <p:embeddedFont>
      <p:font typeface="Gotham Bold" charset="1" panose="00000000000000000000"/>
      <p:regular r:id="rId18"/>
    </p:embeddedFont>
    <p:embeddedFont>
      <p:font typeface="Gotham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26.png" Type="http://schemas.openxmlformats.org/officeDocument/2006/relationships/image"/><Relationship Id="rId19" Target="../media/image27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png" Type="http://schemas.openxmlformats.org/officeDocument/2006/relationships/image"/><Relationship Id="rId19" Target="../media/image45.svg" Type="http://schemas.openxmlformats.org/officeDocument/2006/relationships/image"/><Relationship Id="rId2" Target="../media/image28.png" Type="http://schemas.openxmlformats.org/officeDocument/2006/relationships/image"/><Relationship Id="rId20" Target="../media/image46.png" Type="http://schemas.openxmlformats.org/officeDocument/2006/relationships/image"/><Relationship Id="rId21" Target="../media/image47.sv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17" Target="../media/image63.png" Type="http://schemas.openxmlformats.org/officeDocument/2006/relationships/image"/><Relationship Id="rId18" Target="../media/image64.svg" Type="http://schemas.openxmlformats.org/officeDocument/2006/relationships/image"/><Relationship Id="rId19" Target="../media/image65.png" Type="http://schemas.openxmlformats.org/officeDocument/2006/relationships/image"/><Relationship Id="rId2" Target="../media/image48.png" Type="http://schemas.openxmlformats.org/officeDocument/2006/relationships/image"/><Relationship Id="rId20" Target="../media/image66.svg" Type="http://schemas.openxmlformats.org/officeDocument/2006/relationships/image"/><Relationship Id="rId21" Target="../media/image67.png" Type="http://schemas.openxmlformats.org/officeDocument/2006/relationships/image"/><Relationship Id="rId22" Target="../media/image68.svg" Type="http://schemas.openxmlformats.org/officeDocument/2006/relationships/image"/><Relationship Id="rId23" Target="../media/image26.png" Type="http://schemas.openxmlformats.org/officeDocument/2006/relationships/image"/><Relationship Id="rId24" Target="../media/image27.sv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svg" Type="http://schemas.openxmlformats.org/officeDocument/2006/relationships/image"/><Relationship Id="rId11" Target="../media/image89.png" Type="http://schemas.openxmlformats.org/officeDocument/2006/relationships/image"/><Relationship Id="rId12" Target="../media/image90.svg" Type="http://schemas.openxmlformats.org/officeDocument/2006/relationships/image"/><Relationship Id="rId13" Target="../media/image91.png" Type="http://schemas.openxmlformats.org/officeDocument/2006/relationships/image"/><Relationship Id="rId14" Target="../media/image92.svg" Type="http://schemas.openxmlformats.org/officeDocument/2006/relationships/image"/><Relationship Id="rId15" Target="../media/image93.png" Type="http://schemas.openxmlformats.org/officeDocument/2006/relationships/image"/><Relationship Id="rId16" Target="../media/image94.svg" Type="http://schemas.openxmlformats.org/officeDocument/2006/relationships/image"/><Relationship Id="rId17" Target="../media/image95.png" Type="http://schemas.openxmlformats.org/officeDocument/2006/relationships/image"/><Relationship Id="rId18" Target="../media/image96.svg" Type="http://schemas.openxmlformats.org/officeDocument/2006/relationships/image"/><Relationship Id="rId19" Target="../media/image97.png" Type="http://schemas.openxmlformats.org/officeDocument/2006/relationships/image"/><Relationship Id="rId2" Target="../media/image48.png" Type="http://schemas.openxmlformats.org/officeDocument/2006/relationships/image"/><Relationship Id="rId20" Target="../media/image98.svg" Type="http://schemas.openxmlformats.org/officeDocument/2006/relationships/image"/><Relationship Id="rId21" Target="../media/image26.png" Type="http://schemas.openxmlformats.org/officeDocument/2006/relationships/image"/><Relationship Id="rId22" Target="../media/image27.svg" Type="http://schemas.openxmlformats.org/officeDocument/2006/relationships/image"/><Relationship Id="rId3" Target="../media/image81.png" Type="http://schemas.openxmlformats.org/officeDocument/2006/relationships/image"/><Relationship Id="rId4" Target="../media/image82.svg" Type="http://schemas.openxmlformats.org/officeDocument/2006/relationships/image"/><Relationship Id="rId5" Target="../media/image83.png" Type="http://schemas.openxmlformats.org/officeDocument/2006/relationships/image"/><Relationship Id="rId6" Target="../media/image84.svg" Type="http://schemas.openxmlformats.org/officeDocument/2006/relationships/image"/><Relationship Id="rId7" Target="../media/image85.png" Type="http://schemas.openxmlformats.org/officeDocument/2006/relationships/image"/><Relationship Id="rId8" Target="../media/image86.sv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46.png" Type="http://schemas.openxmlformats.org/officeDocument/2006/relationships/image"/><Relationship Id="rId16" Target="../media/image47.svg" Type="http://schemas.openxmlformats.org/officeDocument/2006/relationships/image"/><Relationship Id="rId17" Target="../media/image109.png" Type="http://schemas.openxmlformats.org/officeDocument/2006/relationships/image"/><Relationship Id="rId18" Target="../media/image110.svg" Type="http://schemas.openxmlformats.org/officeDocument/2006/relationships/image"/><Relationship Id="rId19" Target="../media/image111.png" Type="http://schemas.openxmlformats.org/officeDocument/2006/relationships/image"/><Relationship Id="rId2" Target="../media/image99.png" Type="http://schemas.openxmlformats.org/officeDocument/2006/relationships/image"/><Relationship Id="rId20" Target="../media/image112.svg" Type="http://schemas.openxmlformats.org/officeDocument/2006/relationships/image"/><Relationship Id="rId21" Target="../media/image113.png" Type="http://schemas.openxmlformats.org/officeDocument/2006/relationships/image"/><Relationship Id="rId22" Target="../media/image114.svg" Type="http://schemas.openxmlformats.org/officeDocument/2006/relationships/image"/><Relationship Id="rId23" Target="../media/image115.png" Type="http://schemas.openxmlformats.org/officeDocument/2006/relationships/image"/><Relationship Id="rId24" Target="../media/image116.svg" Type="http://schemas.openxmlformats.org/officeDocument/2006/relationships/image"/><Relationship Id="rId3" Target="../media/image100.svg" Type="http://schemas.openxmlformats.org/officeDocument/2006/relationships/image"/><Relationship Id="rId4" Target="../media/image101.png" Type="http://schemas.openxmlformats.org/officeDocument/2006/relationships/image"/><Relationship Id="rId5" Target="../media/image102.svg" Type="http://schemas.openxmlformats.org/officeDocument/2006/relationships/image"/><Relationship Id="rId6" Target="../media/image48.pn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svg" Type="http://schemas.openxmlformats.org/officeDocument/2006/relationships/image"/><Relationship Id="rId12" Target="../media/image117.png" Type="http://schemas.openxmlformats.org/officeDocument/2006/relationships/image"/><Relationship Id="rId13" Target="../media/image118.svg" Type="http://schemas.openxmlformats.org/officeDocument/2006/relationships/image"/><Relationship Id="rId14" Target="../media/image119.png" Type="http://schemas.openxmlformats.org/officeDocument/2006/relationships/image"/><Relationship Id="rId15" Target="../media/image120.svg" Type="http://schemas.openxmlformats.org/officeDocument/2006/relationships/image"/><Relationship Id="rId16" Target="../media/image121.png" Type="http://schemas.openxmlformats.org/officeDocument/2006/relationships/image"/><Relationship Id="rId17" Target="../media/image122.svg" Type="http://schemas.openxmlformats.org/officeDocument/2006/relationships/image"/><Relationship Id="rId18" Target="../media/image123.png" Type="http://schemas.openxmlformats.org/officeDocument/2006/relationships/image"/><Relationship Id="rId19" Target="../media/image124.svg" Type="http://schemas.openxmlformats.org/officeDocument/2006/relationships/image"/><Relationship Id="rId2" Target="../media/image99.png" Type="http://schemas.openxmlformats.org/officeDocument/2006/relationships/image"/><Relationship Id="rId20" Target="../media/image125.png" Type="http://schemas.openxmlformats.org/officeDocument/2006/relationships/image"/><Relationship Id="rId21" Target="../media/image126.svg" Type="http://schemas.openxmlformats.org/officeDocument/2006/relationships/image"/><Relationship Id="rId22" Target="../media/image127.png" Type="http://schemas.openxmlformats.org/officeDocument/2006/relationships/image"/><Relationship Id="rId23" Target="../media/image128.svg" Type="http://schemas.openxmlformats.org/officeDocument/2006/relationships/image"/><Relationship Id="rId24" Target="../media/image129.png" Type="http://schemas.openxmlformats.org/officeDocument/2006/relationships/image"/><Relationship Id="rId25" Target="../media/image130.svg" Type="http://schemas.openxmlformats.org/officeDocument/2006/relationships/image"/><Relationship Id="rId26" Target="../media/image26.png" Type="http://schemas.openxmlformats.org/officeDocument/2006/relationships/image"/><Relationship Id="rId27" Target="../media/image27.svg" Type="http://schemas.openxmlformats.org/officeDocument/2006/relationships/image"/><Relationship Id="rId3" Target="../media/image100.svg" Type="http://schemas.openxmlformats.org/officeDocument/2006/relationships/image"/><Relationship Id="rId4" Target="../media/image107.png" Type="http://schemas.openxmlformats.org/officeDocument/2006/relationships/image"/><Relationship Id="rId5" Target="../media/image108.svg" Type="http://schemas.openxmlformats.org/officeDocument/2006/relationships/image"/><Relationship Id="rId6" Target="../media/image101.png" Type="http://schemas.openxmlformats.org/officeDocument/2006/relationships/image"/><Relationship Id="rId7" Target="../media/image102.svg" Type="http://schemas.openxmlformats.org/officeDocument/2006/relationships/image"/><Relationship Id="rId8" Target="../media/image103.png" Type="http://schemas.openxmlformats.org/officeDocument/2006/relationships/image"/><Relationship Id="rId9" Target="../media/image10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png" Type="http://schemas.openxmlformats.org/officeDocument/2006/relationships/image"/><Relationship Id="rId11" Target="../media/image138.svg" Type="http://schemas.openxmlformats.org/officeDocument/2006/relationships/image"/><Relationship Id="rId12" Target="../media/image139.png" Type="http://schemas.openxmlformats.org/officeDocument/2006/relationships/image"/><Relationship Id="rId13" Target="../media/image140.svg" Type="http://schemas.openxmlformats.org/officeDocument/2006/relationships/image"/><Relationship Id="rId14" Target="../media/image141.png" Type="http://schemas.openxmlformats.org/officeDocument/2006/relationships/image"/><Relationship Id="rId15" Target="../media/image142.svg" Type="http://schemas.openxmlformats.org/officeDocument/2006/relationships/image"/><Relationship Id="rId16" Target="../media/image143.png" Type="http://schemas.openxmlformats.org/officeDocument/2006/relationships/image"/><Relationship Id="rId17" Target="../media/image144.svg" Type="http://schemas.openxmlformats.org/officeDocument/2006/relationships/image"/><Relationship Id="rId18" Target="../media/image145.png" Type="http://schemas.openxmlformats.org/officeDocument/2006/relationships/image"/><Relationship Id="rId19" Target="../media/image146.svg" Type="http://schemas.openxmlformats.org/officeDocument/2006/relationships/image"/><Relationship Id="rId2" Target="../media/image26.png" Type="http://schemas.openxmlformats.org/officeDocument/2006/relationships/image"/><Relationship Id="rId20" Target="../media/image61.png" Type="http://schemas.openxmlformats.org/officeDocument/2006/relationships/image"/><Relationship Id="rId21" Target="../media/image62.svg" Type="http://schemas.openxmlformats.org/officeDocument/2006/relationships/image"/><Relationship Id="rId3" Target="../media/image27.svg" Type="http://schemas.openxmlformats.org/officeDocument/2006/relationships/image"/><Relationship Id="rId4" Target="../media/image131.png" Type="http://schemas.openxmlformats.org/officeDocument/2006/relationships/image"/><Relationship Id="rId5" Target="../media/image132.svg" Type="http://schemas.openxmlformats.org/officeDocument/2006/relationships/image"/><Relationship Id="rId6" Target="../media/image133.png" Type="http://schemas.openxmlformats.org/officeDocument/2006/relationships/image"/><Relationship Id="rId7" Target="../media/image134.svg" Type="http://schemas.openxmlformats.org/officeDocument/2006/relationships/image"/><Relationship Id="rId8" Target="../media/image135.png" Type="http://schemas.openxmlformats.org/officeDocument/2006/relationships/image"/><Relationship Id="rId9" Target="../media/image13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svg" Type="http://schemas.openxmlformats.org/officeDocument/2006/relationships/image"/><Relationship Id="rId11" Target="../media/image152.png" Type="http://schemas.openxmlformats.org/officeDocument/2006/relationships/image"/><Relationship Id="rId12" Target="../media/image153.svg" Type="http://schemas.openxmlformats.org/officeDocument/2006/relationships/image"/><Relationship Id="rId13" Target="../media/image154.png" Type="http://schemas.openxmlformats.org/officeDocument/2006/relationships/image"/><Relationship Id="rId14" Target="../media/image155.svg" Type="http://schemas.openxmlformats.org/officeDocument/2006/relationships/image"/><Relationship Id="rId15" Target="../media/image156.png" Type="http://schemas.openxmlformats.org/officeDocument/2006/relationships/image"/><Relationship Id="rId16" Target="../media/image157.svg" Type="http://schemas.openxmlformats.org/officeDocument/2006/relationships/image"/><Relationship Id="rId2" Target="../media/image147.png" Type="http://schemas.openxmlformats.org/officeDocument/2006/relationships/image"/><Relationship Id="rId3" Target="../media/image148.svg" Type="http://schemas.openxmlformats.org/officeDocument/2006/relationships/image"/><Relationship Id="rId4" Target="../media/image149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150.png" Type="http://schemas.openxmlformats.org/officeDocument/2006/relationships/image"/><Relationship Id="rId8" Target="../media/image151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svg" Type="http://schemas.openxmlformats.org/officeDocument/2006/relationships/image"/><Relationship Id="rId11" Target="../media/image166.png" Type="http://schemas.openxmlformats.org/officeDocument/2006/relationships/image"/><Relationship Id="rId12" Target="../media/image167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58.png" Type="http://schemas.openxmlformats.org/officeDocument/2006/relationships/image"/><Relationship Id="rId3" Target="../media/image159.svg" Type="http://schemas.openxmlformats.org/officeDocument/2006/relationships/image"/><Relationship Id="rId4" Target="../media/image160.png" Type="http://schemas.openxmlformats.org/officeDocument/2006/relationships/image"/><Relationship Id="rId5" Target="../media/image161.svg" Type="http://schemas.openxmlformats.org/officeDocument/2006/relationships/image"/><Relationship Id="rId6" Target="../media/image48.png" Type="http://schemas.openxmlformats.org/officeDocument/2006/relationships/image"/><Relationship Id="rId7" Target="../media/image162.png" Type="http://schemas.openxmlformats.org/officeDocument/2006/relationships/image"/><Relationship Id="rId8" Target="../media/image163.svg" Type="http://schemas.openxmlformats.org/officeDocument/2006/relationships/image"/><Relationship Id="rId9" Target="../media/image1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0" y="-304481"/>
            <a:ext cx="6286500" cy="3536156"/>
            <a:chOff x="0" y="0"/>
            <a:chExt cx="144497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00750" y="-304481"/>
            <a:ext cx="6286500" cy="3536156"/>
            <a:chOff x="0" y="0"/>
            <a:chExt cx="1444978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0" y="-304481"/>
            <a:ext cx="6286500" cy="3536156"/>
            <a:chOff x="0" y="0"/>
            <a:chExt cx="144497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90500" y="3375422"/>
            <a:ext cx="6286500" cy="3536156"/>
            <a:chOff x="0" y="0"/>
            <a:chExt cx="144497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92000" y="3375422"/>
            <a:ext cx="6286500" cy="3536156"/>
            <a:chOff x="0" y="0"/>
            <a:chExt cx="1444978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190500" y="7054453"/>
            <a:ext cx="6286500" cy="3536156"/>
            <a:chOff x="0" y="0"/>
            <a:chExt cx="1444978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00750" y="7054453"/>
            <a:ext cx="6286500" cy="3536156"/>
            <a:chOff x="0" y="0"/>
            <a:chExt cx="1444978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92000" y="7054453"/>
            <a:ext cx="6286500" cy="3536156"/>
            <a:chOff x="0" y="0"/>
            <a:chExt cx="1444978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667000" y="1500188"/>
            <a:ext cx="12954000" cy="7286625"/>
            <a:chOff x="0" y="0"/>
            <a:chExt cx="1444978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449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4989" y="2467846"/>
            <a:ext cx="3978536" cy="7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Understand the five main phases in product development from idea to delivery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689302" y="2774163"/>
            <a:ext cx="10996081" cy="5324928"/>
          </a:xfrm>
          <a:custGeom>
            <a:avLst/>
            <a:gdLst/>
            <a:ahLst/>
            <a:cxnLst/>
            <a:rect r="r" b="b" t="t" l="l"/>
            <a:pathLst>
              <a:path h="5324928" w="10996081">
                <a:moveTo>
                  <a:pt x="0" y="0"/>
                </a:moveTo>
                <a:lnTo>
                  <a:pt x="10996081" y="0"/>
                </a:lnTo>
                <a:lnTo>
                  <a:pt x="10996081" y="5324929"/>
                </a:lnTo>
                <a:lnTo>
                  <a:pt x="0" y="532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68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737403" y="6882899"/>
            <a:ext cx="671692" cy="1765248"/>
          </a:xfrm>
          <a:custGeom>
            <a:avLst/>
            <a:gdLst/>
            <a:ahLst/>
            <a:cxnLst/>
            <a:rect r="r" b="b" t="t" l="l"/>
            <a:pathLst>
              <a:path h="1765248" w="671692">
                <a:moveTo>
                  <a:pt x="0" y="1765249"/>
                </a:moveTo>
                <a:lnTo>
                  <a:pt x="671692" y="1765249"/>
                </a:lnTo>
                <a:lnTo>
                  <a:pt x="671692" y="0"/>
                </a:lnTo>
                <a:lnTo>
                  <a:pt x="0" y="0"/>
                </a:lnTo>
                <a:lnTo>
                  <a:pt x="0" y="1765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393" t="-97997" r="-168856" b="-1042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267430" y="6882899"/>
            <a:ext cx="671692" cy="1765248"/>
          </a:xfrm>
          <a:custGeom>
            <a:avLst/>
            <a:gdLst/>
            <a:ahLst/>
            <a:cxnLst/>
            <a:rect r="r" b="b" t="t" l="l"/>
            <a:pathLst>
              <a:path h="1765248" w="671692">
                <a:moveTo>
                  <a:pt x="0" y="1765249"/>
                </a:moveTo>
                <a:lnTo>
                  <a:pt x="671692" y="1765249"/>
                </a:lnTo>
                <a:lnTo>
                  <a:pt x="671692" y="0"/>
                </a:lnTo>
                <a:lnTo>
                  <a:pt x="0" y="0"/>
                </a:lnTo>
                <a:lnTo>
                  <a:pt x="0" y="1765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393" t="-97997" r="-168856" b="-10428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17348878" y="2406912"/>
            <a:ext cx="671692" cy="1765248"/>
          </a:xfrm>
          <a:custGeom>
            <a:avLst/>
            <a:gdLst/>
            <a:ahLst/>
            <a:cxnLst/>
            <a:rect r="r" b="b" t="t" l="l"/>
            <a:pathLst>
              <a:path h="1765248" w="671692">
                <a:moveTo>
                  <a:pt x="0" y="1765248"/>
                </a:moveTo>
                <a:lnTo>
                  <a:pt x="671692" y="1765248"/>
                </a:lnTo>
                <a:lnTo>
                  <a:pt x="671692" y="0"/>
                </a:lnTo>
                <a:lnTo>
                  <a:pt x="0" y="0"/>
                </a:lnTo>
                <a:lnTo>
                  <a:pt x="0" y="17652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393" t="-97997" r="-168856" b="-10428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656867" y="2187908"/>
            <a:ext cx="3154758" cy="5324928"/>
          </a:xfrm>
          <a:custGeom>
            <a:avLst/>
            <a:gdLst/>
            <a:ahLst/>
            <a:cxnLst/>
            <a:rect r="r" b="b" t="t" l="l"/>
            <a:pathLst>
              <a:path h="5324928" w="3154758">
                <a:moveTo>
                  <a:pt x="0" y="5324929"/>
                </a:moveTo>
                <a:lnTo>
                  <a:pt x="3154758" y="5324929"/>
                </a:lnTo>
                <a:lnTo>
                  <a:pt x="3154758" y="0"/>
                </a:lnTo>
                <a:lnTo>
                  <a:pt x="0" y="0"/>
                </a:lnTo>
                <a:lnTo>
                  <a:pt x="0" y="53249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3102" t="0" r="-2362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98678" y="5645173"/>
            <a:ext cx="490086" cy="474771"/>
          </a:xfrm>
          <a:custGeom>
            <a:avLst/>
            <a:gdLst/>
            <a:ahLst/>
            <a:cxnLst/>
            <a:rect r="r" b="b" t="t" l="l"/>
            <a:pathLst>
              <a:path h="474771" w="490086">
                <a:moveTo>
                  <a:pt x="0" y="0"/>
                </a:moveTo>
                <a:lnTo>
                  <a:pt x="490086" y="0"/>
                </a:lnTo>
                <a:lnTo>
                  <a:pt x="490086" y="474770"/>
                </a:lnTo>
                <a:lnTo>
                  <a:pt x="0" y="474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3160" y="3090251"/>
            <a:ext cx="445098" cy="474771"/>
          </a:xfrm>
          <a:custGeom>
            <a:avLst/>
            <a:gdLst/>
            <a:ahLst/>
            <a:cxnLst/>
            <a:rect r="r" b="b" t="t" l="l"/>
            <a:pathLst>
              <a:path h="474771" w="445098">
                <a:moveTo>
                  <a:pt x="0" y="0"/>
                </a:moveTo>
                <a:lnTo>
                  <a:pt x="445098" y="0"/>
                </a:lnTo>
                <a:lnTo>
                  <a:pt x="445098" y="474771"/>
                </a:lnTo>
                <a:lnTo>
                  <a:pt x="0" y="4747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03935" y="6629379"/>
            <a:ext cx="474771" cy="474771"/>
          </a:xfrm>
          <a:custGeom>
            <a:avLst/>
            <a:gdLst/>
            <a:ahLst/>
            <a:cxnLst/>
            <a:rect r="r" b="b" t="t" l="l"/>
            <a:pathLst>
              <a:path h="474771" w="474771">
                <a:moveTo>
                  <a:pt x="0" y="0"/>
                </a:moveTo>
                <a:lnTo>
                  <a:pt x="474771" y="0"/>
                </a:lnTo>
                <a:lnTo>
                  <a:pt x="474771" y="474770"/>
                </a:lnTo>
                <a:lnTo>
                  <a:pt x="0" y="474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84610" y="3109301"/>
            <a:ext cx="569440" cy="474771"/>
          </a:xfrm>
          <a:custGeom>
            <a:avLst/>
            <a:gdLst/>
            <a:ahLst/>
            <a:cxnLst/>
            <a:rect r="r" b="b" t="t" l="l"/>
            <a:pathLst>
              <a:path h="474771" w="569440">
                <a:moveTo>
                  <a:pt x="0" y="0"/>
                </a:moveTo>
                <a:lnTo>
                  <a:pt x="569440" y="0"/>
                </a:lnTo>
                <a:lnTo>
                  <a:pt x="569440" y="474771"/>
                </a:lnTo>
                <a:lnTo>
                  <a:pt x="0" y="4747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50214" y="6715104"/>
            <a:ext cx="474771" cy="474771"/>
          </a:xfrm>
          <a:custGeom>
            <a:avLst/>
            <a:gdLst/>
            <a:ahLst/>
            <a:cxnLst/>
            <a:rect r="r" b="b" t="t" l="l"/>
            <a:pathLst>
              <a:path h="474771" w="474771">
                <a:moveTo>
                  <a:pt x="0" y="0"/>
                </a:moveTo>
                <a:lnTo>
                  <a:pt x="474770" y="0"/>
                </a:lnTo>
                <a:lnTo>
                  <a:pt x="474770" y="474770"/>
                </a:lnTo>
                <a:lnTo>
                  <a:pt x="0" y="4747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700000">
            <a:off x="14633892" y="-1159293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700000">
            <a:off x="443958" y="8187711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33500" y="838200"/>
            <a:ext cx="4463807" cy="15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55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LIFECYCLE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91125" y="8234396"/>
            <a:ext cx="1714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Idea Stage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2262" y="8234396"/>
            <a:ext cx="2081126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Design Phase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80889" y="960277"/>
            <a:ext cx="2244236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Planning Phase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63388" y="960277"/>
            <a:ext cx="1714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Build Stage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91125" y="8713186"/>
            <a:ext cx="2996217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Identify product opportunities based on user needs or market gaps.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82262" y="8713186"/>
            <a:ext cx="2081126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Create wireframes, mockups, and early product visuals.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80889" y="1439067"/>
            <a:ext cx="2405000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Define scope, goals, budget, and development timeline.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63388" y="1439067"/>
            <a:ext cx="2286826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Develop and test product features in multiple iterations.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0" y="8234396"/>
            <a:ext cx="2081126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Launch Time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73250" y="8713186"/>
            <a:ext cx="2238375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Release product and begin gathering user data and feedback.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2075" y="2733167"/>
            <a:ext cx="3971925" cy="7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Key steps to structure your product development process from the beginning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500" y="1104900"/>
            <a:ext cx="4953000" cy="15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4"/>
              </a:lnSpc>
            </a:pPr>
            <a:r>
              <a:rPr lang="en-US" sz="56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PLANNING STEPS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539870" y="3198214"/>
            <a:ext cx="13058742" cy="2135729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2518871" y="2441655"/>
            <a:ext cx="7664781" cy="756558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true" flipV="false" rot="0">
            <a:off x="1409700" y="6092866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628339" y="5913793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7846978" y="4860429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4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4" y="1158151"/>
                </a:lnTo>
                <a:lnTo>
                  <a:pt x="2746444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1065618" y="3366561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284257" y="1825069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33500" y="5996043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2"/>
                </a:lnTo>
                <a:lnTo>
                  <a:pt x="2746443" y="1158152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4552139" y="5816971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7770778" y="4763606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4" y="0"/>
                </a:moveTo>
                <a:lnTo>
                  <a:pt x="0" y="0"/>
                </a:lnTo>
                <a:lnTo>
                  <a:pt x="0" y="1158152"/>
                </a:lnTo>
                <a:lnTo>
                  <a:pt x="2746444" y="1158152"/>
                </a:lnTo>
                <a:lnTo>
                  <a:pt x="27464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0989418" y="3269739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4208057" y="1728246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2"/>
                </a:lnTo>
                <a:lnTo>
                  <a:pt x="2746443" y="1158152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14588" y="6403717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724448" y="6224645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935735" y="5171280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65394" y="3677413"/>
            <a:ext cx="332091" cy="342804"/>
          </a:xfrm>
          <a:custGeom>
            <a:avLst/>
            <a:gdLst/>
            <a:ahLst/>
            <a:cxnLst/>
            <a:rect r="r" b="b" t="t" l="l"/>
            <a:pathLst>
              <a:path h="342804" w="332091">
                <a:moveTo>
                  <a:pt x="0" y="0"/>
                </a:moveTo>
                <a:lnTo>
                  <a:pt x="332092" y="0"/>
                </a:lnTo>
                <a:lnTo>
                  <a:pt x="332092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69024" y="2135920"/>
            <a:ext cx="375676" cy="342804"/>
          </a:xfrm>
          <a:custGeom>
            <a:avLst/>
            <a:gdLst/>
            <a:ahLst/>
            <a:cxnLst/>
            <a:rect r="r" b="b" t="t" l="l"/>
            <a:pathLst>
              <a:path h="342804" w="375676">
                <a:moveTo>
                  <a:pt x="0" y="0"/>
                </a:moveTo>
                <a:lnTo>
                  <a:pt x="375676" y="0"/>
                </a:lnTo>
                <a:lnTo>
                  <a:pt x="375676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546418" y="6326199"/>
            <a:ext cx="1454082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Research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60668" y="7745349"/>
            <a:ext cx="600664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79307" y="7563529"/>
            <a:ext cx="600664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98757" y="6505845"/>
            <a:ext cx="600664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18207" y="5011978"/>
            <a:ext cx="600664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37657" y="3470485"/>
            <a:ext cx="600664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65057" y="6147127"/>
            <a:ext cx="1178668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Set Goals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60668" y="8128889"/>
            <a:ext cx="2187283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Collect user insights and market research to guide the concept.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79307" y="7947069"/>
            <a:ext cx="2291471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Determine what success looks like for the product and team.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98757" y="6889385"/>
            <a:ext cx="1895475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Outline features, timeline, and key deliverables.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83697" y="5093762"/>
            <a:ext cx="1303303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Define Scope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02336" y="3599895"/>
            <a:ext cx="1362529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Allocate Team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420975" y="2058402"/>
            <a:ext cx="1384020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Review Risks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18207" y="5395518"/>
            <a:ext cx="1895475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Assign roles based on expertise and required skills.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37657" y="3854026"/>
            <a:ext cx="1895475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Identify obstacles early and create response plans.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2700000">
            <a:off x="5990709" y="-950236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3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2700000">
            <a:off x="14202145" y="681112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3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94887" y="1999742"/>
            <a:ext cx="10292613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Key steps to structure your product development process from the beginning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53000" y="1104900"/>
            <a:ext cx="8382000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RESEARCH 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33500" y="678419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19076" y="640319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6417359"/>
            <a:ext cx="18288000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333500" y="4889579"/>
            <a:ext cx="2878696" cy="2193281"/>
            <a:chOff x="0" y="0"/>
            <a:chExt cx="758175" cy="5776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19076" y="4508579"/>
            <a:ext cx="2878696" cy="2193281"/>
            <a:chOff x="0" y="0"/>
            <a:chExt cx="758175" cy="5776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704652" y="611744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90228" y="640319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75804" y="678419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704652" y="4222829"/>
            <a:ext cx="2878696" cy="2193281"/>
            <a:chOff x="0" y="0"/>
            <a:chExt cx="758175" cy="5776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90228" y="4508579"/>
            <a:ext cx="2878696" cy="2193281"/>
            <a:chOff x="0" y="0"/>
            <a:chExt cx="758175" cy="5776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75804" y="4889579"/>
            <a:ext cx="2878696" cy="2193281"/>
            <a:chOff x="0" y="0"/>
            <a:chExt cx="758175" cy="5776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33500" y="4524725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519076" y="4143725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704652" y="3857975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90228" y="4143725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75804" y="4524725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32106" y="4687581"/>
            <a:ext cx="353498" cy="403998"/>
          </a:xfrm>
          <a:custGeom>
            <a:avLst/>
            <a:gdLst/>
            <a:ahLst/>
            <a:cxnLst/>
            <a:rect r="r" b="b" t="t" l="l"/>
            <a:pathLst>
              <a:path h="403998" w="353498">
                <a:moveTo>
                  <a:pt x="0" y="0"/>
                </a:moveTo>
                <a:lnTo>
                  <a:pt x="353498" y="0"/>
                </a:lnTo>
                <a:lnTo>
                  <a:pt x="353498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698352" y="4297056"/>
            <a:ext cx="391878" cy="403998"/>
          </a:xfrm>
          <a:custGeom>
            <a:avLst/>
            <a:gdLst/>
            <a:ahLst/>
            <a:cxnLst/>
            <a:rect r="r" b="b" t="t" l="l"/>
            <a:pathLst>
              <a:path h="403998" w="391878">
                <a:moveTo>
                  <a:pt x="0" y="0"/>
                </a:moveTo>
                <a:lnTo>
                  <a:pt x="391878" y="0"/>
                </a:lnTo>
                <a:lnTo>
                  <a:pt x="391878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871808" y="4020831"/>
            <a:ext cx="403998" cy="403998"/>
          </a:xfrm>
          <a:custGeom>
            <a:avLst/>
            <a:gdLst/>
            <a:ahLst/>
            <a:cxnLst/>
            <a:rect r="r" b="b" t="t" l="l"/>
            <a:pathLst>
              <a:path h="403998" w="403998">
                <a:moveTo>
                  <a:pt x="0" y="0"/>
                </a:moveTo>
                <a:lnTo>
                  <a:pt x="403998" y="0"/>
                </a:lnTo>
                <a:lnTo>
                  <a:pt x="403998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046031" y="4306581"/>
            <a:ext cx="432299" cy="394473"/>
          </a:xfrm>
          <a:custGeom>
            <a:avLst/>
            <a:gdLst/>
            <a:ahLst/>
            <a:cxnLst/>
            <a:rect r="r" b="b" t="t" l="l"/>
            <a:pathLst>
              <a:path h="394473" w="432299">
                <a:moveTo>
                  <a:pt x="0" y="0"/>
                </a:moveTo>
                <a:lnTo>
                  <a:pt x="432298" y="0"/>
                </a:lnTo>
                <a:lnTo>
                  <a:pt x="432298" y="394472"/>
                </a:lnTo>
                <a:lnTo>
                  <a:pt x="0" y="3944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254699" y="4687581"/>
            <a:ext cx="386323" cy="403998"/>
          </a:xfrm>
          <a:custGeom>
            <a:avLst/>
            <a:gdLst/>
            <a:ahLst/>
            <a:cxnLst/>
            <a:rect r="r" b="b" t="t" l="l"/>
            <a:pathLst>
              <a:path h="403998" w="386323">
                <a:moveTo>
                  <a:pt x="0" y="0"/>
                </a:moveTo>
                <a:lnTo>
                  <a:pt x="386323" y="0"/>
                </a:lnTo>
                <a:lnTo>
                  <a:pt x="386323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447579" y="4671266"/>
            <a:ext cx="1210021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User Survey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33155" y="4290266"/>
            <a:ext cx="1319195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Trend Review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22717" y="5838489"/>
            <a:ext cx="2187283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Collect opinions and habits from potential or current users.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04826" y="5457489"/>
            <a:ext cx="2187283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Observe what is changing or growing in your industry.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88322" y="5171739"/>
            <a:ext cx="2187283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Analyze similar products for ideas or improvement areas.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8731" y="4004516"/>
            <a:ext cx="1506369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Competitor Scan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04307" y="4290266"/>
            <a:ext cx="1368793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Feature List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189883" y="4671266"/>
            <a:ext cx="1337792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Insights Summary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71818" y="5457489"/>
            <a:ext cx="2340677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Draft a list of potential functions the product may include.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55314" y="5838489"/>
            <a:ext cx="2187283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Group findings into themes to guide the next decisions.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2700000">
            <a:off x="6541289" y="7088017"/>
            <a:ext cx="5205423" cy="5205423"/>
          </a:xfrm>
          <a:custGeom>
            <a:avLst/>
            <a:gdLst/>
            <a:ahLst/>
            <a:cxnLst/>
            <a:rect r="r" b="b" t="t" l="l"/>
            <a:pathLst>
              <a:path h="5205423" w="5205423">
                <a:moveTo>
                  <a:pt x="0" y="0"/>
                </a:moveTo>
                <a:lnTo>
                  <a:pt x="5205422" y="0"/>
                </a:lnTo>
                <a:lnTo>
                  <a:pt x="5205422" y="5205423"/>
                </a:lnTo>
                <a:lnTo>
                  <a:pt x="0" y="520542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3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11174" y="3125793"/>
            <a:ext cx="6265652" cy="6132507"/>
          </a:xfrm>
          <a:custGeom>
            <a:avLst/>
            <a:gdLst/>
            <a:ahLst/>
            <a:cxnLst/>
            <a:rect r="r" b="b" t="t" l="l"/>
            <a:pathLst>
              <a:path h="6132507" w="6265652">
                <a:moveTo>
                  <a:pt x="0" y="0"/>
                </a:moveTo>
                <a:lnTo>
                  <a:pt x="6265652" y="0"/>
                </a:lnTo>
                <a:lnTo>
                  <a:pt x="6265652" y="6132507"/>
                </a:lnTo>
                <a:lnTo>
                  <a:pt x="0" y="6132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7797" y="3853283"/>
            <a:ext cx="2667000" cy="504118"/>
            <a:chOff x="0" y="0"/>
            <a:chExt cx="702420" cy="1327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294429" y="3853283"/>
            <a:ext cx="2667000" cy="504118"/>
            <a:chOff x="0" y="0"/>
            <a:chExt cx="702420" cy="132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7797" y="5618932"/>
            <a:ext cx="2667000" cy="504118"/>
            <a:chOff x="0" y="0"/>
            <a:chExt cx="702420" cy="132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94429" y="5618932"/>
            <a:ext cx="2667000" cy="504118"/>
            <a:chOff x="0" y="0"/>
            <a:chExt cx="702420" cy="132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FB70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7797" y="7384580"/>
            <a:ext cx="2667000" cy="504118"/>
            <a:chOff x="0" y="0"/>
            <a:chExt cx="702420" cy="1327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075240" y="3603318"/>
            <a:ext cx="668848" cy="612832"/>
          </a:xfrm>
          <a:custGeom>
            <a:avLst/>
            <a:gdLst/>
            <a:ahLst/>
            <a:cxnLst/>
            <a:rect r="r" b="b" t="t" l="l"/>
            <a:pathLst>
              <a:path h="612832" w="668848">
                <a:moveTo>
                  <a:pt x="0" y="0"/>
                </a:moveTo>
                <a:lnTo>
                  <a:pt x="668848" y="0"/>
                </a:lnTo>
                <a:lnTo>
                  <a:pt x="668848" y="612832"/>
                </a:lnTo>
                <a:lnTo>
                  <a:pt x="0" y="61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668000" y="4458131"/>
            <a:ext cx="505515" cy="541382"/>
          </a:xfrm>
          <a:custGeom>
            <a:avLst/>
            <a:gdLst/>
            <a:ahLst/>
            <a:cxnLst/>
            <a:rect r="r" b="b" t="t" l="l"/>
            <a:pathLst>
              <a:path h="541382" w="505515">
                <a:moveTo>
                  <a:pt x="0" y="0"/>
                </a:moveTo>
                <a:lnTo>
                  <a:pt x="505515" y="0"/>
                </a:lnTo>
                <a:lnTo>
                  <a:pt x="505515" y="541382"/>
                </a:lnTo>
                <a:lnTo>
                  <a:pt x="0" y="541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662557" y="7176494"/>
            <a:ext cx="584483" cy="511422"/>
          </a:xfrm>
          <a:custGeom>
            <a:avLst/>
            <a:gdLst/>
            <a:ahLst/>
            <a:cxnLst/>
            <a:rect r="r" b="b" t="t" l="l"/>
            <a:pathLst>
              <a:path h="511422" w="584483">
                <a:moveTo>
                  <a:pt x="0" y="0"/>
                </a:moveTo>
                <a:lnTo>
                  <a:pt x="584483" y="0"/>
                </a:lnTo>
                <a:lnTo>
                  <a:pt x="584483" y="511422"/>
                </a:lnTo>
                <a:lnTo>
                  <a:pt x="0" y="511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20485" y="7949285"/>
            <a:ext cx="552515" cy="552515"/>
          </a:xfrm>
          <a:custGeom>
            <a:avLst/>
            <a:gdLst/>
            <a:ahLst/>
            <a:cxnLst/>
            <a:rect r="r" b="b" t="t" l="l"/>
            <a:pathLst>
              <a:path h="552515" w="552515">
                <a:moveTo>
                  <a:pt x="0" y="0"/>
                </a:moveTo>
                <a:lnTo>
                  <a:pt x="552514" y="0"/>
                </a:lnTo>
                <a:lnTo>
                  <a:pt x="552514" y="552515"/>
                </a:lnTo>
                <a:lnTo>
                  <a:pt x="0" y="5525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21468" y="5784049"/>
            <a:ext cx="563700" cy="563700"/>
          </a:xfrm>
          <a:custGeom>
            <a:avLst/>
            <a:gdLst/>
            <a:ahLst/>
            <a:cxnLst/>
            <a:rect r="r" b="b" t="t" l="l"/>
            <a:pathLst>
              <a:path h="563700" w="563700">
                <a:moveTo>
                  <a:pt x="0" y="0"/>
                </a:moveTo>
                <a:lnTo>
                  <a:pt x="563701" y="0"/>
                </a:lnTo>
                <a:lnTo>
                  <a:pt x="563701" y="563701"/>
                </a:lnTo>
                <a:lnTo>
                  <a:pt x="0" y="5637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000500" y="1999742"/>
            <a:ext cx="10292613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Repeatable cycle for developing and refining your product designs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58613" y="1104900"/>
            <a:ext cx="8382000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DESIGN CYCLE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8006" y="3985010"/>
            <a:ext cx="2406582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Concept Sketch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8006" y="5750658"/>
            <a:ext cx="2406582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Wireframe Build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8006" y="7513699"/>
            <a:ext cx="2406582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Visual Mockup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22006" y="3985010"/>
            <a:ext cx="2406582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Prototype Test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22006" y="5750658"/>
            <a:ext cx="2406582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Revise Layout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7797" y="4566951"/>
            <a:ext cx="3346806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Draw basic outlines of how the product will look and work.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7797" y="6332599"/>
            <a:ext cx="3346806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Make low-fidelity layouts for structure and flow.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00801" y="4566951"/>
            <a:ext cx="3360628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Allow users to interact with early designs for feedback.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14623" y="6332599"/>
            <a:ext cx="3346806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Adjust based on testing results before final development.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7797" y="8098248"/>
            <a:ext cx="3346806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Apply color, typography, and interface details.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2700000">
            <a:off x="16299339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2700000">
            <a:off x="-1269921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217" y="7946902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3"/>
                </a:lnTo>
                <a:lnTo>
                  <a:pt x="0" y="555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30399" y="7946902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3"/>
                </a:lnTo>
                <a:lnTo>
                  <a:pt x="0" y="555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28500" y="5941851"/>
            <a:ext cx="2591686" cy="2282713"/>
            <a:chOff x="0" y="0"/>
            <a:chExt cx="691144" cy="608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72682" y="5941851"/>
            <a:ext cx="2591686" cy="2282713"/>
            <a:chOff x="0" y="0"/>
            <a:chExt cx="691144" cy="6087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328500" y="3773248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5" y="0"/>
                </a:lnTo>
                <a:lnTo>
                  <a:pt x="3040955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72682" y="3773248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4" y="0"/>
                </a:lnTo>
                <a:lnTo>
                  <a:pt x="3040954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74581" y="7946902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3"/>
                </a:lnTo>
                <a:lnTo>
                  <a:pt x="0" y="555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18763" y="7946902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3"/>
                </a:lnTo>
                <a:lnTo>
                  <a:pt x="0" y="555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416864" y="5941851"/>
            <a:ext cx="2591686" cy="2282713"/>
            <a:chOff x="0" y="0"/>
            <a:chExt cx="691144" cy="6087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61046" y="5941851"/>
            <a:ext cx="2591686" cy="2282713"/>
            <a:chOff x="0" y="0"/>
            <a:chExt cx="691144" cy="6087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416864" y="3773248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4" y="0"/>
                </a:lnTo>
                <a:lnTo>
                  <a:pt x="3040954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961046" y="3773248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4" y="0"/>
                </a:lnTo>
                <a:lnTo>
                  <a:pt x="3040954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709500" y="4209298"/>
            <a:ext cx="633885" cy="501561"/>
          </a:xfrm>
          <a:custGeom>
            <a:avLst/>
            <a:gdLst/>
            <a:ahLst/>
            <a:cxnLst/>
            <a:rect r="r" b="b" t="t" l="l"/>
            <a:pathLst>
              <a:path h="501561" w="633885">
                <a:moveTo>
                  <a:pt x="0" y="0"/>
                </a:moveTo>
                <a:lnTo>
                  <a:pt x="633885" y="0"/>
                </a:lnTo>
                <a:lnTo>
                  <a:pt x="633885" y="501561"/>
                </a:lnTo>
                <a:lnTo>
                  <a:pt x="0" y="5015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253682" y="4154248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1" y="0"/>
                </a:lnTo>
                <a:lnTo>
                  <a:pt x="556611" y="556611"/>
                </a:lnTo>
                <a:lnTo>
                  <a:pt x="0" y="5566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367040" y="4268907"/>
            <a:ext cx="155315" cy="154150"/>
          </a:xfrm>
          <a:custGeom>
            <a:avLst/>
            <a:gdLst/>
            <a:ahLst/>
            <a:cxnLst/>
            <a:rect r="r" b="b" t="t" l="l"/>
            <a:pathLst>
              <a:path h="154150" w="155315">
                <a:moveTo>
                  <a:pt x="0" y="0"/>
                </a:moveTo>
                <a:lnTo>
                  <a:pt x="155315" y="0"/>
                </a:lnTo>
                <a:lnTo>
                  <a:pt x="155315" y="154150"/>
                </a:lnTo>
                <a:lnTo>
                  <a:pt x="0" y="154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799461" y="4154248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2" y="0"/>
                </a:lnTo>
                <a:lnTo>
                  <a:pt x="556612" y="556611"/>
                </a:lnTo>
                <a:lnTo>
                  <a:pt x="0" y="5566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343643" y="4154248"/>
            <a:ext cx="482165" cy="556612"/>
          </a:xfrm>
          <a:custGeom>
            <a:avLst/>
            <a:gdLst/>
            <a:ahLst/>
            <a:cxnLst/>
            <a:rect r="r" b="b" t="t" l="l"/>
            <a:pathLst>
              <a:path h="556612" w="482165">
                <a:moveTo>
                  <a:pt x="0" y="0"/>
                </a:moveTo>
                <a:lnTo>
                  <a:pt x="482165" y="0"/>
                </a:lnTo>
                <a:lnTo>
                  <a:pt x="482165" y="556611"/>
                </a:lnTo>
                <a:lnTo>
                  <a:pt x="0" y="55661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000500" y="1999742"/>
            <a:ext cx="10292613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A four-part breakdown of how to develop your product efficiently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58613" y="1104900"/>
            <a:ext cx="8382000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BUILD PROCESS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09500" y="5285597"/>
            <a:ext cx="1454082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Code Features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53682" y="5285597"/>
            <a:ext cx="1454082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Test Units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99461" y="5285597"/>
            <a:ext cx="1454082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Integrate System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43643" y="5285597"/>
            <a:ext cx="1454082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Fix Bugs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09500" y="6800388"/>
            <a:ext cx="1768947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Developers write the actual functions for each component.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53682" y="6800388"/>
            <a:ext cx="1768947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Each part is tested separately to ensure correct performance.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97864" y="6800388"/>
            <a:ext cx="1768947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Combine all parts to work as one complete product.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42046" y="6800388"/>
            <a:ext cx="1768947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Resolve technical issues found during the integration stage.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2700000">
            <a:off x="16394589" y="4312560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3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2700000">
            <a:off x="-1365171" y="4312560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3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5815" y="1704776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877" t="-283791" r="-1042743" b="-22889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89503" y="2888844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4" y="0"/>
                </a:lnTo>
                <a:lnTo>
                  <a:pt x="1642724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-3422544" y="6460820"/>
            <a:ext cx="10484403" cy="972315"/>
            <a:chOff x="0" y="0"/>
            <a:chExt cx="2068384" cy="191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8384" cy="191820"/>
            </a:xfrm>
            <a:custGeom>
              <a:avLst/>
              <a:gdLst/>
              <a:ahLst/>
              <a:cxnLst/>
              <a:rect r="r" b="b" t="t" l="l"/>
              <a:pathLst>
                <a:path h="191820" w="2068384">
                  <a:moveTo>
                    <a:pt x="1865184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2068384" y="191820"/>
                  </a:lnTo>
                  <a:lnTo>
                    <a:pt x="1865184" y="0"/>
                  </a:ln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28575"/>
              <a:ext cx="1865184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-1529784" y="6935815"/>
            <a:ext cx="9066258" cy="972315"/>
            <a:chOff x="0" y="0"/>
            <a:chExt cx="1788610" cy="1918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8610" cy="191820"/>
            </a:xfrm>
            <a:custGeom>
              <a:avLst/>
              <a:gdLst/>
              <a:ahLst/>
              <a:cxnLst/>
              <a:rect r="r" b="b" t="t" l="l"/>
              <a:pathLst>
                <a:path h="191820" w="1788610">
                  <a:moveTo>
                    <a:pt x="1585410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788610" y="191820"/>
                  </a:lnTo>
                  <a:lnTo>
                    <a:pt x="1585410" y="0"/>
                  </a:lnTo>
                  <a:close/>
                </a:path>
              </a:pathLst>
            </a:custGeom>
            <a:solidFill>
              <a:srgbClr val="FFB70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28575"/>
              <a:ext cx="1585410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992730" y="2017861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176418" y="3201929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73191" y="4072911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4" y="0"/>
                </a:lnTo>
                <a:lnTo>
                  <a:pt x="1642724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5400000">
            <a:off x="245938" y="7527849"/>
            <a:ext cx="7882191" cy="972315"/>
            <a:chOff x="0" y="0"/>
            <a:chExt cx="1555015" cy="191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4360105" y="4385996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70" y="0"/>
                </a:lnTo>
                <a:lnTo>
                  <a:pt x="1014970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56879" y="5256978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4" y="0"/>
                </a:lnTo>
                <a:lnTo>
                  <a:pt x="1642724" y="1014970"/>
                </a:lnTo>
                <a:lnTo>
                  <a:pt x="0" y="10149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5400000">
            <a:off x="1429626" y="8711916"/>
            <a:ext cx="7882191" cy="972315"/>
            <a:chOff x="0" y="0"/>
            <a:chExt cx="1555015" cy="191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5543793" y="5570064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8"/>
                </a:lnTo>
                <a:lnTo>
                  <a:pt x="0" y="388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040566" y="6441046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5400000">
            <a:off x="2613314" y="9895984"/>
            <a:ext cx="7882191" cy="972315"/>
            <a:chOff x="0" y="0"/>
            <a:chExt cx="1555015" cy="1918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5400000">
            <a:off x="6727481" y="6754131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2700000">
            <a:off x="14208769" y="6665143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815778" y="2015024"/>
            <a:ext cx="432299" cy="394473"/>
          </a:xfrm>
          <a:custGeom>
            <a:avLst/>
            <a:gdLst/>
            <a:ahLst/>
            <a:cxnLst/>
            <a:rect r="r" b="b" t="t" l="l"/>
            <a:pathLst>
              <a:path h="394473" w="432299">
                <a:moveTo>
                  <a:pt x="0" y="0"/>
                </a:moveTo>
                <a:lnTo>
                  <a:pt x="432299" y="0"/>
                </a:lnTo>
                <a:lnTo>
                  <a:pt x="432299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043033" y="3199092"/>
            <a:ext cx="345164" cy="394473"/>
          </a:xfrm>
          <a:custGeom>
            <a:avLst/>
            <a:gdLst/>
            <a:ahLst/>
            <a:cxnLst/>
            <a:rect r="r" b="b" t="t" l="l"/>
            <a:pathLst>
              <a:path h="394473" w="345164">
                <a:moveTo>
                  <a:pt x="0" y="0"/>
                </a:moveTo>
                <a:lnTo>
                  <a:pt x="345164" y="0"/>
                </a:lnTo>
                <a:lnTo>
                  <a:pt x="345164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205494" y="4383159"/>
            <a:ext cx="394473" cy="394473"/>
          </a:xfrm>
          <a:custGeom>
            <a:avLst/>
            <a:gdLst/>
            <a:ahLst/>
            <a:cxnLst/>
            <a:rect r="r" b="b" t="t" l="l"/>
            <a:pathLst>
              <a:path h="394473" w="394473">
                <a:moveTo>
                  <a:pt x="0" y="0"/>
                </a:moveTo>
                <a:lnTo>
                  <a:pt x="394473" y="0"/>
                </a:lnTo>
                <a:lnTo>
                  <a:pt x="394473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12135" y="5567227"/>
            <a:ext cx="341712" cy="394473"/>
          </a:xfrm>
          <a:custGeom>
            <a:avLst/>
            <a:gdLst/>
            <a:ahLst/>
            <a:cxnLst/>
            <a:rect r="r" b="b" t="t" l="l"/>
            <a:pathLst>
              <a:path h="394473" w="341712">
                <a:moveTo>
                  <a:pt x="0" y="0"/>
                </a:moveTo>
                <a:lnTo>
                  <a:pt x="341712" y="0"/>
                </a:lnTo>
                <a:lnTo>
                  <a:pt x="341712" y="394472"/>
                </a:lnTo>
                <a:lnTo>
                  <a:pt x="0" y="39447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69442" y="6752264"/>
            <a:ext cx="394473" cy="394473"/>
          </a:xfrm>
          <a:custGeom>
            <a:avLst/>
            <a:gdLst/>
            <a:ahLst/>
            <a:cxnLst/>
            <a:rect r="r" b="b" t="t" l="l"/>
            <a:pathLst>
              <a:path h="394473" w="394473">
                <a:moveTo>
                  <a:pt x="0" y="0"/>
                </a:moveTo>
                <a:lnTo>
                  <a:pt x="394473" y="0"/>
                </a:lnTo>
                <a:lnTo>
                  <a:pt x="394473" y="394472"/>
                </a:lnTo>
                <a:lnTo>
                  <a:pt x="0" y="39447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-5400000">
            <a:off x="335958" y="7876073"/>
            <a:ext cx="3005500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Internal Review</a:t>
            </a:r>
          </a:p>
        </p:txBody>
      </p:sp>
      <p:sp>
        <p:nvSpPr>
          <p:cNvPr name="TextBox 34" id="34"/>
          <p:cNvSpPr txBox="true"/>
          <p:nvPr/>
        </p:nvSpPr>
        <p:spPr>
          <a:xfrm rot="-5400000">
            <a:off x="1519645" y="7876073"/>
            <a:ext cx="3005500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Alpha Release</a:t>
            </a:r>
          </a:p>
        </p:txBody>
      </p:sp>
      <p:sp>
        <p:nvSpPr>
          <p:cNvPr name="TextBox 35" id="35"/>
          <p:cNvSpPr txBox="true"/>
          <p:nvPr/>
        </p:nvSpPr>
        <p:spPr>
          <a:xfrm rot="-5400000">
            <a:off x="2703333" y="7876073"/>
            <a:ext cx="3005500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Beta Testing</a:t>
            </a:r>
          </a:p>
        </p:txBody>
      </p:sp>
      <p:sp>
        <p:nvSpPr>
          <p:cNvPr name="TextBox 36" id="36"/>
          <p:cNvSpPr txBox="true"/>
          <p:nvPr/>
        </p:nvSpPr>
        <p:spPr>
          <a:xfrm rot="-5400000">
            <a:off x="3887021" y="7876073"/>
            <a:ext cx="3005500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Bug Report</a:t>
            </a:r>
          </a:p>
        </p:txBody>
      </p:sp>
      <p:sp>
        <p:nvSpPr>
          <p:cNvPr name="TextBox 37" id="37"/>
          <p:cNvSpPr txBox="true"/>
          <p:nvPr/>
        </p:nvSpPr>
        <p:spPr>
          <a:xfrm rot="-5400000">
            <a:off x="5070709" y="7876073"/>
            <a:ext cx="3005500" cy="29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Final Check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15290" y="2005505"/>
            <a:ext cx="2960889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Check functionality within the development team.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98977" y="3189572"/>
            <a:ext cx="2598564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Share with a small group to catch early issues.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82665" y="4373640"/>
            <a:ext cx="2945497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Broader test with real users for performance feedback.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70270" y="5557707"/>
            <a:ext cx="2487444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Collect and categorize all errors found.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50041" y="6742744"/>
            <a:ext cx="3002754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Confirm everything works as intended before launching.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73000" y="3313993"/>
            <a:ext cx="4381500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Ensure quality with structured testing steps before launch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73000" y="1685726"/>
            <a:ext cx="4381500" cy="15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TESTING STAGES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68933" y="2967716"/>
            <a:ext cx="2151962" cy="2425870"/>
          </a:xfrm>
          <a:custGeom>
            <a:avLst/>
            <a:gdLst/>
            <a:ahLst/>
            <a:cxnLst/>
            <a:rect r="r" b="b" t="t" l="l"/>
            <a:pathLst>
              <a:path h="2425870" w="2151962">
                <a:moveTo>
                  <a:pt x="0" y="0"/>
                </a:moveTo>
                <a:lnTo>
                  <a:pt x="2151962" y="0"/>
                </a:lnTo>
                <a:lnTo>
                  <a:pt x="2151962" y="2425870"/>
                </a:lnTo>
                <a:lnTo>
                  <a:pt x="0" y="242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865" t="0" r="-975200" b="-2135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90764">
            <a:off x="9811359" y="4469322"/>
            <a:ext cx="2151962" cy="2425870"/>
          </a:xfrm>
          <a:custGeom>
            <a:avLst/>
            <a:gdLst/>
            <a:ahLst/>
            <a:cxnLst/>
            <a:rect r="r" b="b" t="t" l="l"/>
            <a:pathLst>
              <a:path h="2425870" w="2151962">
                <a:moveTo>
                  <a:pt x="0" y="0"/>
                </a:moveTo>
                <a:lnTo>
                  <a:pt x="2151962" y="0"/>
                </a:lnTo>
                <a:lnTo>
                  <a:pt x="2151962" y="2425871"/>
                </a:lnTo>
                <a:lnTo>
                  <a:pt x="0" y="24258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865" t="0" r="-975200" b="-2135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6552102">
            <a:off x="6325855" y="4469322"/>
            <a:ext cx="2151962" cy="2425870"/>
          </a:xfrm>
          <a:custGeom>
            <a:avLst/>
            <a:gdLst/>
            <a:ahLst/>
            <a:cxnLst/>
            <a:rect r="r" b="b" t="t" l="l"/>
            <a:pathLst>
              <a:path h="2425870" w="2151962">
                <a:moveTo>
                  <a:pt x="0" y="2425871"/>
                </a:moveTo>
                <a:lnTo>
                  <a:pt x="2151962" y="2425871"/>
                </a:lnTo>
                <a:lnTo>
                  <a:pt x="2151962" y="0"/>
                </a:lnTo>
                <a:lnTo>
                  <a:pt x="0" y="0"/>
                </a:lnTo>
                <a:lnTo>
                  <a:pt x="0" y="242587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3865" t="0" r="-975200" b="-21359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381520">
            <a:off x="6935802" y="6691197"/>
            <a:ext cx="2151962" cy="2425870"/>
          </a:xfrm>
          <a:custGeom>
            <a:avLst/>
            <a:gdLst/>
            <a:ahLst/>
            <a:cxnLst/>
            <a:rect r="r" b="b" t="t" l="l"/>
            <a:pathLst>
              <a:path h="2425870" w="2151962">
                <a:moveTo>
                  <a:pt x="0" y="2425870"/>
                </a:moveTo>
                <a:lnTo>
                  <a:pt x="2151962" y="2425870"/>
                </a:lnTo>
                <a:lnTo>
                  <a:pt x="2151962" y="0"/>
                </a:lnTo>
                <a:lnTo>
                  <a:pt x="0" y="0"/>
                </a:lnTo>
                <a:lnTo>
                  <a:pt x="0" y="242587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3865" t="0" r="-975200" b="-2135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2406274">
            <a:off x="9202064" y="6691197"/>
            <a:ext cx="2151962" cy="2425870"/>
          </a:xfrm>
          <a:custGeom>
            <a:avLst/>
            <a:gdLst/>
            <a:ahLst/>
            <a:cxnLst/>
            <a:rect r="r" b="b" t="t" l="l"/>
            <a:pathLst>
              <a:path h="2425870" w="2151962">
                <a:moveTo>
                  <a:pt x="0" y="2425870"/>
                </a:moveTo>
                <a:lnTo>
                  <a:pt x="2151962" y="2425870"/>
                </a:lnTo>
                <a:lnTo>
                  <a:pt x="2151962" y="0"/>
                </a:lnTo>
                <a:lnTo>
                  <a:pt x="0" y="0"/>
                </a:lnTo>
                <a:lnTo>
                  <a:pt x="0" y="242587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3865" t="0" r="-975200" b="-21359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7200329" y="3676146"/>
            <a:ext cx="413300" cy="445092"/>
          </a:xfrm>
          <a:custGeom>
            <a:avLst/>
            <a:gdLst/>
            <a:ahLst/>
            <a:cxnLst/>
            <a:rect r="r" b="b" t="t" l="l"/>
            <a:pathLst>
              <a:path h="445092" w="413300">
                <a:moveTo>
                  <a:pt x="0" y="0"/>
                </a:moveTo>
                <a:lnTo>
                  <a:pt x="413300" y="0"/>
                </a:lnTo>
                <a:lnTo>
                  <a:pt x="413300" y="445092"/>
                </a:lnTo>
                <a:lnTo>
                  <a:pt x="0" y="445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0769" t="-361813" r="-414260" b="-44285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0668000" y="3676146"/>
            <a:ext cx="413300" cy="445092"/>
          </a:xfrm>
          <a:custGeom>
            <a:avLst/>
            <a:gdLst/>
            <a:ahLst/>
            <a:cxnLst/>
            <a:rect r="r" b="b" t="t" l="l"/>
            <a:pathLst>
              <a:path h="445092" w="413300">
                <a:moveTo>
                  <a:pt x="413300" y="445092"/>
                </a:moveTo>
                <a:lnTo>
                  <a:pt x="0" y="445092"/>
                </a:lnTo>
                <a:lnTo>
                  <a:pt x="0" y="0"/>
                </a:lnTo>
                <a:lnTo>
                  <a:pt x="413300" y="0"/>
                </a:lnTo>
                <a:lnTo>
                  <a:pt x="413300" y="445092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0769" t="-361813" r="-414260" b="-44285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4214005">
            <a:off x="11601450" y="6878571"/>
            <a:ext cx="413300" cy="445092"/>
          </a:xfrm>
          <a:custGeom>
            <a:avLst/>
            <a:gdLst/>
            <a:ahLst/>
            <a:cxnLst/>
            <a:rect r="r" b="b" t="t" l="l"/>
            <a:pathLst>
              <a:path h="445092" w="413300">
                <a:moveTo>
                  <a:pt x="413300" y="445092"/>
                </a:moveTo>
                <a:lnTo>
                  <a:pt x="0" y="445092"/>
                </a:lnTo>
                <a:lnTo>
                  <a:pt x="0" y="0"/>
                </a:lnTo>
                <a:lnTo>
                  <a:pt x="413300" y="0"/>
                </a:lnTo>
                <a:lnTo>
                  <a:pt x="413300" y="445092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0769" t="-361813" r="-414260" b="-44285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7833206">
            <a:off x="8937350" y="8890979"/>
            <a:ext cx="413300" cy="445092"/>
          </a:xfrm>
          <a:custGeom>
            <a:avLst/>
            <a:gdLst/>
            <a:ahLst/>
            <a:cxnLst/>
            <a:rect r="r" b="b" t="t" l="l"/>
            <a:pathLst>
              <a:path h="445092" w="413300">
                <a:moveTo>
                  <a:pt x="413300" y="445092"/>
                </a:moveTo>
                <a:lnTo>
                  <a:pt x="0" y="445092"/>
                </a:lnTo>
                <a:lnTo>
                  <a:pt x="0" y="0"/>
                </a:lnTo>
                <a:lnTo>
                  <a:pt x="413300" y="0"/>
                </a:lnTo>
                <a:lnTo>
                  <a:pt x="413300" y="445092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0769" t="-361813" r="-414260" b="-4428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206417">
            <a:off x="6297774" y="6878571"/>
            <a:ext cx="413300" cy="445092"/>
          </a:xfrm>
          <a:custGeom>
            <a:avLst/>
            <a:gdLst/>
            <a:ahLst/>
            <a:cxnLst/>
            <a:rect r="r" b="b" t="t" l="l"/>
            <a:pathLst>
              <a:path h="445092" w="413300">
                <a:moveTo>
                  <a:pt x="0" y="0"/>
                </a:moveTo>
                <a:lnTo>
                  <a:pt x="413300" y="0"/>
                </a:lnTo>
                <a:lnTo>
                  <a:pt x="413300" y="445092"/>
                </a:lnTo>
                <a:lnTo>
                  <a:pt x="0" y="445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0769" t="-361813" r="-414260" b="-44285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37797" y="3944090"/>
            <a:ext cx="3050224" cy="504118"/>
            <a:chOff x="0" y="0"/>
            <a:chExt cx="803351" cy="132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3351" cy="132772"/>
            </a:xfrm>
            <a:custGeom>
              <a:avLst/>
              <a:gdLst/>
              <a:ahLst/>
              <a:cxnLst/>
              <a:rect r="r" b="b" t="t" l="l"/>
              <a:pathLst>
                <a:path h="132772" w="803351">
                  <a:moveTo>
                    <a:pt x="25381" y="0"/>
                  </a:moveTo>
                  <a:lnTo>
                    <a:pt x="777970" y="0"/>
                  </a:lnTo>
                  <a:cubicBezTo>
                    <a:pt x="784701" y="0"/>
                    <a:pt x="791157" y="2674"/>
                    <a:pt x="795917" y="7434"/>
                  </a:cubicBezTo>
                  <a:cubicBezTo>
                    <a:pt x="800677" y="12194"/>
                    <a:pt x="803351" y="18650"/>
                    <a:pt x="803351" y="25381"/>
                  </a:cubicBezTo>
                  <a:lnTo>
                    <a:pt x="803351" y="107390"/>
                  </a:lnTo>
                  <a:cubicBezTo>
                    <a:pt x="803351" y="114122"/>
                    <a:pt x="800677" y="120578"/>
                    <a:pt x="795917" y="125338"/>
                  </a:cubicBezTo>
                  <a:cubicBezTo>
                    <a:pt x="791157" y="130098"/>
                    <a:pt x="784701" y="132772"/>
                    <a:pt x="777970" y="132772"/>
                  </a:cubicBezTo>
                  <a:lnTo>
                    <a:pt x="25381" y="132772"/>
                  </a:lnTo>
                  <a:cubicBezTo>
                    <a:pt x="18650" y="132772"/>
                    <a:pt x="12194" y="130098"/>
                    <a:pt x="7434" y="125338"/>
                  </a:cubicBezTo>
                  <a:cubicBezTo>
                    <a:pt x="2674" y="120578"/>
                    <a:pt x="0" y="114122"/>
                    <a:pt x="0" y="107390"/>
                  </a:cubicBezTo>
                  <a:lnTo>
                    <a:pt x="0" y="25381"/>
                  </a:lnTo>
                  <a:cubicBezTo>
                    <a:pt x="0" y="18650"/>
                    <a:pt x="2674" y="12194"/>
                    <a:pt x="7434" y="7434"/>
                  </a:cubicBezTo>
                  <a:cubicBezTo>
                    <a:pt x="12194" y="2674"/>
                    <a:pt x="18650" y="0"/>
                    <a:pt x="25381" y="0"/>
                  </a:cubicBez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803351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911205" y="3944090"/>
            <a:ext cx="3050224" cy="504118"/>
            <a:chOff x="0" y="0"/>
            <a:chExt cx="803351" cy="1327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3351" cy="132772"/>
            </a:xfrm>
            <a:custGeom>
              <a:avLst/>
              <a:gdLst/>
              <a:ahLst/>
              <a:cxnLst/>
              <a:rect r="r" b="b" t="t" l="l"/>
              <a:pathLst>
                <a:path h="132772" w="803351">
                  <a:moveTo>
                    <a:pt x="25381" y="0"/>
                  </a:moveTo>
                  <a:lnTo>
                    <a:pt x="777970" y="0"/>
                  </a:lnTo>
                  <a:cubicBezTo>
                    <a:pt x="784701" y="0"/>
                    <a:pt x="791157" y="2674"/>
                    <a:pt x="795917" y="7434"/>
                  </a:cubicBezTo>
                  <a:cubicBezTo>
                    <a:pt x="800677" y="12194"/>
                    <a:pt x="803351" y="18650"/>
                    <a:pt x="803351" y="25381"/>
                  </a:cubicBezTo>
                  <a:lnTo>
                    <a:pt x="803351" y="107390"/>
                  </a:lnTo>
                  <a:cubicBezTo>
                    <a:pt x="803351" y="114122"/>
                    <a:pt x="800677" y="120578"/>
                    <a:pt x="795917" y="125338"/>
                  </a:cubicBezTo>
                  <a:cubicBezTo>
                    <a:pt x="791157" y="130098"/>
                    <a:pt x="784701" y="132772"/>
                    <a:pt x="777970" y="132772"/>
                  </a:cubicBezTo>
                  <a:lnTo>
                    <a:pt x="25381" y="132772"/>
                  </a:lnTo>
                  <a:cubicBezTo>
                    <a:pt x="18650" y="132772"/>
                    <a:pt x="12194" y="130098"/>
                    <a:pt x="7434" y="125338"/>
                  </a:cubicBezTo>
                  <a:cubicBezTo>
                    <a:pt x="2674" y="120578"/>
                    <a:pt x="0" y="114122"/>
                    <a:pt x="0" y="107390"/>
                  </a:cubicBezTo>
                  <a:lnTo>
                    <a:pt x="0" y="25381"/>
                  </a:lnTo>
                  <a:cubicBezTo>
                    <a:pt x="0" y="18650"/>
                    <a:pt x="2674" y="12194"/>
                    <a:pt x="7434" y="7434"/>
                  </a:cubicBezTo>
                  <a:cubicBezTo>
                    <a:pt x="12194" y="2674"/>
                    <a:pt x="18650" y="0"/>
                    <a:pt x="25381" y="0"/>
                  </a:cubicBez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803351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7797" y="5804988"/>
            <a:ext cx="3050224" cy="504118"/>
            <a:chOff x="0" y="0"/>
            <a:chExt cx="803351" cy="1327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3351" cy="132772"/>
            </a:xfrm>
            <a:custGeom>
              <a:avLst/>
              <a:gdLst/>
              <a:ahLst/>
              <a:cxnLst/>
              <a:rect r="r" b="b" t="t" l="l"/>
              <a:pathLst>
                <a:path h="132772" w="803351">
                  <a:moveTo>
                    <a:pt x="25381" y="0"/>
                  </a:moveTo>
                  <a:lnTo>
                    <a:pt x="777970" y="0"/>
                  </a:lnTo>
                  <a:cubicBezTo>
                    <a:pt x="784701" y="0"/>
                    <a:pt x="791157" y="2674"/>
                    <a:pt x="795917" y="7434"/>
                  </a:cubicBezTo>
                  <a:cubicBezTo>
                    <a:pt x="800677" y="12194"/>
                    <a:pt x="803351" y="18650"/>
                    <a:pt x="803351" y="25381"/>
                  </a:cubicBezTo>
                  <a:lnTo>
                    <a:pt x="803351" y="107390"/>
                  </a:lnTo>
                  <a:cubicBezTo>
                    <a:pt x="803351" y="114122"/>
                    <a:pt x="800677" y="120578"/>
                    <a:pt x="795917" y="125338"/>
                  </a:cubicBezTo>
                  <a:cubicBezTo>
                    <a:pt x="791157" y="130098"/>
                    <a:pt x="784701" y="132772"/>
                    <a:pt x="777970" y="132772"/>
                  </a:cubicBezTo>
                  <a:lnTo>
                    <a:pt x="25381" y="132772"/>
                  </a:lnTo>
                  <a:cubicBezTo>
                    <a:pt x="18650" y="132772"/>
                    <a:pt x="12194" y="130098"/>
                    <a:pt x="7434" y="125338"/>
                  </a:cubicBezTo>
                  <a:cubicBezTo>
                    <a:pt x="2674" y="120578"/>
                    <a:pt x="0" y="114122"/>
                    <a:pt x="0" y="107390"/>
                  </a:cubicBezTo>
                  <a:lnTo>
                    <a:pt x="0" y="25381"/>
                  </a:lnTo>
                  <a:cubicBezTo>
                    <a:pt x="0" y="18650"/>
                    <a:pt x="2674" y="12194"/>
                    <a:pt x="7434" y="7434"/>
                  </a:cubicBezTo>
                  <a:cubicBezTo>
                    <a:pt x="12194" y="2674"/>
                    <a:pt x="18650" y="0"/>
                    <a:pt x="25381" y="0"/>
                  </a:cubicBez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803351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11205" y="5804988"/>
            <a:ext cx="3050224" cy="504118"/>
            <a:chOff x="0" y="0"/>
            <a:chExt cx="803351" cy="1327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3351" cy="132772"/>
            </a:xfrm>
            <a:custGeom>
              <a:avLst/>
              <a:gdLst/>
              <a:ahLst/>
              <a:cxnLst/>
              <a:rect r="r" b="b" t="t" l="l"/>
              <a:pathLst>
                <a:path h="132772" w="803351">
                  <a:moveTo>
                    <a:pt x="25381" y="0"/>
                  </a:moveTo>
                  <a:lnTo>
                    <a:pt x="777970" y="0"/>
                  </a:lnTo>
                  <a:cubicBezTo>
                    <a:pt x="784701" y="0"/>
                    <a:pt x="791157" y="2674"/>
                    <a:pt x="795917" y="7434"/>
                  </a:cubicBezTo>
                  <a:cubicBezTo>
                    <a:pt x="800677" y="12194"/>
                    <a:pt x="803351" y="18650"/>
                    <a:pt x="803351" y="25381"/>
                  </a:cubicBezTo>
                  <a:lnTo>
                    <a:pt x="803351" y="107390"/>
                  </a:lnTo>
                  <a:cubicBezTo>
                    <a:pt x="803351" y="114122"/>
                    <a:pt x="800677" y="120578"/>
                    <a:pt x="795917" y="125338"/>
                  </a:cubicBezTo>
                  <a:cubicBezTo>
                    <a:pt x="791157" y="130098"/>
                    <a:pt x="784701" y="132772"/>
                    <a:pt x="777970" y="132772"/>
                  </a:cubicBezTo>
                  <a:lnTo>
                    <a:pt x="25381" y="132772"/>
                  </a:lnTo>
                  <a:cubicBezTo>
                    <a:pt x="18650" y="132772"/>
                    <a:pt x="12194" y="130098"/>
                    <a:pt x="7434" y="125338"/>
                  </a:cubicBezTo>
                  <a:cubicBezTo>
                    <a:pt x="2674" y="120578"/>
                    <a:pt x="0" y="114122"/>
                    <a:pt x="0" y="107390"/>
                  </a:cubicBezTo>
                  <a:lnTo>
                    <a:pt x="0" y="25381"/>
                  </a:lnTo>
                  <a:cubicBezTo>
                    <a:pt x="0" y="18650"/>
                    <a:pt x="2674" y="12194"/>
                    <a:pt x="7434" y="7434"/>
                  </a:cubicBezTo>
                  <a:cubicBezTo>
                    <a:pt x="12194" y="2674"/>
                    <a:pt x="18650" y="0"/>
                    <a:pt x="25381" y="0"/>
                  </a:cubicBezTo>
                  <a:close/>
                </a:path>
              </a:pathLst>
            </a:custGeom>
            <a:solidFill>
              <a:srgbClr val="FFB70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803351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7797" y="7665593"/>
            <a:ext cx="3050224" cy="504118"/>
            <a:chOff x="0" y="0"/>
            <a:chExt cx="803351" cy="1327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3351" cy="132772"/>
            </a:xfrm>
            <a:custGeom>
              <a:avLst/>
              <a:gdLst/>
              <a:ahLst/>
              <a:cxnLst/>
              <a:rect r="r" b="b" t="t" l="l"/>
              <a:pathLst>
                <a:path h="132772" w="803351">
                  <a:moveTo>
                    <a:pt x="25381" y="0"/>
                  </a:moveTo>
                  <a:lnTo>
                    <a:pt x="777970" y="0"/>
                  </a:lnTo>
                  <a:cubicBezTo>
                    <a:pt x="784701" y="0"/>
                    <a:pt x="791157" y="2674"/>
                    <a:pt x="795917" y="7434"/>
                  </a:cubicBezTo>
                  <a:cubicBezTo>
                    <a:pt x="800677" y="12194"/>
                    <a:pt x="803351" y="18650"/>
                    <a:pt x="803351" y="25381"/>
                  </a:cubicBezTo>
                  <a:lnTo>
                    <a:pt x="803351" y="107390"/>
                  </a:lnTo>
                  <a:cubicBezTo>
                    <a:pt x="803351" y="114122"/>
                    <a:pt x="800677" y="120578"/>
                    <a:pt x="795917" y="125338"/>
                  </a:cubicBezTo>
                  <a:cubicBezTo>
                    <a:pt x="791157" y="130098"/>
                    <a:pt x="784701" y="132772"/>
                    <a:pt x="777970" y="132772"/>
                  </a:cubicBezTo>
                  <a:lnTo>
                    <a:pt x="25381" y="132772"/>
                  </a:lnTo>
                  <a:cubicBezTo>
                    <a:pt x="18650" y="132772"/>
                    <a:pt x="12194" y="130098"/>
                    <a:pt x="7434" y="125338"/>
                  </a:cubicBezTo>
                  <a:cubicBezTo>
                    <a:pt x="2674" y="120578"/>
                    <a:pt x="0" y="114122"/>
                    <a:pt x="0" y="107390"/>
                  </a:cubicBezTo>
                  <a:lnTo>
                    <a:pt x="0" y="25381"/>
                  </a:lnTo>
                  <a:cubicBezTo>
                    <a:pt x="0" y="18650"/>
                    <a:pt x="2674" y="12194"/>
                    <a:pt x="7434" y="7434"/>
                  </a:cubicBezTo>
                  <a:cubicBezTo>
                    <a:pt x="12194" y="2674"/>
                    <a:pt x="18650" y="0"/>
                    <a:pt x="25381" y="0"/>
                  </a:cubicBez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803351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8777572" y="3671014"/>
            <a:ext cx="732855" cy="732855"/>
          </a:xfrm>
          <a:custGeom>
            <a:avLst/>
            <a:gdLst/>
            <a:ahLst/>
            <a:cxnLst/>
            <a:rect r="r" b="b" t="t" l="l"/>
            <a:pathLst>
              <a:path h="732855" w="732855">
                <a:moveTo>
                  <a:pt x="0" y="0"/>
                </a:moveTo>
                <a:lnTo>
                  <a:pt x="732856" y="0"/>
                </a:lnTo>
                <a:lnTo>
                  <a:pt x="732856" y="732855"/>
                </a:lnTo>
                <a:lnTo>
                  <a:pt x="0" y="732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629900" y="5277730"/>
            <a:ext cx="732855" cy="732855"/>
          </a:xfrm>
          <a:custGeom>
            <a:avLst/>
            <a:gdLst/>
            <a:ahLst/>
            <a:cxnLst/>
            <a:rect r="r" b="b" t="t" l="l"/>
            <a:pathLst>
              <a:path h="732855" w="732855">
                <a:moveTo>
                  <a:pt x="0" y="0"/>
                </a:moveTo>
                <a:lnTo>
                  <a:pt x="732855" y="0"/>
                </a:lnTo>
                <a:lnTo>
                  <a:pt x="732855" y="732855"/>
                </a:lnTo>
                <a:lnTo>
                  <a:pt x="0" y="7328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039350" y="7675331"/>
            <a:ext cx="657225" cy="657225"/>
          </a:xfrm>
          <a:custGeom>
            <a:avLst/>
            <a:gdLst/>
            <a:ahLst/>
            <a:cxnLst/>
            <a:rect r="r" b="b" t="t" l="l"/>
            <a:pathLst>
              <a:path h="657225" w="657225">
                <a:moveTo>
                  <a:pt x="0" y="0"/>
                </a:moveTo>
                <a:lnTo>
                  <a:pt x="657225" y="0"/>
                </a:lnTo>
                <a:lnTo>
                  <a:pt x="657225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601174" y="8058360"/>
            <a:ext cx="641785" cy="264671"/>
          </a:xfrm>
          <a:custGeom>
            <a:avLst/>
            <a:gdLst/>
            <a:ahLst/>
            <a:cxnLst/>
            <a:rect r="r" b="b" t="t" l="l"/>
            <a:pathLst>
              <a:path h="264671" w="641785">
                <a:moveTo>
                  <a:pt x="0" y="0"/>
                </a:moveTo>
                <a:lnTo>
                  <a:pt x="641785" y="0"/>
                </a:lnTo>
                <a:lnTo>
                  <a:pt x="641785" y="264671"/>
                </a:lnTo>
                <a:lnTo>
                  <a:pt x="0" y="264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133997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819843" y="7665806"/>
            <a:ext cx="366976" cy="366976"/>
          </a:xfrm>
          <a:custGeom>
            <a:avLst/>
            <a:gdLst/>
            <a:ahLst/>
            <a:cxnLst/>
            <a:rect r="r" b="b" t="t" l="l"/>
            <a:pathLst>
              <a:path h="366976" w="366976">
                <a:moveTo>
                  <a:pt x="0" y="0"/>
                </a:moveTo>
                <a:lnTo>
                  <a:pt x="366976" y="0"/>
                </a:lnTo>
                <a:lnTo>
                  <a:pt x="366976" y="366976"/>
                </a:lnTo>
                <a:lnTo>
                  <a:pt x="0" y="3669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915720" y="5308231"/>
            <a:ext cx="732855" cy="709953"/>
          </a:xfrm>
          <a:custGeom>
            <a:avLst/>
            <a:gdLst/>
            <a:ahLst/>
            <a:cxnLst/>
            <a:rect r="r" b="b" t="t" l="l"/>
            <a:pathLst>
              <a:path h="709953" w="732855">
                <a:moveTo>
                  <a:pt x="0" y="0"/>
                </a:moveTo>
                <a:lnTo>
                  <a:pt x="732855" y="0"/>
                </a:lnTo>
                <a:lnTo>
                  <a:pt x="732855" y="709953"/>
                </a:lnTo>
                <a:lnTo>
                  <a:pt x="0" y="70995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2700000">
            <a:off x="13810044" y="8045727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13000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2700000">
            <a:off x="1037709" y="-1174437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13000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000500" y="1999742"/>
            <a:ext cx="10292613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Continuous improvement through repeated user feedback and refinement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958613" y="1104900"/>
            <a:ext cx="8382000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FEEDBACK LOOP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6716" y="4075816"/>
            <a:ext cx="275238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User Report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86716" y="5936714"/>
            <a:ext cx="275238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Analyze Input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86716" y="7794712"/>
            <a:ext cx="275238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Prioritize Fixes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913108" y="4075816"/>
            <a:ext cx="3040396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Implement Changes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57113" y="5936714"/>
            <a:ext cx="275238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Retest Result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37797" y="4657757"/>
            <a:ext cx="3865929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Collect suggestions, complaints, and experience data.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7797" y="6518656"/>
            <a:ext cx="3865929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Identify patterns in feedback to address.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40613" y="4657757"/>
            <a:ext cx="3620816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Adjust design or function based on real user needs.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335000" y="6518656"/>
            <a:ext cx="3626429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Check if updates improve user experience.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7797" y="8379260"/>
            <a:ext cx="3620816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Choose what to resolve first based on impact.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99339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69921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52675" y="3263939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50"/>
                </a:lnTo>
                <a:lnTo>
                  <a:pt x="0" y="2279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1445" y="4403914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50"/>
                </a:lnTo>
                <a:lnTo>
                  <a:pt x="0" y="2279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0227" y="3263939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50"/>
                </a:lnTo>
                <a:lnTo>
                  <a:pt x="0" y="2279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16609" y="4403914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50"/>
                </a:lnTo>
                <a:lnTo>
                  <a:pt x="0" y="2279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52675" y="3165918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50"/>
                </a:lnTo>
                <a:lnTo>
                  <a:pt x="0" y="2279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91445" y="4305893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49"/>
                </a:lnTo>
                <a:lnTo>
                  <a:pt x="0" y="22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30227" y="3165918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50"/>
                </a:lnTo>
                <a:lnTo>
                  <a:pt x="0" y="2279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16609" y="4305893"/>
            <a:ext cx="2385391" cy="2279949"/>
          </a:xfrm>
          <a:custGeom>
            <a:avLst/>
            <a:gdLst/>
            <a:ahLst/>
            <a:cxnLst/>
            <a:rect r="r" b="b" t="t" l="l"/>
            <a:pathLst>
              <a:path h="2279949" w="2385391">
                <a:moveTo>
                  <a:pt x="0" y="0"/>
                </a:moveTo>
                <a:lnTo>
                  <a:pt x="2385391" y="0"/>
                </a:lnTo>
                <a:lnTo>
                  <a:pt x="2385391" y="2279949"/>
                </a:lnTo>
                <a:lnTo>
                  <a:pt x="0" y="22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52675" y="5950693"/>
            <a:ext cx="2385391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Pre-Launch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91445" y="7090667"/>
            <a:ext cx="2385391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Soft Release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30227" y="5950693"/>
            <a:ext cx="2385391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Full Launch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16609" y="7090667"/>
            <a:ext cx="2385391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Result 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31384" y="6429483"/>
            <a:ext cx="2627974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Prepare documentation, support, and launch assets.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13691" y="7569457"/>
            <a:ext cx="2140899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Launch quietly for limited user access and monitoring.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52473" y="6429483"/>
            <a:ext cx="2140899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Release publicly with announcements and customer support.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95317" y="7569457"/>
            <a:ext cx="2627974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Monitor product metrics and user feedback from day one.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0" y="4933684"/>
            <a:ext cx="18288000" cy="1652158"/>
          </a:xfrm>
          <a:prstGeom prst="line">
            <a:avLst/>
          </a:prstGeom>
          <a:ln cap="flat" w="19050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3261013" y="3510859"/>
            <a:ext cx="606816" cy="606816"/>
          </a:xfrm>
          <a:custGeom>
            <a:avLst/>
            <a:gdLst/>
            <a:ahLst/>
            <a:cxnLst/>
            <a:rect r="r" b="b" t="t" l="l"/>
            <a:pathLst>
              <a:path h="606816" w="606816">
                <a:moveTo>
                  <a:pt x="0" y="0"/>
                </a:moveTo>
                <a:lnTo>
                  <a:pt x="606816" y="0"/>
                </a:lnTo>
                <a:lnTo>
                  <a:pt x="606816" y="606816"/>
                </a:lnTo>
                <a:lnTo>
                  <a:pt x="0" y="6068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986199" y="4662531"/>
            <a:ext cx="657795" cy="606816"/>
          </a:xfrm>
          <a:custGeom>
            <a:avLst/>
            <a:gdLst/>
            <a:ahLst/>
            <a:cxnLst/>
            <a:rect r="r" b="b" t="t" l="l"/>
            <a:pathLst>
              <a:path h="606816" w="657795">
                <a:moveTo>
                  <a:pt x="0" y="0"/>
                </a:moveTo>
                <a:lnTo>
                  <a:pt x="657795" y="0"/>
                </a:lnTo>
                <a:lnTo>
                  <a:pt x="657795" y="606816"/>
                </a:lnTo>
                <a:lnTo>
                  <a:pt x="0" y="6068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802395" y="3469605"/>
            <a:ext cx="679154" cy="708375"/>
          </a:xfrm>
          <a:custGeom>
            <a:avLst/>
            <a:gdLst/>
            <a:ahLst/>
            <a:cxnLst/>
            <a:rect r="r" b="b" t="t" l="l"/>
            <a:pathLst>
              <a:path h="708375" w="679154">
                <a:moveTo>
                  <a:pt x="0" y="0"/>
                </a:moveTo>
                <a:lnTo>
                  <a:pt x="679154" y="0"/>
                </a:lnTo>
                <a:lnTo>
                  <a:pt x="679154" y="708375"/>
                </a:lnTo>
                <a:lnTo>
                  <a:pt x="0" y="7083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543574" y="4662531"/>
            <a:ext cx="588612" cy="606816"/>
          </a:xfrm>
          <a:custGeom>
            <a:avLst/>
            <a:gdLst/>
            <a:ahLst/>
            <a:cxnLst/>
            <a:rect r="r" b="b" t="t" l="l"/>
            <a:pathLst>
              <a:path h="606816" w="588612">
                <a:moveTo>
                  <a:pt x="0" y="0"/>
                </a:moveTo>
                <a:lnTo>
                  <a:pt x="588611" y="0"/>
                </a:lnTo>
                <a:lnTo>
                  <a:pt x="588611" y="606816"/>
                </a:lnTo>
                <a:lnTo>
                  <a:pt x="0" y="60681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000500" y="1999742"/>
            <a:ext cx="10292613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Map out the final path from product readiness to public release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58613" y="1104900"/>
            <a:ext cx="8382000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LAUNCH JOURNEY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500" y="3498056"/>
            <a:ext cx="15621000" cy="5760244"/>
          </a:xfrm>
          <a:custGeom>
            <a:avLst/>
            <a:gdLst/>
            <a:ahLst/>
            <a:cxnLst/>
            <a:rect r="r" b="b" t="t" l="l"/>
            <a:pathLst>
              <a:path h="5760244" w="15621000">
                <a:moveTo>
                  <a:pt x="0" y="0"/>
                </a:moveTo>
                <a:lnTo>
                  <a:pt x="15621000" y="0"/>
                </a:lnTo>
                <a:lnTo>
                  <a:pt x="15621000" y="5760244"/>
                </a:lnTo>
                <a:lnTo>
                  <a:pt x="0" y="5760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01174" y="4663682"/>
            <a:ext cx="1635277" cy="1631189"/>
          </a:xfrm>
          <a:custGeom>
            <a:avLst/>
            <a:gdLst/>
            <a:ahLst/>
            <a:cxnLst/>
            <a:rect r="r" b="b" t="t" l="l"/>
            <a:pathLst>
              <a:path h="1631189" w="1635277">
                <a:moveTo>
                  <a:pt x="0" y="0"/>
                </a:moveTo>
                <a:lnTo>
                  <a:pt x="1635277" y="0"/>
                </a:lnTo>
                <a:lnTo>
                  <a:pt x="1635277" y="1631188"/>
                </a:lnTo>
                <a:lnTo>
                  <a:pt x="0" y="16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31975" y="4663682"/>
            <a:ext cx="1635277" cy="1631189"/>
          </a:xfrm>
          <a:custGeom>
            <a:avLst/>
            <a:gdLst/>
            <a:ahLst/>
            <a:cxnLst/>
            <a:rect r="r" b="b" t="t" l="l"/>
            <a:pathLst>
              <a:path h="1631189" w="1635277">
                <a:moveTo>
                  <a:pt x="0" y="0"/>
                </a:moveTo>
                <a:lnTo>
                  <a:pt x="1635276" y="0"/>
                </a:lnTo>
                <a:lnTo>
                  <a:pt x="1635276" y="1631188"/>
                </a:lnTo>
                <a:lnTo>
                  <a:pt x="0" y="16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62575" y="6735072"/>
            <a:ext cx="1635277" cy="1631189"/>
          </a:xfrm>
          <a:custGeom>
            <a:avLst/>
            <a:gdLst/>
            <a:ahLst/>
            <a:cxnLst/>
            <a:rect r="r" b="b" t="t" l="l"/>
            <a:pathLst>
              <a:path h="1631189" w="1635277">
                <a:moveTo>
                  <a:pt x="0" y="0"/>
                </a:moveTo>
                <a:lnTo>
                  <a:pt x="1635277" y="0"/>
                </a:lnTo>
                <a:lnTo>
                  <a:pt x="1635277" y="1631188"/>
                </a:lnTo>
                <a:lnTo>
                  <a:pt x="0" y="16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09198" y="6725547"/>
            <a:ext cx="1635277" cy="1631189"/>
          </a:xfrm>
          <a:custGeom>
            <a:avLst/>
            <a:gdLst/>
            <a:ahLst/>
            <a:cxnLst/>
            <a:rect r="r" b="b" t="t" l="l"/>
            <a:pathLst>
              <a:path h="1631189" w="1635277">
                <a:moveTo>
                  <a:pt x="0" y="0"/>
                </a:moveTo>
                <a:lnTo>
                  <a:pt x="1635277" y="0"/>
                </a:lnTo>
                <a:lnTo>
                  <a:pt x="1635277" y="1631188"/>
                </a:lnTo>
                <a:lnTo>
                  <a:pt x="0" y="16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62775" y="4663682"/>
            <a:ext cx="1635277" cy="1631189"/>
          </a:xfrm>
          <a:custGeom>
            <a:avLst/>
            <a:gdLst/>
            <a:ahLst/>
            <a:cxnLst/>
            <a:rect r="r" b="b" t="t" l="l"/>
            <a:pathLst>
              <a:path h="1631189" w="1635277">
                <a:moveTo>
                  <a:pt x="0" y="0"/>
                </a:moveTo>
                <a:lnTo>
                  <a:pt x="1635277" y="0"/>
                </a:lnTo>
                <a:lnTo>
                  <a:pt x="1635277" y="1631188"/>
                </a:lnTo>
                <a:lnTo>
                  <a:pt x="0" y="1631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19738" y="4780430"/>
            <a:ext cx="1215019" cy="121501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66657" y="4780430"/>
            <a:ext cx="1215019" cy="121501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90581" y="6849095"/>
            <a:ext cx="1215019" cy="12150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7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6320" y="6849095"/>
            <a:ext cx="1215019" cy="121501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413575" y="4780430"/>
            <a:ext cx="1215019" cy="121501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2700000">
            <a:off x="16299339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2700000">
            <a:off x="-1269921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834067" y="5143500"/>
            <a:ext cx="586363" cy="488880"/>
          </a:xfrm>
          <a:custGeom>
            <a:avLst/>
            <a:gdLst/>
            <a:ahLst/>
            <a:cxnLst/>
            <a:rect r="r" b="b" t="t" l="l"/>
            <a:pathLst>
              <a:path h="488880" w="586363">
                <a:moveTo>
                  <a:pt x="0" y="0"/>
                </a:moveTo>
                <a:lnTo>
                  <a:pt x="586362" y="0"/>
                </a:lnTo>
                <a:lnTo>
                  <a:pt x="586362" y="488880"/>
                </a:lnTo>
                <a:lnTo>
                  <a:pt x="0" y="4888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838411" y="7185044"/>
            <a:ext cx="519360" cy="543121"/>
          </a:xfrm>
          <a:custGeom>
            <a:avLst/>
            <a:gdLst/>
            <a:ahLst/>
            <a:cxnLst/>
            <a:rect r="r" b="b" t="t" l="l"/>
            <a:pathLst>
              <a:path h="543121" w="519360">
                <a:moveTo>
                  <a:pt x="0" y="0"/>
                </a:moveTo>
                <a:lnTo>
                  <a:pt x="519359" y="0"/>
                </a:lnTo>
                <a:lnTo>
                  <a:pt x="519359" y="543121"/>
                </a:lnTo>
                <a:lnTo>
                  <a:pt x="0" y="5431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802606" y="5116379"/>
            <a:ext cx="543121" cy="543121"/>
          </a:xfrm>
          <a:custGeom>
            <a:avLst/>
            <a:gdLst/>
            <a:ahLst/>
            <a:cxnLst/>
            <a:rect r="r" b="b" t="t" l="l"/>
            <a:pathLst>
              <a:path h="543121" w="543121">
                <a:moveTo>
                  <a:pt x="0" y="0"/>
                </a:moveTo>
                <a:lnTo>
                  <a:pt x="543121" y="0"/>
                </a:lnTo>
                <a:lnTo>
                  <a:pt x="543121" y="543121"/>
                </a:lnTo>
                <a:lnTo>
                  <a:pt x="0" y="5431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743338" y="7194569"/>
            <a:ext cx="600983" cy="577695"/>
          </a:xfrm>
          <a:custGeom>
            <a:avLst/>
            <a:gdLst/>
            <a:ahLst/>
            <a:cxnLst/>
            <a:rect r="r" b="b" t="t" l="l"/>
            <a:pathLst>
              <a:path h="577695" w="600983">
                <a:moveTo>
                  <a:pt x="0" y="0"/>
                </a:moveTo>
                <a:lnTo>
                  <a:pt x="600983" y="0"/>
                </a:lnTo>
                <a:lnTo>
                  <a:pt x="600983" y="577695"/>
                </a:lnTo>
                <a:lnTo>
                  <a:pt x="0" y="5776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749524" y="5116379"/>
            <a:ext cx="543121" cy="543121"/>
          </a:xfrm>
          <a:custGeom>
            <a:avLst/>
            <a:gdLst/>
            <a:ahLst/>
            <a:cxnLst/>
            <a:rect r="r" b="b" t="t" l="l"/>
            <a:pathLst>
              <a:path h="543121" w="543121">
                <a:moveTo>
                  <a:pt x="0" y="0"/>
                </a:moveTo>
                <a:lnTo>
                  <a:pt x="543121" y="0"/>
                </a:lnTo>
                <a:lnTo>
                  <a:pt x="543121" y="543121"/>
                </a:lnTo>
                <a:lnTo>
                  <a:pt x="0" y="5431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000500" y="1999742"/>
            <a:ext cx="10292613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Long-term roadmap for growing and evolving your product post-launch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58613" y="1104900"/>
            <a:ext cx="8382000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GROWTH ROADMAP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53996" y="6597253"/>
            <a:ext cx="1746504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User Onboarding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00914" y="6597253"/>
            <a:ext cx="1746504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Version Updates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45942" y="4692257"/>
            <a:ext cx="1510710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Feature Requests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91681" y="4692257"/>
            <a:ext cx="1510710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Market Expansion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95077" y="7333218"/>
            <a:ext cx="1664341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Simplify new user experience with guides and support.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41996" y="7333218"/>
            <a:ext cx="1664341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Roll out new features based on user need and stability.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98329" y="5428222"/>
            <a:ext cx="1799523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Gather and assess user suggestions for added functions.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11659" y="5428222"/>
            <a:ext cx="1664341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Grow to new audiences or platforms after scaling.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47832" y="6597253"/>
            <a:ext cx="1746504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Ongoing Support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188914" y="7333218"/>
            <a:ext cx="1664341" cy="85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Provide help channels and respond to new issues fast.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113" y="4465913"/>
            <a:ext cx="15621000" cy="2499360"/>
          </a:xfrm>
          <a:custGeom>
            <a:avLst/>
            <a:gdLst/>
            <a:ahLst/>
            <a:cxnLst/>
            <a:rect r="r" b="b" t="t" l="l"/>
            <a:pathLst>
              <a:path h="2499360" w="15621000">
                <a:moveTo>
                  <a:pt x="0" y="0"/>
                </a:moveTo>
                <a:lnTo>
                  <a:pt x="15621000" y="0"/>
                </a:lnTo>
                <a:lnTo>
                  <a:pt x="15621000" y="2499360"/>
                </a:lnTo>
                <a:lnTo>
                  <a:pt x="0" y="249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3500" y="3840004"/>
            <a:ext cx="15621000" cy="3007043"/>
          </a:xfrm>
          <a:custGeom>
            <a:avLst/>
            <a:gdLst/>
            <a:ahLst/>
            <a:cxnLst/>
            <a:rect r="r" b="b" t="t" l="l"/>
            <a:pathLst>
              <a:path h="3007043" w="15621000">
                <a:moveTo>
                  <a:pt x="0" y="0"/>
                </a:moveTo>
                <a:lnTo>
                  <a:pt x="15621000" y="0"/>
                </a:lnTo>
                <a:lnTo>
                  <a:pt x="15621000" y="3007042"/>
                </a:lnTo>
                <a:lnTo>
                  <a:pt x="0" y="3007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59384" y="5343525"/>
            <a:ext cx="875933" cy="87593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0" y="5343525"/>
            <a:ext cx="875933" cy="87593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70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02235" y="5343525"/>
            <a:ext cx="875933" cy="8759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49584" y="5343525"/>
            <a:ext cx="875933" cy="8759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52042" y="5436183"/>
            <a:ext cx="690618" cy="69061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60158" y="5436183"/>
            <a:ext cx="690618" cy="69061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94892" y="5436183"/>
            <a:ext cx="690618" cy="69061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342241" y="5436183"/>
            <a:ext cx="690618" cy="69061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059225" y="7988159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767341" y="7988159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2101508" y="6847046"/>
            <a:ext cx="2591686" cy="1418774"/>
            <a:chOff x="0" y="0"/>
            <a:chExt cx="691144" cy="3783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1144" cy="378355"/>
            </a:xfrm>
            <a:custGeom>
              <a:avLst/>
              <a:gdLst/>
              <a:ahLst/>
              <a:cxnLst/>
              <a:rect r="r" b="b" t="t" l="l"/>
              <a:pathLst>
                <a:path h="378355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318611"/>
                  </a:lnTo>
                  <a:cubicBezTo>
                    <a:pt x="691144" y="351606"/>
                    <a:pt x="664395" y="378355"/>
                    <a:pt x="631400" y="378355"/>
                  </a:cubicBezTo>
                  <a:lnTo>
                    <a:pt x="59744" y="378355"/>
                  </a:lnTo>
                  <a:cubicBezTo>
                    <a:pt x="26748" y="378355"/>
                    <a:pt x="0" y="351606"/>
                    <a:pt x="0" y="318611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691144" cy="349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09624" y="6847046"/>
            <a:ext cx="2591686" cy="1418774"/>
            <a:chOff x="0" y="0"/>
            <a:chExt cx="691144" cy="3783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1144" cy="378355"/>
            </a:xfrm>
            <a:custGeom>
              <a:avLst/>
              <a:gdLst/>
              <a:ahLst/>
              <a:cxnLst/>
              <a:rect r="r" b="b" t="t" l="l"/>
              <a:pathLst>
                <a:path h="378355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318611"/>
                  </a:lnTo>
                  <a:cubicBezTo>
                    <a:pt x="691144" y="351606"/>
                    <a:pt x="664395" y="378355"/>
                    <a:pt x="631400" y="378355"/>
                  </a:cubicBezTo>
                  <a:lnTo>
                    <a:pt x="59744" y="378355"/>
                  </a:lnTo>
                  <a:cubicBezTo>
                    <a:pt x="26748" y="378355"/>
                    <a:pt x="0" y="351606"/>
                    <a:pt x="0" y="318611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28575"/>
              <a:ext cx="691144" cy="349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702075" y="7988159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744358" y="6847046"/>
            <a:ext cx="2591686" cy="1418774"/>
            <a:chOff x="0" y="0"/>
            <a:chExt cx="691144" cy="3783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1144" cy="378355"/>
            </a:xfrm>
            <a:custGeom>
              <a:avLst/>
              <a:gdLst/>
              <a:ahLst/>
              <a:cxnLst/>
              <a:rect r="r" b="b" t="t" l="l"/>
              <a:pathLst>
                <a:path h="378355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318611"/>
                  </a:lnTo>
                  <a:cubicBezTo>
                    <a:pt x="691144" y="351606"/>
                    <a:pt x="664395" y="378355"/>
                    <a:pt x="631400" y="378355"/>
                  </a:cubicBezTo>
                  <a:lnTo>
                    <a:pt x="59744" y="378355"/>
                  </a:lnTo>
                  <a:cubicBezTo>
                    <a:pt x="26748" y="378355"/>
                    <a:pt x="0" y="351606"/>
                    <a:pt x="0" y="318611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28575"/>
              <a:ext cx="691144" cy="349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3349424" y="7988159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391707" y="6847046"/>
            <a:ext cx="2591686" cy="1418774"/>
            <a:chOff x="0" y="0"/>
            <a:chExt cx="691144" cy="3783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1144" cy="378355"/>
            </a:xfrm>
            <a:custGeom>
              <a:avLst/>
              <a:gdLst/>
              <a:ahLst/>
              <a:cxnLst/>
              <a:rect r="r" b="b" t="t" l="l"/>
              <a:pathLst>
                <a:path h="378355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318611"/>
                  </a:lnTo>
                  <a:cubicBezTo>
                    <a:pt x="691144" y="351606"/>
                    <a:pt x="664395" y="378355"/>
                    <a:pt x="631400" y="378355"/>
                  </a:cubicBezTo>
                  <a:lnTo>
                    <a:pt x="59744" y="378355"/>
                  </a:lnTo>
                  <a:cubicBezTo>
                    <a:pt x="26748" y="378355"/>
                    <a:pt x="0" y="351606"/>
                    <a:pt x="0" y="318611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28575"/>
              <a:ext cx="691144" cy="349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3220536" y="5604677"/>
            <a:ext cx="353628" cy="353628"/>
          </a:xfrm>
          <a:custGeom>
            <a:avLst/>
            <a:gdLst/>
            <a:ahLst/>
            <a:cxnLst/>
            <a:rect r="r" b="b" t="t" l="l"/>
            <a:pathLst>
              <a:path h="353628" w="353628">
                <a:moveTo>
                  <a:pt x="0" y="0"/>
                </a:moveTo>
                <a:lnTo>
                  <a:pt x="353628" y="0"/>
                </a:lnTo>
                <a:lnTo>
                  <a:pt x="353628" y="353628"/>
                </a:lnTo>
                <a:lnTo>
                  <a:pt x="0" y="3536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928652" y="5604677"/>
            <a:ext cx="353628" cy="353628"/>
          </a:xfrm>
          <a:custGeom>
            <a:avLst/>
            <a:gdLst/>
            <a:ahLst/>
            <a:cxnLst/>
            <a:rect r="r" b="b" t="t" l="l"/>
            <a:pathLst>
              <a:path h="353628" w="353628">
                <a:moveTo>
                  <a:pt x="0" y="0"/>
                </a:moveTo>
                <a:lnTo>
                  <a:pt x="353628" y="0"/>
                </a:lnTo>
                <a:lnTo>
                  <a:pt x="353628" y="353628"/>
                </a:lnTo>
                <a:lnTo>
                  <a:pt x="0" y="3536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851599" y="5604677"/>
            <a:ext cx="377203" cy="353628"/>
          </a:xfrm>
          <a:custGeom>
            <a:avLst/>
            <a:gdLst/>
            <a:ahLst/>
            <a:cxnLst/>
            <a:rect r="r" b="b" t="t" l="l"/>
            <a:pathLst>
              <a:path h="353628" w="377203">
                <a:moveTo>
                  <a:pt x="0" y="0"/>
                </a:moveTo>
                <a:lnTo>
                  <a:pt x="377204" y="0"/>
                </a:lnTo>
                <a:lnTo>
                  <a:pt x="377204" y="353628"/>
                </a:lnTo>
                <a:lnTo>
                  <a:pt x="0" y="3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510736" y="5604677"/>
            <a:ext cx="353628" cy="353628"/>
          </a:xfrm>
          <a:custGeom>
            <a:avLst/>
            <a:gdLst/>
            <a:ahLst/>
            <a:cxnLst/>
            <a:rect r="r" b="b" t="t" l="l"/>
            <a:pathLst>
              <a:path h="353628" w="353628">
                <a:moveTo>
                  <a:pt x="0" y="0"/>
                </a:moveTo>
                <a:lnTo>
                  <a:pt x="353628" y="0"/>
                </a:lnTo>
                <a:lnTo>
                  <a:pt x="353628" y="353628"/>
                </a:lnTo>
                <a:lnTo>
                  <a:pt x="0" y="3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4000500" y="1999742"/>
            <a:ext cx="10292613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"/>
                <a:ea typeface="Open Sans"/>
                <a:cs typeface="Open Sans"/>
                <a:sym typeface="Open Sans"/>
              </a:rPr>
              <a:t>Final overview of four core phases in the product lifecycle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011726" y="1104900"/>
            <a:ext cx="10275774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DEVELOPMENT RECAP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04782" y="4307151"/>
            <a:ext cx="218513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Plan Stage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012898" y="4307151"/>
            <a:ext cx="218513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Design Phase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47633" y="4307151"/>
            <a:ext cx="218513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Build Period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94982" y="4307151"/>
            <a:ext cx="218513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Launch Cycle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512877" y="7244902"/>
            <a:ext cx="1768947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Define what the product is and what it will do.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106958" y="7244902"/>
            <a:ext cx="1997018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Create visuals and user flow to bring the product to life.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155728" y="7244902"/>
            <a:ext cx="1768947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Turn plans and designs into a working product.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94982" y="7244902"/>
            <a:ext cx="2185137" cy="64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Release and maintain product based on ongoing feedback.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2700000">
            <a:off x="16299339" y="-176982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1"/>
                </a:lnTo>
                <a:lnTo>
                  <a:pt x="0" y="32585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3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2700000">
            <a:off x="-1269921" y="-176982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1"/>
                </a:lnTo>
                <a:lnTo>
                  <a:pt x="0" y="32585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3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DAHAGXc4vtA</dc:identifier>
  <dcterms:modified xsi:type="dcterms:W3CDTF">2011-08-01T06:04:30Z</dcterms:modified>
  <cp:revision>1</cp:revision>
  <dc:title>Blue and Yellow Geometric Product Development Flow Presentation</dc:title>
</cp:coreProperties>
</file>