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Hoves" charset="1" panose="02000003020000060003"/>
      <p:regular r:id="rId16"/>
    </p:embeddedFont>
    <p:embeddedFont>
      <p:font typeface="TT Hoves Bold" charset="1" panose="020000030200000600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2" Target="../media/image10.png" Type="http://schemas.openxmlformats.org/officeDocument/2006/relationships/image"/><Relationship Id="rId3" Target="../media/image9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9.pn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2" Target="../media/image9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77.png" Type="http://schemas.openxmlformats.org/officeDocument/2006/relationships/image"/><Relationship Id="rId13" Target="../media/image78.svg" Type="http://schemas.openxmlformats.org/officeDocument/2006/relationships/image"/><Relationship Id="rId14" Target="../media/image79.png" Type="http://schemas.openxmlformats.org/officeDocument/2006/relationships/image"/><Relationship Id="rId15" Target="../media/image80.svg" Type="http://schemas.openxmlformats.org/officeDocument/2006/relationships/image"/><Relationship Id="rId2" Target="../media/image71.png" Type="http://schemas.openxmlformats.org/officeDocument/2006/relationships/image"/><Relationship Id="rId3" Target="../media/image7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89.png" Type="http://schemas.openxmlformats.org/officeDocument/2006/relationships/image"/><Relationship Id="rId14" Target="../media/image90.svg" Type="http://schemas.openxmlformats.org/officeDocument/2006/relationships/image"/><Relationship Id="rId2" Target="../media/image9.png" Type="http://schemas.openxmlformats.org/officeDocument/2006/relationships/image"/><Relationship Id="rId3" Target="../media/image81.png" Type="http://schemas.openxmlformats.org/officeDocument/2006/relationships/image"/><Relationship Id="rId4" Target="../media/image82.svg" Type="http://schemas.openxmlformats.org/officeDocument/2006/relationships/image"/><Relationship Id="rId5" Target="../media/image83.png" Type="http://schemas.openxmlformats.org/officeDocument/2006/relationships/image"/><Relationship Id="rId6" Target="../media/image84.svg" Type="http://schemas.openxmlformats.org/officeDocument/2006/relationships/image"/><Relationship Id="rId7" Target="../media/image85.png" Type="http://schemas.openxmlformats.org/officeDocument/2006/relationships/image"/><Relationship Id="rId8" Target="../media/image86.sv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11" Target="../media/image97.png" Type="http://schemas.openxmlformats.org/officeDocument/2006/relationships/image"/><Relationship Id="rId12" Target="../media/image98.svg" Type="http://schemas.openxmlformats.org/officeDocument/2006/relationships/image"/><Relationship Id="rId13" Target="../media/image99.png" Type="http://schemas.openxmlformats.org/officeDocument/2006/relationships/image"/><Relationship Id="rId14" Target="../media/image100.svg" Type="http://schemas.openxmlformats.org/officeDocument/2006/relationships/image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9.png" Type="http://schemas.openxmlformats.org/officeDocument/2006/relationships/image"/><Relationship Id="rId5" Target="../media/image93.png" Type="http://schemas.openxmlformats.org/officeDocument/2006/relationships/image"/><Relationship Id="rId6" Target="../media/image94.svg" Type="http://schemas.openxmlformats.org/officeDocument/2006/relationships/image"/><Relationship Id="rId7" Target="../media/image95.png" Type="http://schemas.openxmlformats.org/officeDocument/2006/relationships/image"/><Relationship Id="rId8" Target="../media/image96.svg" Type="http://schemas.openxmlformats.org/officeDocument/2006/relationships/image"/><Relationship Id="rId9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7484" y="741609"/>
            <a:ext cx="10093516" cy="9047587"/>
            <a:chOff x="0" y="0"/>
            <a:chExt cx="13458022" cy="12063449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5499024" y="4104452"/>
              <a:ext cx="12063449" cy="3854546"/>
              <a:chOff x="0" y="0"/>
              <a:chExt cx="1923235" cy="6145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23235" cy="614517"/>
              </a:xfrm>
              <a:custGeom>
                <a:avLst/>
                <a:gdLst/>
                <a:ahLst/>
                <a:cxnLst/>
                <a:rect r="r" b="b" t="t" l="l"/>
                <a:pathLst>
                  <a:path h="614517" w="1923235">
                    <a:moveTo>
                      <a:pt x="203200" y="614517"/>
                    </a:moveTo>
                    <a:lnTo>
                      <a:pt x="1720035" y="614517"/>
                    </a:lnTo>
                    <a:lnTo>
                      <a:pt x="1923235" y="0"/>
                    </a:lnTo>
                    <a:lnTo>
                      <a:pt x="0" y="0"/>
                    </a:lnTo>
                    <a:lnTo>
                      <a:pt x="203200" y="614517"/>
                    </a:lnTo>
                    <a:close/>
                  </a:path>
                </a:pathLst>
              </a:custGeom>
              <a:solidFill>
                <a:srgbClr val="F68D55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27000" y="-47625"/>
                <a:ext cx="1669235" cy="662142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400000">
              <a:off x="3601495" y="4103701"/>
              <a:ext cx="8902880" cy="3856047"/>
              <a:chOff x="0" y="0"/>
              <a:chExt cx="1419356" cy="61475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19356" cy="614756"/>
              </a:xfrm>
              <a:custGeom>
                <a:avLst/>
                <a:gdLst/>
                <a:ahLst/>
                <a:cxnLst/>
                <a:rect r="r" b="b" t="t" l="l"/>
                <a:pathLst>
                  <a:path h="614756" w="1419356">
                    <a:moveTo>
                      <a:pt x="203200" y="614756"/>
                    </a:moveTo>
                    <a:lnTo>
                      <a:pt x="1216156" y="614756"/>
                    </a:lnTo>
                    <a:lnTo>
                      <a:pt x="1419356" y="0"/>
                    </a:lnTo>
                    <a:lnTo>
                      <a:pt x="0" y="0"/>
                    </a:lnTo>
                    <a:lnTo>
                      <a:pt x="203200" y="614756"/>
                    </a:lnTo>
                    <a:close/>
                  </a:path>
                </a:pathLst>
              </a:custGeom>
              <a:solidFill>
                <a:srgbClr val="BEC8DA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27000" y="-47625"/>
                <a:ext cx="1165356" cy="662381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656828" y="4103701"/>
              <a:ext cx="5838085" cy="3856047"/>
              <a:chOff x="0" y="0"/>
              <a:chExt cx="930746" cy="61475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30746" cy="614756"/>
              </a:xfrm>
              <a:custGeom>
                <a:avLst/>
                <a:gdLst/>
                <a:ahLst/>
                <a:cxnLst/>
                <a:rect r="r" b="b" t="t" l="l"/>
                <a:pathLst>
                  <a:path h="614756" w="930746">
                    <a:moveTo>
                      <a:pt x="203200" y="614756"/>
                    </a:moveTo>
                    <a:lnTo>
                      <a:pt x="727546" y="614756"/>
                    </a:lnTo>
                    <a:lnTo>
                      <a:pt x="930746" y="0"/>
                    </a:lnTo>
                    <a:lnTo>
                      <a:pt x="0" y="0"/>
                    </a:lnTo>
                    <a:lnTo>
                      <a:pt x="203200" y="614756"/>
                    </a:lnTo>
                    <a:close/>
                  </a:path>
                </a:pathLst>
              </a:custGeom>
              <a:solidFill>
                <a:srgbClr val="3D629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27000" y="-47625"/>
                <a:ext cx="676746" cy="662381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5400000">
              <a:off x="98779" y="4518310"/>
              <a:ext cx="2829271" cy="3026829"/>
              <a:chOff x="0" y="0"/>
              <a:chExt cx="812800" cy="8695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69555"/>
              </a:xfrm>
              <a:custGeom>
                <a:avLst/>
                <a:gdLst/>
                <a:ahLst/>
                <a:cxnLst/>
                <a:rect r="r" b="b" t="t" l="l"/>
                <a:pathLst>
                  <a:path h="869555" w="812800">
                    <a:moveTo>
                      <a:pt x="406400" y="869555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869555"/>
                    </a:lnTo>
                    <a:close/>
                  </a:path>
                </a:pathLst>
              </a:custGeom>
              <a:solidFill>
                <a:srgbClr val="12235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27000" y="14486"/>
                <a:ext cx="558800" cy="451347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4772859">
              <a:off x="9539045" y="1328029"/>
              <a:ext cx="480372" cy="418104"/>
              <a:chOff x="0" y="0"/>
              <a:chExt cx="371464" cy="32331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71464" cy="323314"/>
              </a:xfrm>
              <a:custGeom>
                <a:avLst/>
                <a:gdLst/>
                <a:ahLst/>
                <a:cxnLst/>
                <a:rect r="r" b="b" t="t" l="l"/>
                <a:pathLst>
                  <a:path h="323314" w="371464">
                    <a:moveTo>
                      <a:pt x="185732" y="323314"/>
                    </a:moveTo>
                    <a:lnTo>
                      <a:pt x="371464" y="0"/>
                    </a:lnTo>
                    <a:lnTo>
                      <a:pt x="0" y="0"/>
                    </a:lnTo>
                    <a:lnTo>
                      <a:pt x="185732" y="323314"/>
                    </a:lnTo>
                    <a:close/>
                  </a:path>
                </a:pathLst>
              </a:custGeom>
              <a:solidFill>
                <a:srgbClr val="A9B4C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58041" y="-24531"/>
                <a:ext cx="255382" cy="197735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4940356">
              <a:off x="6094365" y="2875346"/>
              <a:ext cx="410283" cy="424895"/>
              <a:chOff x="0" y="0"/>
              <a:chExt cx="317266" cy="32856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17266" cy="328565"/>
              </a:xfrm>
              <a:custGeom>
                <a:avLst/>
                <a:gdLst/>
                <a:ahLst/>
                <a:cxnLst/>
                <a:rect r="r" b="b" t="t" l="l"/>
                <a:pathLst>
                  <a:path h="328565" w="317266">
                    <a:moveTo>
                      <a:pt x="158633" y="328565"/>
                    </a:moveTo>
                    <a:lnTo>
                      <a:pt x="317266" y="0"/>
                    </a:lnTo>
                    <a:lnTo>
                      <a:pt x="0" y="0"/>
                    </a:lnTo>
                    <a:lnTo>
                      <a:pt x="158633" y="328565"/>
                    </a:lnTo>
                    <a:close/>
                  </a:path>
                </a:pathLst>
              </a:custGeom>
              <a:solidFill>
                <a:srgbClr val="A9B4C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49573" y="-24156"/>
                <a:ext cx="218120" cy="200173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-5234857">
              <a:off x="2618822" y="4409527"/>
              <a:ext cx="424414" cy="396344"/>
              <a:chOff x="0" y="0"/>
              <a:chExt cx="328193" cy="30648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28193" cy="306486"/>
              </a:xfrm>
              <a:custGeom>
                <a:avLst/>
                <a:gdLst/>
                <a:ahLst/>
                <a:cxnLst/>
                <a:rect r="r" b="b" t="t" l="l"/>
                <a:pathLst>
                  <a:path h="306486" w="328193">
                    <a:moveTo>
                      <a:pt x="164096" y="306486"/>
                    </a:moveTo>
                    <a:lnTo>
                      <a:pt x="328193" y="0"/>
                    </a:lnTo>
                    <a:lnTo>
                      <a:pt x="0" y="0"/>
                    </a:lnTo>
                    <a:lnTo>
                      <a:pt x="164096" y="306486"/>
                    </a:lnTo>
                    <a:close/>
                  </a:path>
                </a:pathLst>
              </a:custGeom>
              <a:solidFill>
                <a:srgbClr val="A9B4C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51280" y="-25733"/>
                <a:ext cx="225633" cy="189922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5568000">
              <a:off x="2618822" y="7262096"/>
              <a:ext cx="424414" cy="396344"/>
              <a:chOff x="0" y="0"/>
              <a:chExt cx="328193" cy="30648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28193" cy="306486"/>
              </a:xfrm>
              <a:custGeom>
                <a:avLst/>
                <a:gdLst/>
                <a:ahLst/>
                <a:cxnLst/>
                <a:rect r="r" b="b" t="t" l="l"/>
                <a:pathLst>
                  <a:path h="306486" w="328193">
                    <a:moveTo>
                      <a:pt x="164096" y="306486"/>
                    </a:moveTo>
                    <a:lnTo>
                      <a:pt x="328193" y="0"/>
                    </a:lnTo>
                    <a:lnTo>
                      <a:pt x="0" y="0"/>
                    </a:lnTo>
                    <a:lnTo>
                      <a:pt x="164096" y="306486"/>
                    </a:lnTo>
                    <a:close/>
                  </a:path>
                </a:pathLst>
              </a:custGeom>
              <a:solidFill>
                <a:srgbClr val="A9B4C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51280" y="-25733"/>
                <a:ext cx="225633" cy="189922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-5861999">
              <a:off x="6094245" y="8765691"/>
              <a:ext cx="410283" cy="424895"/>
              <a:chOff x="0" y="0"/>
              <a:chExt cx="317266" cy="32856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17266" cy="328565"/>
              </a:xfrm>
              <a:custGeom>
                <a:avLst/>
                <a:gdLst/>
                <a:ahLst/>
                <a:cxnLst/>
                <a:rect r="r" b="b" t="t" l="l"/>
                <a:pathLst>
                  <a:path h="328565" w="317266">
                    <a:moveTo>
                      <a:pt x="158633" y="328565"/>
                    </a:moveTo>
                    <a:lnTo>
                      <a:pt x="317266" y="0"/>
                    </a:lnTo>
                    <a:lnTo>
                      <a:pt x="0" y="0"/>
                    </a:lnTo>
                    <a:lnTo>
                      <a:pt x="158633" y="328565"/>
                    </a:lnTo>
                    <a:close/>
                  </a:path>
                </a:pathLst>
              </a:custGeom>
              <a:solidFill>
                <a:srgbClr val="A9B4C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49573" y="-24156"/>
                <a:ext cx="218120" cy="200173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-6030000">
              <a:off x="9539045" y="10306562"/>
              <a:ext cx="480372" cy="432459"/>
              <a:chOff x="0" y="0"/>
              <a:chExt cx="371464" cy="33441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71464" cy="334414"/>
              </a:xfrm>
              <a:custGeom>
                <a:avLst/>
                <a:gdLst/>
                <a:ahLst/>
                <a:cxnLst/>
                <a:rect r="r" b="b" t="t" l="l"/>
                <a:pathLst>
                  <a:path h="334414" w="371464">
                    <a:moveTo>
                      <a:pt x="185732" y="334414"/>
                    </a:moveTo>
                    <a:lnTo>
                      <a:pt x="371464" y="0"/>
                    </a:lnTo>
                    <a:lnTo>
                      <a:pt x="0" y="0"/>
                    </a:lnTo>
                    <a:lnTo>
                      <a:pt x="185732" y="334414"/>
                    </a:lnTo>
                    <a:close/>
                  </a:path>
                </a:pathLst>
              </a:custGeom>
              <a:solidFill>
                <a:srgbClr val="A9B4C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58041" y="-23738"/>
                <a:ext cx="255382" cy="202889"/>
              </a:xfrm>
              <a:prstGeom prst="rect">
                <a:avLst/>
              </a:prstGeom>
            </p:spPr>
            <p:txBody>
              <a:bodyPr anchor="ctr" rtlCol="false" tIns="52992" lIns="52992" bIns="52992" rIns="5299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1513415" y="5498457"/>
              <a:ext cx="1066535" cy="1066535"/>
            </a:xfrm>
            <a:custGeom>
              <a:avLst/>
              <a:gdLst/>
              <a:ahLst/>
              <a:cxnLst/>
              <a:rect r="r" b="b" t="t" l="l"/>
              <a:pathLst>
                <a:path h="1066535" w="1066535">
                  <a:moveTo>
                    <a:pt x="0" y="0"/>
                  </a:moveTo>
                  <a:lnTo>
                    <a:pt x="1066534" y="0"/>
                  </a:lnTo>
                  <a:lnTo>
                    <a:pt x="1066534" y="1066535"/>
                  </a:lnTo>
                  <a:lnTo>
                    <a:pt x="0" y="106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909286" y="5231824"/>
              <a:ext cx="1599802" cy="1599802"/>
            </a:xfrm>
            <a:custGeom>
              <a:avLst/>
              <a:gdLst/>
              <a:ahLst/>
              <a:cxnLst/>
              <a:rect r="r" b="b" t="t" l="l"/>
              <a:pathLst>
                <a:path h="1599802" w="1599802">
                  <a:moveTo>
                    <a:pt x="0" y="0"/>
                  </a:moveTo>
                  <a:lnTo>
                    <a:pt x="1599802" y="0"/>
                  </a:lnTo>
                  <a:lnTo>
                    <a:pt x="1599802" y="1599802"/>
                  </a:lnTo>
                  <a:lnTo>
                    <a:pt x="0" y="1599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7122383" y="4965190"/>
              <a:ext cx="2127737" cy="2133069"/>
            </a:xfrm>
            <a:custGeom>
              <a:avLst/>
              <a:gdLst/>
              <a:ahLst/>
              <a:cxnLst/>
              <a:rect r="r" b="b" t="t" l="l"/>
              <a:pathLst>
                <a:path h="2133069" w="2127737">
                  <a:moveTo>
                    <a:pt x="0" y="0"/>
                  </a:moveTo>
                  <a:lnTo>
                    <a:pt x="2127737" y="0"/>
                  </a:lnTo>
                  <a:lnTo>
                    <a:pt x="2127737" y="2133069"/>
                  </a:lnTo>
                  <a:lnTo>
                    <a:pt x="0" y="2133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0464214" y="4965190"/>
              <a:ext cx="2133069" cy="2133069"/>
            </a:xfrm>
            <a:custGeom>
              <a:avLst/>
              <a:gdLst/>
              <a:ahLst/>
              <a:cxnLst/>
              <a:rect r="r" b="b" t="t" l="l"/>
              <a:pathLst>
                <a:path h="2133069" w="2133069">
                  <a:moveTo>
                    <a:pt x="0" y="0"/>
                  </a:moveTo>
                  <a:lnTo>
                    <a:pt x="2133070" y="0"/>
                  </a:lnTo>
                  <a:lnTo>
                    <a:pt x="2133070" y="2133069"/>
                  </a:lnTo>
                  <a:lnTo>
                    <a:pt x="0" y="2133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52500" y="1623060"/>
            <a:ext cx="595217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Visualize how</a:t>
            </a:r>
            <a:r>
              <a:rPr lang="en-US" sz="20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businesses create, deliver, and capture value clearly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2500" y="876300"/>
            <a:ext cx="595217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Canvas C</a:t>
            </a: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ore Framework</a:t>
            </a:r>
          </a:p>
        </p:txBody>
      </p:sp>
      <p:sp>
        <p:nvSpPr>
          <p:cNvPr name="Freeform 39" id="39"/>
          <p:cNvSpPr/>
          <p:nvPr/>
        </p:nvSpPr>
        <p:spPr>
          <a:xfrm flipH="false" flipV="true" rot="-5400000">
            <a:off x="6413089" y="4455518"/>
            <a:ext cx="10815533" cy="1375964"/>
          </a:xfrm>
          <a:custGeom>
            <a:avLst/>
            <a:gdLst/>
            <a:ahLst/>
            <a:cxnLst/>
            <a:rect r="r" b="b" t="t" l="l"/>
            <a:pathLst>
              <a:path h="1375964" w="10815533">
                <a:moveTo>
                  <a:pt x="0" y="1375964"/>
                </a:moveTo>
                <a:lnTo>
                  <a:pt x="10815533" y="1375964"/>
                </a:lnTo>
                <a:lnTo>
                  <a:pt x="10815533" y="0"/>
                </a:lnTo>
                <a:lnTo>
                  <a:pt x="0" y="0"/>
                </a:lnTo>
                <a:lnTo>
                  <a:pt x="0" y="1375964"/>
                </a:lnTo>
                <a:close/>
              </a:path>
            </a:pathLst>
          </a:custGeom>
          <a:blipFill>
            <a:blip r:embed="rId10"/>
            <a:stretch>
              <a:fillRect l="-6203" t="-1206" r="-6203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1670307" y="0"/>
            <a:ext cx="6605894" cy="10287000"/>
            <a:chOff x="0" y="0"/>
            <a:chExt cx="1739824" cy="270933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398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39824">
                  <a:moveTo>
                    <a:pt x="0" y="0"/>
                  </a:moveTo>
                  <a:lnTo>
                    <a:pt x="1739824" y="0"/>
                  </a:lnTo>
                  <a:lnTo>
                    <a:pt x="17398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ECF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73982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607147" y="952500"/>
            <a:ext cx="787651" cy="787651"/>
            <a:chOff x="0" y="0"/>
            <a:chExt cx="207447" cy="20744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7447" cy="207447"/>
            </a:xfrm>
            <a:custGeom>
              <a:avLst/>
              <a:gdLst/>
              <a:ahLst/>
              <a:cxnLst/>
              <a:rect r="r" b="b" t="t" l="l"/>
              <a:pathLst>
                <a:path h="207447" w="207447">
                  <a:moveTo>
                    <a:pt x="0" y="0"/>
                  </a:moveTo>
                  <a:lnTo>
                    <a:pt x="207447" y="0"/>
                  </a:lnTo>
                  <a:lnTo>
                    <a:pt x="207447" y="207447"/>
                  </a:lnTo>
                  <a:lnTo>
                    <a:pt x="0" y="207447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207447" cy="274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607147" y="3330787"/>
            <a:ext cx="787651" cy="787651"/>
            <a:chOff x="0" y="0"/>
            <a:chExt cx="207447" cy="2074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7447" cy="207447"/>
            </a:xfrm>
            <a:custGeom>
              <a:avLst/>
              <a:gdLst/>
              <a:ahLst/>
              <a:cxnLst/>
              <a:rect r="r" b="b" t="t" l="l"/>
              <a:pathLst>
                <a:path h="207447" w="207447">
                  <a:moveTo>
                    <a:pt x="0" y="0"/>
                  </a:moveTo>
                  <a:lnTo>
                    <a:pt x="207447" y="0"/>
                  </a:lnTo>
                  <a:lnTo>
                    <a:pt x="207447" y="207447"/>
                  </a:lnTo>
                  <a:lnTo>
                    <a:pt x="0" y="207447"/>
                  </a:ln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207447" cy="274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607147" y="5709073"/>
            <a:ext cx="787651" cy="787651"/>
            <a:chOff x="0" y="0"/>
            <a:chExt cx="207447" cy="20744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7447" cy="207447"/>
            </a:xfrm>
            <a:custGeom>
              <a:avLst/>
              <a:gdLst/>
              <a:ahLst/>
              <a:cxnLst/>
              <a:rect r="r" b="b" t="t" l="l"/>
              <a:pathLst>
                <a:path h="207447" w="207447">
                  <a:moveTo>
                    <a:pt x="0" y="0"/>
                  </a:moveTo>
                  <a:lnTo>
                    <a:pt x="207447" y="0"/>
                  </a:lnTo>
                  <a:lnTo>
                    <a:pt x="207447" y="207447"/>
                  </a:lnTo>
                  <a:lnTo>
                    <a:pt x="0" y="207447"/>
                  </a:ln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207447" cy="274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12235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607147" y="8087360"/>
            <a:ext cx="787651" cy="787651"/>
            <a:chOff x="0" y="0"/>
            <a:chExt cx="207447" cy="20744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7447" cy="207447"/>
            </a:xfrm>
            <a:custGeom>
              <a:avLst/>
              <a:gdLst/>
              <a:ahLst/>
              <a:cxnLst/>
              <a:rect r="r" b="b" t="t" l="l"/>
              <a:pathLst>
                <a:path h="207447" w="207447">
                  <a:moveTo>
                    <a:pt x="0" y="0"/>
                  </a:moveTo>
                  <a:lnTo>
                    <a:pt x="207447" y="0"/>
                  </a:lnTo>
                  <a:lnTo>
                    <a:pt x="207447" y="207447"/>
                  </a:lnTo>
                  <a:lnTo>
                    <a:pt x="0" y="207447"/>
                  </a:ln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207447" cy="274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12235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04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843120" y="1383030"/>
            <a:ext cx="2886733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entify groups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of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peo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or organi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z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ons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bu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sines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aims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to 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ach and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erve effect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ively.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843120" y="904875"/>
            <a:ext cx="2886733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Cust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omer Segments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843120" y="3761317"/>
            <a:ext cx="2886733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Define 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ff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that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solve 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obl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meaningful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value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 customers.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843120" y="3283162"/>
            <a:ext cx="2886733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Valu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 Proposition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843120" y="6139603"/>
            <a:ext cx="2886733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Explain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how a company communicates, delivers, and reaches its target customers.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843120" y="5661448"/>
            <a:ext cx="2886733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Chann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els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843120" y="8517890"/>
            <a:ext cx="2886733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Describe customer connections built to ensure loyalty and lasting engagement.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843120" y="8039735"/>
            <a:ext cx="2886733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Cust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omer Relationships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37892" y="822377"/>
            <a:ext cx="2103739" cy="21037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74625"/>
              <a:ext cx="558800" cy="587375"/>
            </a:xfrm>
            <a:prstGeom prst="rect">
              <a:avLst/>
            </a:prstGeom>
          </p:spPr>
          <p:txBody>
            <a:bodyPr anchor="ctr" rtlCol="false" tIns="33673" lIns="33673" bIns="33673" rIns="33673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93266" y="6543143"/>
            <a:ext cx="2103739" cy="21037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74625"/>
              <a:ext cx="558800" cy="587375"/>
            </a:xfrm>
            <a:prstGeom prst="rect">
              <a:avLst/>
            </a:prstGeom>
          </p:spPr>
          <p:txBody>
            <a:bodyPr anchor="ctr" rtlCol="false" tIns="33673" lIns="33673" bIns="33673" rIns="33673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58820" y="3002665"/>
            <a:ext cx="2103739" cy="210373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174625"/>
              <a:ext cx="558800" cy="587375"/>
            </a:xfrm>
            <a:prstGeom prst="rect">
              <a:avLst/>
            </a:prstGeom>
          </p:spPr>
          <p:txBody>
            <a:bodyPr anchor="ctr" rtlCol="false" tIns="33673" lIns="33673" bIns="33673" rIns="33673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5206950" y="1630692"/>
            <a:ext cx="2103739" cy="210373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174625"/>
              <a:ext cx="558800" cy="587375"/>
            </a:xfrm>
            <a:prstGeom prst="rect">
              <a:avLst/>
            </a:prstGeom>
          </p:spPr>
          <p:txBody>
            <a:bodyPr anchor="ctr" rtlCol="false" tIns="33673" lIns="33673" bIns="33673" rIns="33673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6258820" y="5174824"/>
            <a:ext cx="2103739" cy="210373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174625"/>
              <a:ext cx="558800" cy="587375"/>
            </a:xfrm>
            <a:prstGeom prst="rect">
              <a:avLst/>
            </a:prstGeom>
          </p:spPr>
          <p:txBody>
            <a:bodyPr anchor="ctr" rtlCol="false" tIns="33673" lIns="33673" bIns="33673" rIns="33673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3437892" y="7349955"/>
            <a:ext cx="2103739" cy="21037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6E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174625"/>
              <a:ext cx="558800" cy="587375"/>
            </a:xfrm>
            <a:prstGeom prst="rect">
              <a:avLst/>
            </a:prstGeom>
          </p:spPr>
          <p:txBody>
            <a:bodyPr anchor="ctr" rtlCol="false" tIns="33673" lIns="33673" bIns="33673" rIns="33673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4489761" y="2926116"/>
            <a:ext cx="0" cy="942707"/>
          </a:xfrm>
          <a:prstGeom prst="line">
            <a:avLst/>
          </a:prstGeom>
          <a:ln cap="flat" w="9525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5402710" y="3361022"/>
            <a:ext cx="367310" cy="509830"/>
          </a:xfrm>
          <a:prstGeom prst="line">
            <a:avLst/>
          </a:prstGeom>
          <a:ln cap="flat" w="9525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5758974" y="4389340"/>
            <a:ext cx="680039" cy="261199"/>
          </a:xfrm>
          <a:prstGeom prst="line">
            <a:avLst/>
          </a:prstGeom>
          <a:ln cap="flat" w="9525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5758974" y="5627853"/>
            <a:ext cx="680479" cy="262612"/>
          </a:xfrm>
          <a:prstGeom prst="line">
            <a:avLst/>
          </a:prstGeom>
          <a:ln cap="flat" w="9525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5395564" y="6405877"/>
            <a:ext cx="363410" cy="508661"/>
          </a:xfrm>
          <a:prstGeom prst="line">
            <a:avLst/>
          </a:prstGeom>
          <a:ln cap="flat" w="9525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4489761" y="6407248"/>
            <a:ext cx="0" cy="942707"/>
          </a:xfrm>
          <a:prstGeom prst="line">
            <a:avLst/>
          </a:prstGeom>
          <a:ln cap="flat" w="9525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9618527" y="3387317"/>
            <a:ext cx="3619605" cy="329055"/>
          </a:xfrm>
          <a:custGeom>
            <a:avLst/>
            <a:gdLst/>
            <a:ahLst/>
            <a:cxnLst/>
            <a:rect r="r" b="b" t="t" l="l"/>
            <a:pathLst>
              <a:path h="329055" w="3619605">
                <a:moveTo>
                  <a:pt x="0" y="0"/>
                </a:moveTo>
                <a:lnTo>
                  <a:pt x="3619605" y="0"/>
                </a:lnTo>
                <a:lnTo>
                  <a:pt x="3619605" y="329055"/>
                </a:lnTo>
                <a:lnTo>
                  <a:pt x="0" y="32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723907" y="3387317"/>
            <a:ext cx="3619605" cy="329055"/>
          </a:xfrm>
          <a:custGeom>
            <a:avLst/>
            <a:gdLst/>
            <a:ahLst/>
            <a:cxnLst/>
            <a:rect r="r" b="b" t="t" l="l"/>
            <a:pathLst>
              <a:path h="329055" w="3619605">
                <a:moveTo>
                  <a:pt x="0" y="0"/>
                </a:moveTo>
                <a:lnTo>
                  <a:pt x="3619606" y="0"/>
                </a:lnTo>
                <a:lnTo>
                  <a:pt x="3619606" y="329055"/>
                </a:lnTo>
                <a:lnTo>
                  <a:pt x="0" y="32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618527" y="6146575"/>
            <a:ext cx="3619605" cy="329055"/>
          </a:xfrm>
          <a:custGeom>
            <a:avLst/>
            <a:gdLst/>
            <a:ahLst/>
            <a:cxnLst/>
            <a:rect r="r" b="b" t="t" l="l"/>
            <a:pathLst>
              <a:path h="329055" w="3619605">
                <a:moveTo>
                  <a:pt x="0" y="0"/>
                </a:moveTo>
                <a:lnTo>
                  <a:pt x="3619605" y="0"/>
                </a:lnTo>
                <a:lnTo>
                  <a:pt x="3619605" y="329055"/>
                </a:lnTo>
                <a:lnTo>
                  <a:pt x="0" y="32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723907" y="6146575"/>
            <a:ext cx="3619605" cy="329055"/>
          </a:xfrm>
          <a:custGeom>
            <a:avLst/>
            <a:gdLst/>
            <a:ahLst/>
            <a:cxnLst/>
            <a:rect r="r" b="b" t="t" l="l"/>
            <a:pathLst>
              <a:path h="329055" w="3619605">
                <a:moveTo>
                  <a:pt x="0" y="0"/>
                </a:moveTo>
                <a:lnTo>
                  <a:pt x="3619606" y="0"/>
                </a:lnTo>
                <a:lnTo>
                  <a:pt x="3619606" y="329055"/>
                </a:lnTo>
                <a:lnTo>
                  <a:pt x="0" y="32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618527" y="8900046"/>
            <a:ext cx="3619605" cy="329055"/>
          </a:xfrm>
          <a:custGeom>
            <a:avLst/>
            <a:gdLst/>
            <a:ahLst/>
            <a:cxnLst/>
            <a:rect r="r" b="b" t="t" l="l"/>
            <a:pathLst>
              <a:path h="329055" w="3619605">
                <a:moveTo>
                  <a:pt x="0" y="0"/>
                </a:moveTo>
                <a:lnTo>
                  <a:pt x="3619605" y="0"/>
                </a:lnTo>
                <a:lnTo>
                  <a:pt x="3619605" y="329055"/>
                </a:lnTo>
                <a:lnTo>
                  <a:pt x="0" y="32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723907" y="8900046"/>
            <a:ext cx="3619605" cy="329055"/>
          </a:xfrm>
          <a:custGeom>
            <a:avLst/>
            <a:gdLst/>
            <a:ahLst/>
            <a:cxnLst/>
            <a:rect r="r" b="b" t="t" l="l"/>
            <a:pathLst>
              <a:path h="329055" w="3619605">
                <a:moveTo>
                  <a:pt x="0" y="0"/>
                </a:moveTo>
                <a:lnTo>
                  <a:pt x="3619606" y="0"/>
                </a:lnTo>
                <a:lnTo>
                  <a:pt x="3619606" y="329055"/>
                </a:lnTo>
                <a:lnTo>
                  <a:pt x="0" y="32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618527" y="1267247"/>
            <a:ext cx="3619605" cy="2120070"/>
            <a:chOff x="0" y="0"/>
            <a:chExt cx="953312" cy="5583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3312" cy="558372"/>
            </a:xfrm>
            <a:custGeom>
              <a:avLst/>
              <a:gdLst/>
              <a:ahLst/>
              <a:cxnLst/>
              <a:rect r="r" b="b" t="t" l="l"/>
              <a:pathLst>
                <a:path h="558372" w="953312">
                  <a:moveTo>
                    <a:pt x="0" y="0"/>
                  </a:moveTo>
                  <a:lnTo>
                    <a:pt x="953312" y="0"/>
                  </a:lnTo>
                  <a:lnTo>
                    <a:pt x="953312" y="558372"/>
                  </a:lnTo>
                  <a:lnTo>
                    <a:pt x="0" y="558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53312" cy="60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18527" y="4022374"/>
            <a:ext cx="3619605" cy="2120070"/>
            <a:chOff x="0" y="0"/>
            <a:chExt cx="953312" cy="5583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3312" cy="558372"/>
            </a:xfrm>
            <a:custGeom>
              <a:avLst/>
              <a:gdLst/>
              <a:ahLst/>
              <a:cxnLst/>
              <a:rect r="r" b="b" t="t" l="l"/>
              <a:pathLst>
                <a:path h="558372" w="953312">
                  <a:moveTo>
                    <a:pt x="0" y="0"/>
                  </a:moveTo>
                  <a:lnTo>
                    <a:pt x="953312" y="0"/>
                  </a:lnTo>
                  <a:lnTo>
                    <a:pt x="953312" y="558372"/>
                  </a:lnTo>
                  <a:lnTo>
                    <a:pt x="0" y="558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53312" cy="60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15895" y="1267247"/>
            <a:ext cx="3619605" cy="2120070"/>
            <a:chOff x="0" y="0"/>
            <a:chExt cx="953312" cy="5583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3312" cy="558372"/>
            </a:xfrm>
            <a:custGeom>
              <a:avLst/>
              <a:gdLst/>
              <a:ahLst/>
              <a:cxnLst/>
              <a:rect r="r" b="b" t="t" l="l"/>
              <a:pathLst>
                <a:path h="558372" w="953312">
                  <a:moveTo>
                    <a:pt x="0" y="0"/>
                  </a:moveTo>
                  <a:lnTo>
                    <a:pt x="953312" y="0"/>
                  </a:lnTo>
                  <a:lnTo>
                    <a:pt x="953312" y="558372"/>
                  </a:lnTo>
                  <a:lnTo>
                    <a:pt x="0" y="558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53312" cy="60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5895" y="4022374"/>
            <a:ext cx="3619605" cy="2120070"/>
            <a:chOff x="0" y="0"/>
            <a:chExt cx="953312" cy="5583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3312" cy="558372"/>
            </a:xfrm>
            <a:custGeom>
              <a:avLst/>
              <a:gdLst/>
              <a:ahLst/>
              <a:cxnLst/>
              <a:rect r="r" b="b" t="t" l="l"/>
              <a:pathLst>
                <a:path h="558372" w="953312">
                  <a:moveTo>
                    <a:pt x="0" y="0"/>
                  </a:moveTo>
                  <a:lnTo>
                    <a:pt x="953312" y="0"/>
                  </a:lnTo>
                  <a:lnTo>
                    <a:pt x="953312" y="558372"/>
                  </a:lnTo>
                  <a:lnTo>
                    <a:pt x="0" y="558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53312" cy="60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18527" y="6771094"/>
            <a:ext cx="3619605" cy="2120070"/>
            <a:chOff x="0" y="0"/>
            <a:chExt cx="953312" cy="5583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3312" cy="558372"/>
            </a:xfrm>
            <a:custGeom>
              <a:avLst/>
              <a:gdLst/>
              <a:ahLst/>
              <a:cxnLst/>
              <a:rect r="r" b="b" t="t" l="l"/>
              <a:pathLst>
                <a:path h="558372" w="953312">
                  <a:moveTo>
                    <a:pt x="0" y="0"/>
                  </a:moveTo>
                  <a:lnTo>
                    <a:pt x="953312" y="0"/>
                  </a:lnTo>
                  <a:lnTo>
                    <a:pt x="953312" y="558372"/>
                  </a:lnTo>
                  <a:lnTo>
                    <a:pt x="0" y="558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53312" cy="60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15895" y="6771094"/>
            <a:ext cx="3619605" cy="2120070"/>
            <a:chOff x="0" y="0"/>
            <a:chExt cx="953312" cy="5583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3312" cy="558372"/>
            </a:xfrm>
            <a:custGeom>
              <a:avLst/>
              <a:gdLst/>
              <a:ahLst/>
              <a:cxnLst/>
              <a:rect r="r" b="b" t="t" l="l"/>
              <a:pathLst>
                <a:path h="558372" w="953312">
                  <a:moveTo>
                    <a:pt x="0" y="0"/>
                  </a:moveTo>
                  <a:lnTo>
                    <a:pt x="953312" y="0"/>
                  </a:lnTo>
                  <a:lnTo>
                    <a:pt x="953312" y="558372"/>
                  </a:lnTo>
                  <a:lnTo>
                    <a:pt x="0" y="558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53312" cy="60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-217620" y="6868496"/>
            <a:ext cx="5601552" cy="387606"/>
          </a:xfrm>
          <a:custGeom>
            <a:avLst/>
            <a:gdLst/>
            <a:ahLst/>
            <a:cxnLst/>
            <a:rect r="r" b="b" t="t" l="l"/>
            <a:pathLst>
              <a:path h="387606" w="5601552">
                <a:moveTo>
                  <a:pt x="0" y="0"/>
                </a:moveTo>
                <a:lnTo>
                  <a:pt x="5601551" y="0"/>
                </a:lnTo>
                <a:lnTo>
                  <a:pt x="5601551" y="387606"/>
                </a:lnTo>
                <a:lnTo>
                  <a:pt x="0" y="38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78" t="-71094" r="-1678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-5400000">
            <a:off x="-93209" y="1025819"/>
            <a:ext cx="3764968" cy="8224434"/>
            <a:chOff x="0" y="0"/>
            <a:chExt cx="660400" cy="14426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60400" cy="1442620"/>
            </a:xfrm>
            <a:custGeom>
              <a:avLst/>
              <a:gdLst/>
              <a:ahLst/>
              <a:cxnLst/>
              <a:rect r="r" b="b" t="t" l="l"/>
              <a:pathLst>
                <a:path h="1442620" w="660400">
                  <a:moveTo>
                    <a:pt x="220252" y="1423551"/>
                  </a:moveTo>
                  <a:cubicBezTo>
                    <a:pt x="254109" y="1435064"/>
                    <a:pt x="292600" y="1442620"/>
                    <a:pt x="330378" y="1442620"/>
                  </a:cubicBezTo>
                  <a:cubicBezTo>
                    <a:pt x="368157" y="1442620"/>
                    <a:pt x="404509" y="1436143"/>
                    <a:pt x="438009" y="1424629"/>
                  </a:cubicBezTo>
                  <a:cubicBezTo>
                    <a:pt x="438723" y="1424269"/>
                    <a:pt x="439435" y="1424269"/>
                    <a:pt x="440148" y="1423910"/>
                  </a:cubicBezTo>
                  <a:cubicBezTo>
                    <a:pt x="565955" y="1377855"/>
                    <a:pt x="658618" y="1256241"/>
                    <a:pt x="660400" y="110012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99311"/>
                  </a:lnTo>
                  <a:cubicBezTo>
                    <a:pt x="1782" y="1256960"/>
                    <a:pt x="93019" y="1378575"/>
                    <a:pt x="220252" y="14235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60400" cy="13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00097" y="1046970"/>
            <a:ext cx="430056" cy="440553"/>
            <a:chOff x="0" y="0"/>
            <a:chExt cx="812800" cy="8326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32639"/>
            </a:xfrm>
            <a:custGeom>
              <a:avLst/>
              <a:gdLst/>
              <a:ahLst/>
              <a:cxnLst/>
              <a:rect r="r" b="b" t="t" l="l"/>
              <a:pathLst>
                <a:path h="832639" w="812800">
                  <a:moveTo>
                    <a:pt x="406400" y="0"/>
                  </a:moveTo>
                  <a:cubicBezTo>
                    <a:pt x="181951" y="0"/>
                    <a:pt x="0" y="186393"/>
                    <a:pt x="0" y="416320"/>
                  </a:cubicBezTo>
                  <a:cubicBezTo>
                    <a:pt x="0" y="646247"/>
                    <a:pt x="181951" y="832639"/>
                    <a:pt x="406400" y="832639"/>
                  </a:cubicBezTo>
                  <a:cubicBezTo>
                    <a:pt x="630849" y="832639"/>
                    <a:pt x="812800" y="646247"/>
                    <a:pt x="812800" y="416320"/>
                  </a:cubicBezTo>
                  <a:cubicBezTo>
                    <a:pt x="812800" y="18639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49485"/>
              <a:ext cx="660400" cy="705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511777" y="6557352"/>
            <a:ext cx="430056" cy="440553"/>
            <a:chOff x="0" y="0"/>
            <a:chExt cx="812800" cy="83263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32639"/>
            </a:xfrm>
            <a:custGeom>
              <a:avLst/>
              <a:gdLst/>
              <a:ahLst/>
              <a:cxnLst/>
              <a:rect r="r" b="b" t="t" l="l"/>
              <a:pathLst>
                <a:path h="832639" w="812800">
                  <a:moveTo>
                    <a:pt x="406400" y="0"/>
                  </a:moveTo>
                  <a:cubicBezTo>
                    <a:pt x="181951" y="0"/>
                    <a:pt x="0" y="186393"/>
                    <a:pt x="0" y="416320"/>
                  </a:cubicBezTo>
                  <a:cubicBezTo>
                    <a:pt x="0" y="646247"/>
                    <a:pt x="181951" y="832639"/>
                    <a:pt x="406400" y="832639"/>
                  </a:cubicBezTo>
                  <a:cubicBezTo>
                    <a:pt x="630849" y="832639"/>
                    <a:pt x="812800" y="646247"/>
                    <a:pt x="812800" y="416320"/>
                  </a:cubicBezTo>
                  <a:cubicBezTo>
                    <a:pt x="812800" y="18639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EF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49485"/>
              <a:ext cx="660400" cy="705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12235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06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400097" y="3803092"/>
            <a:ext cx="430056" cy="440553"/>
            <a:chOff x="0" y="0"/>
            <a:chExt cx="812800" cy="8326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32639"/>
            </a:xfrm>
            <a:custGeom>
              <a:avLst/>
              <a:gdLst/>
              <a:ahLst/>
              <a:cxnLst/>
              <a:rect r="r" b="b" t="t" l="l"/>
              <a:pathLst>
                <a:path h="832639" w="812800">
                  <a:moveTo>
                    <a:pt x="406400" y="0"/>
                  </a:moveTo>
                  <a:cubicBezTo>
                    <a:pt x="181951" y="0"/>
                    <a:pt x="0" y="186393"/>
                    <a:pt x="0" y="416320"/>
                  </a:cubicBezTo>
                  <a:cubicBezTo>
                    <a:pt x="0" y="646247"/>
                    <a:pt x="181951" y="832639"/>
                    <a:pt x="406400" y="832639"/>
                  </a:cubicBezTo>
                  <a:cubicBezTo>
                    <a:pt x="630849" y="832639"/>
                    <a:pt x="812800" y="646247"/>
                    <a:pt x="812800" y="416320"/>
                  </a:cubicBezTo>
                  <a:cubicBezTo>
                    <a:pt x="812800" y="18639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49485"/>
              <a:ext cx="660400" cy="705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406901" y="6557352"/>
            <a:ext cx="430056" cy="440553"/>
            <a:chOff x="0" y="0"/>
            <a:chExt cx="812800" cy="83263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32639"/>
            </a:xfrm>
            <a:custGeom>
              <a:avLst/>
              <a:gdLst/>
              <a:ahLst/>
              <a:cxnLst/>
              <a:rect r="r" b="b" t="t" l="l"/>
              <a:pathLst>
                <a:path h="832639" w="812800">
                  <a:moveTo>
                    <a:pt x="406400" y="0"/>
                  </a:moveTo>
                  <a:cubicBezTo>
                    <a:pt x="181951" y="0"/>
                    <a:pt x="0" y="186393"/>
                    <a:pt x="0" y="416320"/>
                  </a:cubicBezTo>
                  <a:cubicBezTo>
                    <a:pt x="0" y="646247"/>
                    <a:pt x="181951" y="832639"/>
                    <a:pt x="406400" y="832639"/>
                  </a:cubicBezTo>
                  <a:cubicBezTo>
                    <a:pt x="630849" y="832639"/>
                    <a:pt x="812800" y="646247"/>
                    <a:pt x="812800" y="416320"/>
                  </a:cubicBezTo>
                  <a:cubicBezTo>
                    <a:pt x="812800" y="18639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76200" y="49485"/>
              <a:ext cx="660400" cy="705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12235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03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505981" y="1046970"/>
            <a:ext cx="430056" cy="440553"/>
            <a:chOff x="0" y="0"/>
            <a:chExt cx="812800" cy="83263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32639"/>
            </a:xfrm>
            <a:custGeom>
              <a:avLst/>
              <a:gdLst/>
              <a:ahLst/>
              <a:cxnLst/>
              <a:rect r="r" b="b" t="t" l="l"/>
              <a:pathLst>
                <a:path h="832639" w="812800">
                  <a:moveTo>
                    <a:pt x="406400" y="0"/>
                  </a:moveTo>
                  <a:cubicBezTo>
                    <a:pt x="181951" y="0"/>
                    <a:pt x="0" y="186393"/>
                    <a:pt x="0" y="416320"/>
                  </a:cubicBezTo>
                  <a:cubicBezTo>
                    <a:pt x="0" y="646247"/>
                    <a:pt x="181951" y="832639"/>
                    <a:pt x="406400" y="832639"/>
                  </a:cubicBezTo>
                  <a:cubicBezTo>
                    <a:pt x="630849" y="832639"/>
                    <a:pt x="812800" y="646247"/>
                    <a:pt x="812800" y="416320"/>
                  </a:cubicBezTo>
                  <a:cubicBezTo>
                    <a:pt x="812800" y="18639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76200" y="49485"/>
              <a:ext cx="660400" cy="705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12235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511777" y="3802097"/>
            <a:ext cx="430056" cy="440553"/>
            <a:chOff x="0" y="0"/>
            <a:chExt cx="812800" cy="83263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32639"/>
            </a:xfrm>
            <a:custGeom>
              <a:avLst/>
              <a:gdLst/>
              <a:ahLst/>
              <a:cxnLst/>
              <a:rect r="r" b="b" t="t" l="l"/>
              <a:pathLst>
                <a:path h="832639" w="812800">
                  <a:moveTo>
                    <a:pt x="406400" y="0"/>
                  </a:moveTo>
                  <a:cubicBezTo>
                    <a:pt x="181951" y="0"/>
                    <a:pt x="0" y="186393"/>
                    <a:pt x="0" y="416320"/>
                  </a:cubicBezTo>
                  <a:cubicBezTo>
                    <a:pt x="0" y="646247"/>
                    <a:pt x="181951" y="832639"/>
                    <a:pt x="406400" y="832639"/>
                  </a:cubicBezTo>
                  <a:cubicBezTo>
                    <a:pt x="630849" y="832639"/>
                    <a:pt x="812800" y="646247"/>
                    <a:pt x="812800" y="416320"/>
                  </a:cubicBezTo>
                  <a:cubicBezTo>
                    <a:pt x="812800" y="18639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49485"/>
              <a:ext cx="660400" cy="705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12235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05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4061136" y="1543692"/>
            <a:ext cx="857250" cy="857250"/>
          </a:xfrm>
          <a:custGeom>
            <a:avLst/>
            <a:gdLst/>
            <a:ahLst/>
            <a:cxnLst/>
            <a:rect r="r" b="b" t="t" l="l"/>
            <a:pathLst>
              <a:path h="857250" w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816511" y="2068866"/>
            <a:ext cx="857250" cy="857250"/>
          </a:xfrm>
          <a:custGeom>
            <a:avLst/>
            <a:gdLst/>
            <a:ahLst/>
            <a:cxnLst/>
            <a:rect r="r" b="b" t="t" l="l"/>
            <a:pathLst>
              <a:path h="857250" w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4" id="74"/>
          <p:cNvSpPr/>
          <p:nvPr/>
        </p:nvSpPr>
        <p:spPr>
          <a:xfrm flipH="false" flipV="false" rot="0">
            <a:off x="6882065" y="3721160"/>
            <a:ext cx="857250" cy="857250"/>
          </a:xfrm>
          <a:custGeom>
            <a:avLst/>
            <a:gdLst/>
            <a:ahLst/>
            <a:cxnLst/>
            <a:rect r="r" b="b" t="t" l="l"/>
            <a:pathLst>
              <a:path h="857250" w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6882065" y="5700102"/>
            <a:ext cx="857250" cy="857250"/>
          </a:xfrm>
          <a:custGeom>
            <a:avLst/>
            <a:gdLst/>
            <a:ahLst/>
            <a:cxnLst/>
            <a:rect r="r" b="b" t="t" l="l"/>
            <a:pathLst>
              <a:path h="857250" w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6" id="76"/>
          <p:cNvSpPr txBox="true"/>
          <p:nvPr/>
        </p:nvSpPr>
        <p:spPr>
          <a:xfrm rot="0">
            <a:off x="10046366" y="2134242"/>
            <a:ext cx="276392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Activ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for creat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ing,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producing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, and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eli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vering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consis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ent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good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ices.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046366" y="1656087"/>
            <a:ext cx="27639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P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roduction Tasks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046366" y="4889369"/>
            <a:ext cx="276392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Eff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orts to 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gn,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eve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lop, or 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nnova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solu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ons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fo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 sp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cus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tom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eeds.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046366" y="4411214"/>
            <a:ext cx="27639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Pr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oblem Solving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143734" y="2134242"/>
            <a:ext cx="276392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Eff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ort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that in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crea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 awareness, attract cus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tom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ers,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nd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upport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growth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goal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143734" y="1656087"/>
            <a:ext cx="27639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Ma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rketing Actions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4143734" y="4889369"/>
            <a:ext cx="276392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Manag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channels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to ensure va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lue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deli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very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is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effec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ive,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ly,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nd rel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iable.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143734" y="4411214"/>
            <a:ext cx="27639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Dist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ribution Work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046366" y="7638089"/>
            <a:ext cx="276392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Runn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igita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or physi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cal pla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tforms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at con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ect 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art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ici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nts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nd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reat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046366" y="7159934"/>
            <a:ext cx="27639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Platf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orm Management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143734" y="7638089"/>
            <a:ext cx="276392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Activ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ities ensuring satisfaction and delivering helpful after-purchase support.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143734" y="7159934"/>
            <a:ext cx="27639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Supp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ort Services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75565" y="4985288"/>
            <a:ext cx="3815218" cy="102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2"/>
              </a:lnSpc>
              <a:spcBef>
                <a:spcPct val="0"/>
              </a:spcBef>
            </a:pPr>
            <a:r>
              <a:rPr lang="en-US" sz="1944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 mindmap of cr</a:t>
            </a:r>
            <a:r>
              <a:rPr lang="en-US" sz="1944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itical actions businesses must perform to deliver value effectively.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75565" y="4213093"/>
            <a:ext cx="3815218" cy="56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6"/>
              </a:lnSpc>
              <a:spcBef>
                <a:spcPct val="0"/>
              </a:spcBef>
            </a:pPr>
            <a:r>
              <a:rPr lang="en-US" sz="3333" b="true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K</a:t>
            </a:r>
            <a:r>
              <a:rPr lang="en-US" b="true" sz="3333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ey Activity Map</a:t>
            </a:r>
          </a:p>
        </p:txBody>
      </p:sp>
      <p:sp>
        <p:nvSpPr>
          <p:cNvPr name="Freeform 90" id="90"/>
          <p:cNvSpPr/>
          <p:nvPr/>
        </p:nvSpPr>
        <p:spPr>
          <a:xfrm flipH="false" flipV="false" rot="0">
            <a:off x="5816511" y="7261638"/>
            <a:ext cx="857250" cy="857250"/>
          </a:xfrm>
          <a:custGeom>
            <a:avLst/>
            <a:gdLst/>
            <a:ahLst/>
            <a:cxnLst/>
            <a:rect r="r" b="b" t="t" l="l"/>
            <a:pathLst>
              <a:path h="857250" w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1" id="91"/>
          <p:cNvSpPr/>
          <p:nvPr/>
        </p:nvSpPr>
        <p:spPr>
          <a:xfrm flipH="false" flipV="false" rot="0">
            <a:off x="4061136" y="7873830"/>
            <a:ext cx="857250" cy="857250"/>
          </a:xfrm>
          <a:custGeom>
            <a:avLst/>
            <a:gdLst/>
            <a:ahLst/>
            <a:cxnLst/>
            <a:rect r="r" b="b" t="t" l="l"/>
            <a:pathLst>
              <a:path h="857250" w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7833" y="2211600"/>
            <a:ext cx="9478205" cy="7129225"/>
            <a:chOff x="0" y="0"/>
            <a:chExt cx="1065479" cy="8014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5479" cy="801421"/>
            </a:xfrm>
            <a:custGeom>
              <a:avLst/>
              <a:gdLst/>
              <a:ahLst/>
              <a:cxnLst/>
              <a:rect r="r" b="b" t="t" l="l"/>
              <a:pathLst>
                <a:path h="801421" w="1065479">
                  <a:moveTo>
                    <a:pt x="532739" y="0"/>
                  </a:moveTo>
                  <a:lnTo>
                    <a:pt x="1065479" y="801421"/>
                  </a:lnTo>
                  <a:lnTo>
                    <a:pt x="0" y="801421"/>
                  </a:lnTo>
                  <a:lnTo>
                    <a:pt x="532739" y="0"/>
                  </a:lnTo>
                  <a:close/>
                </a:path>
              </a:pathLst>
            </a:custGeom>
            <a:solidFill>
              <a:srgbClr val="A9B4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66481" y="324464"/>
              <a:ext cx="732517" cy="419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25246" y="4479272"/>
            <a:ext cx="3672046" cy="345952"/>
          </a:xfrm>
          <a:custGeom>
            <a:avLst/>
            <a:gdLst/>
            <a:ahLst/>
            <a:cxnLst/>
            <a:rect r="r" b="b" t="t" l="l"/>
            <a:pathLst>
              <a:path h="345952" w="3672046">
                <a:moveTo>
                  <a:pt x="0" y="0"/>
                </a:moveTo>
                <a:lnTo>
                  <a:pt x="3672046" y="0"/>
                </a:lnTo>
                <a:lnTo>
                  <a:pt x="3672046" y="345952"/>
                </a:lnTo>
                <a:lnTo>
                  <a:pt x="0" y="3459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l="-1816" t="0" r="-181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2259" y="6746944"/>
            <a:ext cx="6958020" cy="655530"/>
          </a:xfrm>
          <a:custGeom>
            <a:avLst/>
            <a:gdLst/>
            <a:ahLst/>
            <a:cxnLst/>
            <a:rect r="r" b="b" t="t" l="l"/>
            <a:pathLst>
              <a:path h="655530" w="6958020">
                <a:moveTo>
                  <a:pt x="0" y="0"/>
                </a:moveTo>
                <a:lnTo>
                  <a:pt x="6958020" y="0"/>
                </a:lnTo>
                <a:lnTo>
                  <a:pt x="6958020" y="655530"/>
                </a:lnTo>
                <a:lnTo>
                  <a:pt x="0" y="65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l="-1816" t="0" r="-181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45918" y="9030029"/>
            <a:ext cx="10214374" cy="737123"/>
          </a:xfrm>
          <a:custGeom>
            <a:avLst/>
            <a:gdLst/>
            <a:ahLst/>
            <a:cxnLst/>
            <a:rect r="r" b="b" t="t" l="l"/>
            <a:pathLst>
              <a:path h="737123" w="10214374">
                <a:moveTo>
                  <a:pt x="0" y="0"/>
                </a:moveTo>
                <a:lnTo>
                  <a:pt x="10214374" y="0"/>
                </a:lnTo>
                <a:lnTo>
                  <a:pt x="10214374" y="737122"/>
                </a:lnTo>
                <a:lnTo>
                  <a:pt x="0" y="737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6" t="-30550" r="-1816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245918" y="7073154"/>
            <a:ext cx="10214374" cy="1941461"/>
            <a:chOff x="0" y="0"/>
            <a:chExt cx="1352390" cy="2570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2390" cy="257051"/>
            </a:xfrm>
            <a:custGeom>
              <a:avLst/>
              <a:gdLst/>
              <a:ahLst/>
              <a:cxnLst/>
              <a:rect r="r" b="b" t="t" l="l"/>
              <a:pathLst>
                <a:path h="257051" w="1352390">
                  <a:moveTo>
                    <a:pt x="203200" y="0"/>
                  </a:moveTo>
                  <a:lnTo>
                    <a:pt x="1149190" y="0"/>
                  </a:lnTo>
                  <a:lnTo>
                    <a:pt x="1352390" y="257051"/>
                  </a:lnTo>
                  <a:lnTo>
                    <a:pt x="0" y="25705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68D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180975"/>
              <a:ext cx="1098390" cy="43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299"/>
                </a:lnSpc>
                <a:spcBef>
                  <a:spcPct val="0"/>
                </a:spcBef>
              </a:pPr>
              <a:r>
                <a:rPr lang="en-US" b="true" sz="9499">
                  <a:solidFill>
                    <a:srgbClr val="12235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2259" y="4805482"/>
            <a:ext cx="6958020" cy="1941461"/>
            <a:chOff x="0" y="0"/>
            <a:chExt cx="921246" cy="257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1246" cy="257051"/>
            </a:xfrm>
            <a:custGeom>
              <a:avLst/>
              <a:gdLst/>
              <a:ahLst/>
              <a:cxnLst/>
              <a:rect r="r" b="b" t="t" l="l"/>
              <a:pathLst>
                <a:path h="257051" w="921246">
                  <a:moveTo>
                    <a:pt x="203200" y="0"/>
                  </a:moveTo>
                  <a:lnTo>
                    <a:pt x="718046" y="0"/>
                  </a:lnTo>
                  <a:lnTo>
                    <a:pt x="921246" y="257051"/>
                  </a:lnTo>
                  <a:lnTo>
                    <a:pt x="0" y="25705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161925"/>
              <a:ext cx="667246" cy="418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  <a:r>
                <a:rPr lang="en-US" b="true" sz="8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25246" y="2537811"/>
            <a:ext cx="3672046" cy="1941461"/>
            <a:chOff x="0" y="0"/>
            <a:chExt cx="486181" cy="2570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6181" cy="257051"/>
            </a:xfrm>
            <a:custGeom>
              <a:avLst/>
              <a:gdLst/>
              <a:ahLst/>
              <a:cxnLst/>
              <a:rect r="r" b="b" t="t" l="l"/>
              <a:pathLst>
                <a:path h="257051" w="486181">
                  <a:moveTo>
                    <a:pt x="203200" y="0"/>
                  </a:moveTo>
                  <a:lnTo>
                    <a:pt x="282981" y="0"/>
                  </a:lnTo>
                  <a:lnTo>
                    <a:pt x="486181" y="257051"/>
                  </a:lnTo>
                  <a:lnTo>
                    <a:pt x="0" y="25705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123825"/>
              <a:ext cx="232181" cy="380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099"/>
                </a:lnSpc>
                <a:spcBef>
                  <a:spcPct val="0"/>
                </a:spcBef>
              </a:pPr>
              <a:r>
                <a:rPr lang="en-US" b="true" sz="6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5849663" y="3730887"/>
            <a:ext cx="3389486" cy="0"/>
          </a:xfrm>
          <a:prstGeom prst="line">
            <a:avLst/>
          </a:prstGeom>
          <a:ln cap="flat" w="1905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-5420412">
            <a:off x="9222595" y="3614344"/>
            <a:ext cx="264812" cy="231711"/>
            <a:chOff x="0" y="0"/>
            <a:chExt cx="812800" cy="711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223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7249496" y="5924261"/>
            <a:ext cx="1989653" cy="0"/>
          </a:xfrm>
          <a:prstGeom prst="line">
            <a:avLst/>
          </a:prstGeom>
          <a:ln cap="flat" w="1905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-5420412">
            <a:off x="9222595" y="5807718"/>
            <a:ext cx="264812" cy="231711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3E6398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8752772" y="8117635"/>
            <a:ext cx="486377" cy="0"/>
          </a:xfrm>
          <a:prstGeom prst="line">
            <a:avLst/>
          </a:prstGeom>
          <a:ln cap="flat" w="1905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-5420412">
            <a:off x="9222595" y="8001091"/>
            <a:ext cx="264812" cy="231711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68D56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598811" y="3325387"/>
            <a:ext cx="809625" cy="809625"/>
          </a:xfrm>
          <a:custGeom>
            <a:avLst/>
            <a:gdLst/>
            <a:ahLst/>
            <a:cxnLst/>
            <a:rect r="r" b="b" t="t" l="l"/>
            <a:pathLst>
              <a:path h="809625" w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0622623" y="5542573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10027311" y="1623060"/>
            <a:ext cx="730818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 simplified look at</a:t>
            </a:r>
            <a:r>
              <a:rPr lang="en-US" sz="20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identifying the target market, reaching them, and maintaining long-term engagement.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27311" y="876300"/>
            <a:ext cx="730818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Ta</a:t>
            </a: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rget Market Focus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96361" y="5730533"/>
            <a:ext cx="485880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Highlight how businesses connect with audiences using messaging,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storytelling, distribution methods, and communication platforms effectively.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96361" y="3537159"/>
            <a:ext cx="485880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Specify distinct groups of customers who share needs, preferences, behaviors, and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motivations influencing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purchase decisions.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96361" y="3059004"/>
            <a:ext cx="485880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Ta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rget Audience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96361" y="5252378"/>
            <a:ext cx="485880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ommunication Paths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96361" y="7926136"/>
            <a:ext cx="485880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Clarify how businesses sustain customer connections, foster loyalty, provide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support, and nurture meaningful engagement across every interaction.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96361" y="7447981"/>
            <a:ext cx="485880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Engag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ement Style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0622623" y="7735947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82486" y="1293215"/>
            <a:ext cx="8523028" cy="7233920"/>
          </a:xfrm>
          <a:custGeom>
            <a:avLst/>
            <a:gdLst/>
            <a:ahLst/>
            <a:cxnLst/>
            <a:rect r="r" b="b" t="t" l="l"/>
            <a:pathLst>
              <a:path h="7233920" w="8523028">
                <a:moveTo>
                  <a:pt x="0" y="0"/>
                </a:moveTo>
                <a:lnTo>
                  <a:pt x="8523028" y="0"/>
                </a:lnTo>
                <a:lnTo>
                  <a:pt x="8523028" y="7233920"/>
                </a:lnTo>
                <a:lnTo>
                  <a:pt x="0" y="7233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3405514" y="4388734"/>
            <a:ext cx="476250" cy="749356"/>
          </a:xfrm>
          <a:prstGeom prst="line">
            <a:avLst/>
          </a:prstGeom>
          <a:ln cap="rnd" w="28575">
            <a:solidFill>
              <a:srgbClr val="BEC8D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4406236" y="4388734"/>
            <a:ext cx="503138" cy="662947"/>
          </a:xfrm>
          <a:prstGeom prst="line">
            <a:avLst/>
          </a:prstGeom>
          <a:ln cap="rnd" w="28575">
            <a:solidFill>
              <a:srgbClr val="BEC8D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1852117" y="7393129"/>
            <a:ext cx="886647" cy="567586"/>
          </a:xfrm>
          <a:prstGeom prst="line">
            <a:avLst/>
          </a:prstGeom>
          <a:ln cap="rnd" w="28575">
            <a:solidFill>
              <a:srgbClr val="BEC8D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543119" y="7393129"/>
            <a:ext cx="904875" cy="567586"/>
          </a:xfrm>
          <a:prstGeom prst="line">
            <a:avLst/>
          </a:prstGeom>
          <a:ln cap="rnd" w="28575">
            <a:solidFill>
              <a:srgbClr val="BEC8DB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909374" y="4282371"/>
            <a:ext cx="1538620" cy="153862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  <a:ln w="1238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52117" y="4306184"/>
            <a:ext cx="1538620" cy="153862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6198"/>
            </a:solidFill>
            <a:ln w="1238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47994" y="1293215"/>
            <a:ext cx="1538620" cy="153862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EF"/>
            </a:solidFill>
            <a:ln w="1238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13497" y="1293215"/>
            <a:ext cx="1538620" cy="153862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  <a:ln w="1238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773245" y="1734385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329578" y="4765932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447994" y="7191405"/>
            <a:ext cx="1538620" cy="153862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  <a:ln w="1238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883929" y="7627340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5" id="25"/>
          <p:cNvGrpSpPr/>
          <p:nvPr/>
        </p:nvGrpSpPr>
        <p:grpSpPr>
          <a:xfrm rot="0">
            <a:off x="10313497" y="7191405"/>
            <a:ext cx="1538620" cy="153862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9"/>
            </a:solidFill>
            <a:ln w="1238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832776" y="7627340"/>
            <a:ext cx="500062" cy="666750"/>
          </a:xfrm>
          <a:custGeom>
            <a:avLst/>
            <a:gdLst/>
            <a:ahLst/>
            <a:cxnLst/>
            <a:rect r="r" b="b" t="t" l="l"/>
            <a:pathLst>
              <a:path h="666750" w="500062">
                <a:moveTo>
                  <a:pt x="0" y="0"/>
                </a:moveTo>
                <a:lnTo>
                  <a:pt x="500062" y="0"/>
                </a:lnTo>
                <a:lnTo>
                  <a:pt x="500062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870688" y="3868359"/>
            <a:ext cx="2558735" cy="165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Ess</a:t>
            </a:r>
            <a:r>
              <a:rPr lang="en-US" b="true" sz="32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ential Resource Assets</a:t>
            </a:r>
          </a:p>
        </p:txBody>
      </p:sp>
      <p:sp>
        <p:nvSpPr>
          <p:cNvPr name="Freeform 30" id="30"/>
          <p:cNvSpPr/>
          <p:nvPr/>
        </p:nvSpPr>
        <p:spPr>
          <a:xfrm flipH="false" flipV="true" rot="0">
            <a:off x="12738764" y="717683"/>
            <a:ext cx="3618445" cy="250383"/>
          </a:xfrm>
          <a:custGeom>
            <a:avLst/>
            <a:gdLst/>
            <a:ahLst/>
            <a:cxnLst/>
            <a:rect r="r" b="b" t="t" l="l"/>
            <a:pathLst>
              <a:path h="250383" w="3618445">
                <a:moveTo>
                  <a:pt x="0" y="250383"/>
                </a:moveTo>
                <a:lnTo>
                  <a:pt x="3618445" y="250383"/>
                </a:lnTo>
                <a:lnTo>
                  <a:pt x="3618445" y="0"/>
                </a:lnTo>
                <a:lnTo>
                  <a:pt x="0" y="0"/>
                </a:lnTo>
                <a:lnTo>
                  <a:pt x="0" y="250383"/>
                </a:lnTo>
                <a:close/>
              </a:path>
            </a:pathLst>
          </a:custGeom>
          <a:blipFill>
            <a:blip r:embed="rId12"/>
            <a:stretch>
              <a:fillRect l="-1678" t="-71094" r="-1678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true" rot="0">
            <a:off x="1924674" y="717683"/>
            <a:ext cx="3618445" cy="250383"/>
          </a:xfrm>
          <a:custGeom>
            <a:avLst/>
            <a:gdLst/>
            <a:ahLst/>
            <a:cxnLst/>
            <a:rect r="r" b="b" t="t" l="l"/>
            <a:pathLst>
              <a:path h="250383" w="3618445">
                <a:moveTo>
                  <a:pt x="0" y="250383"/>
                </a:moveTo>
                <a:lnTo>
                  <a:pt x="3618445" y="250383"/>
                </a:lnTo>
                <a:lnTo>
                  <a:pt x="3618445" y="0"/>
                </a:lnTo>
                <a:lnTo>
                  <a:pt x="0" y="0"/>
                </a:lnTo>
                <a:lnTo>
                  <a:pt x="0" y="250383"/>
                </a:lnTo>
                <a:close/>
              </a:path>
            </a:pathLst>
          </a:custGeom>
          <a:blipFill>
            <a:blip r:embed="rId12"/>
            <a:stretch>
              <a:fillRect l="-1678" t="-71094" r="-1678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true" rot="0">
            <a:off x="13881764" y="3741391"/>
            <a:ext cx="3618445" cy="250383"/>
          </a:xfrm>
          <a:custGeom>
            <a:avLst/>
            <a:gdLst/>
            <a:ahLst/>
            <a:cxnLst/>
            <a:rect r="r" b="b" t="t" l="l"/>
            <a:pathLst>
              <a:path h="250383" w="3618445">
                <a:moveTo>
                  <a:pt x="0" y="250383"/>
                </a:moveTo>
                <a:lnTo>
                  <a:pt x="3618445" y="250383"/>
                </a:lnTo>
                <a:lnTo>
                  <a:pt x="3618445" y="0"/>
                </a:lnTo>
                <a:lnTo>
                  <a:pt x="0" y="0"/>
                </a:lnTo>
                <a:lnTo>
                  <a:pt x="0" y="250383"/>
                </a:lnTo>
                <a:close/>
              </a:path>
            </a:pathLst>
          </a:custGeom>
          <a:blipFill>
            <a:blip r:embed="rId12"/>
            <a:stretch>
              <a:fillRect l="-1678" t="-71094" r="-1678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true" rot="0">
            <a:off x="787791" y="3741391"/>
            <a:ext cx="3618445" cy="250383"/>
          </a:xfrm>
          <a:custGeom>
            <a:avLst/>
            <a:gdLst/>
            <a:ahLst/>
            <a:cxnLst/>
            <a:rect r="r" b="b" t="t" l="l"/>
            <a:pathLst>
              <a:path h="250383" w="3618445">
                <a:moveTo>
                  <a:pt x="0" y="250383"/>
                </a:moveTo>
                <a:lnTo>
                  <a:pt x="3618445" y="250383"/>
                </a:lnTo>
                <a:lnTo>
                  <a:pt x="3618445" y="0"/>
                </a:lnTo>
                <a:lnTo>
                  <a:pt x="0" y="0"/>
                </a:lnTo>
                <a:lnTo>
                  <a:pt x="0" y="250383"/>
                </a:lnTo>
                <a:close/>
              </a:path>
            </a:pathLst>
          </a:custGeom>
          <a:blipFill>
            <a:blip r:embed="rId12"/>
            <a:stretch>
              <a:fillRect l="-1678" t="-71094" r="-1678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true" rot="0">
            <a:off x="12738764" y="6765099"/>
            <a:ext cx="3618445" cy="250383"/>
          </a:xfrm>
          <a:custGeom>
            <a:avLst/>
            <a:gdLst/>
            <a:ahLst/>
            <a:cxnLst/>
            <a:rect r="r" b="b" t="t" l="l"/>
            <a:pathLst>
              <a:path h="250383" w="3618445">
                <a:moveTo>
                  <a:pt x="0" y="250383"/>
                </a:moveTo>
                <a:lnTo>
                  <a:pt x="3618445" y="250383"/>
                </a:lnTo>
                <a:lnTo>
                  <a:pt x="3618445" y="0"/>
                </a:lnTo>
                <a:lnTo>
                  <a:pt x="0" y="0"/>
                </a:lnTo>
                <a:lnTo>
                  <a:pt x="0" y="250383"/>
                </a:lnTo>
                <a:close/>
              </a:path>
            </a:pathLst>
          </a:custGeom>
          <a:blipFill>
            <a:blip r:embed="rId12"/>
            <a:stretch>
              <a:fillRect l="-1678" t="-71094" r="-1678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true" rot="0">
            <a:off x="1924674" y="6765099"/>
            <a:ext cx="3618445" cy="250383"/>
          </a:xfrm>
          <a:custGeom>
            <a:avLst/>
            <a:gdLst/>
            <a:ahLst/>
            <a:cxnLst/>
            <a:rect r="r" b="b" t="t" l="l"/>
            <a:pathLst>
              <a:path h="250383" w="3618445">
                <a:moveTo>
                  <a:pt x="0" y="250383"/>
                </a:moveTo>
                <a:lnTo>
                  <a:pt x="3618445" y="250383"/>
                </a:lnTo>
                <a:lnTo>
                  <a:pt x="3618445" y="0"/>
                </a:lnTo>
                <a:lnTo>
                  <a:pt x="0" y="0"/>
                </a:lnTo>
                <a:lnTo>
                  <a:pt x="0" y="250383"/>
                </a:lnTo>
                <a:close/>
              </a:path>
            </a:pathLst>
          </a:custGeom>
          <a:blipFill>
            <a:blip r:embed="rId12"/>
            <a:stretch>
              <a:fillRect l="-1678" t="-71094" r="-1678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2738764" y="842875"/>
            <a:ext cx="3618445" cy="2543015"/>
            <a:chOff x="0" y="0"/>
            <a:chExt cx="1028537" cy="7228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8537" cy="722847"/>
            </a:xfrm>
            <a:custGeom>
              <a:avLst/>
              <a:gdLst/>
              <a:ahLst/>
              <a:cxnLst/>
              <a:rect r="r" b="b" t="t" l="l"/>
              <a:pathLst>
                <a:path h="722847" w="1028537">
                  <a:moveTo>
                    <a:pt x="47071" y="0"/>
                  </a:moveTo>
                  <a:lnTo>
                    <a:pt x="981466" y="0"/>
                  </a:lnTo>
                  <a:cubicBezTo>
                    <a:pt x="1007462" y="0"/>
                    <a:pt x="1028537" y="21074"/>
                    <a:pt x="1028537" y="47071"/>
                  </a:cubicBezTo>
                  <a:lnTo>
                    <a:pt x="1028537" y="675777"/>
                  </a:lnTo>
                  <a:cubicBezTo>
                    <a:pt x="1028537" y="701773"/>
                    <a:pt x="1007462" y="722847"/>
                    <a:pt x="981466" y="722847"/>
                  </a:cubicBezTo>
                  <a:lnTo>
                    <a:pt x="47071" y="722847"/>
                  </a:lnTo>
                  <a:cubicBezTo>
                    <a:pt x="34587" y="722847"/>
                    <a:pt x="22614" y="717888"/>
                    <a:pt x="13787" y="709061"/>
                  </a:cubicBezTo>
                  <a:cubicBezTo>
                    <a:pt x="4959" y="700233"/>
                    <a:pt x="0" y="688261"/>
                    <a:pt x="0" y="675777"/>
                  </a:cubicBezTo>
                  <a:lnTo>
                    <a:pt x="0" y="47071"/>
                  </a:lnTo>
                  <a:cubicBezTo>
                    <a:pt x="0" y="21074"/>
                    <a:pt x="21074" y="0"/>
                    <a:pt x="470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28537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24674" y="842875"/>
            <a:ext cx="3618445" cy="2543015"/>
            <a:chOff x="0" y="0"/>
            <a:chExt cx="1028537" cy="7228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8537" cy="722847"/>
            </a:xfrm>
            <a:custGeom>
              <a:avLst/>
              <a:gdLst/>
              <a:ahLst/>
              <a:cxnLst/>
              <a:rect r="r" b="b" t="t" l="l"/>
              <a:pathLst>
                <a:path h="722847" w="1028537">
                  <a:moveTo>
                    <a:pt x="47071" y="0"/>
                  </a:moveTo>
                  <a:lnTo>
                    <a:pt x="981466" y="0"/>
                  </a:lnTo>
                  <a:cubicBezTo>
                    <a:pt x="1007462" y="0"/>
                    <a:pt x="1028537" y="21074"/>
                    <a:pt x="1028537" y="47071"/>
                  </a:cubicBezTo>
                  <a:lnTo>
                    <a:pt x="1028537" y="675777"/>
                  </a:lnTo>
                  <a:cubicBezTo>
                    <a:pt x="1028537" y="701773"/>
                    <a:pt x="1007462" y="722847"/>
                    <a:pt x="981466" y="722847"/>
                  </a:cubicBezTo>
                  <a:lnTo>
                    <a:pt x="47071" y="722847"/>
                  </a:lnTo>
                  <a:cubicBezTo>
                    <a:pt x="34587" y="722847"/>
                    <a:pt x="22614" y="717888"/>
                    <a:pt x="13787" y="709061"/>
                  </a:cubicBezTo>
                  <a:cubicBezTo>
                    <a:pt x="4959" y="700233"/>
                    <a:pt x="0" y="688261"/>
                    <a:pt x="0" y="675777"/>
                  </a:cubicBezTo>
                  <a:lnTo>
                    <a:pt x="0" y="47071"/>
                  </a:lnTo>
                  <a:cubicBezTo>
                    <a:pt x="0" y="21074"/>
                    <a:pt x="21074" y="0"/>
                    <a:pt x="470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28537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881764" y="3866583"/>
            <a:ext cx="3618445" cy="2543015"/>
            <a:chOff x="0" y="0"/>
            <a:chExt cx="1028537" cy="72284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8537" cy="722847"/>
            </a:xfrm>
            <a:custGeom>
              <a:avLst/>
              <a:gdLst/>
              <a:ahLst/>
              <a:cxnLst/>
              <a:rect r="r" b="b" t="t" l="l"/>
              <a:pathLst>
                <a:path h="722847" w="1028537">
                  <a:moveTo>
                    <a:pt x="47071" y="0"/>
                  </a:moveTo>
                  <a:lnTo>
                    <a:pt x="981466" y="0"/>
                  </a:lnTo>
                  <a:cubicBezTo>
                    <a:pt x="1007462" y="0"/>
                    <a:pt x="1028537" y="21074"/>
                    <a:pt x="1028537" y="47071"/>
                  </a:cubicBezTo>
                  <a:lnTo>
                    <a:pt x="1028537" y="675777"/>
                  </a:lnTo>
                  <a:cubicBezTo>
                    <a:pt x="1028537" y="701773"/>
                    <a:pt x="1007462" y="722847"/>
                    <a:pt x="981466" y="722847"/>
                  </a:cubicBezTo>
                  <a:lnTo>
                    <a:pt x="47071" y="722847"/>
                  </a:lnTo>
                  <a:cubicBezTo>
                    <a:pt x="34587" y="722847"/>
                    <a:pt x="22614" y="717888"/>
                    <a:pt x="13787" y="709061"/>
                  </a:cubicBezTo>
                  <a:cubicBezTo>
                    <a:pt x="4959" y="700233"/>
                    <a:pt x="0" y="688261"/>
                    <a:pt x="0" y="675777"/>
                  </a:cubicBezTo>
                  <a:lnTo>
                    <a:pt x="0" y="47071"/>
                  </a:lnTo>
                  <a:cubicBezTo>
                    <a:pt x="0" y="21074"/>
                    <a:pt x="21074" y="0"/>
                    <a:pt x="470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8537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87791" y="3866583"/>
            <a:ext cx="3618445" cy="2543015"/>
            <a:chOff x="0" y="0"/>
            <a:chExt cx="1028537" cy="72284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8537" cy="722847"/>
            </a:xfrm>
            <a:custGeom>
              <a:avLst/>
              <a:gdLst/>
              <a:ahLst/>
              <a:cxnLst/>
              <a:rect r="r" b="b" t="t" l="l"/>
              <a:pathLst>
                <a:path h="722847" w="1028537">
                  <a:moveTo>
                    <a:pt x="47071" y="0"/>
                  </a:moveTo>
                  <a:lnTo>
                    <a:pt x="981466" y="0"/>
                  </a:lnTo>
                  <a:cubicBezTo>
                    <a:pt x="1007462" y="0"/>
                    <a:pt x="1028537" y="21074"/>
                    <a:pt x="1028537" y="47071"/>
                  </a:cubicBezTo>
                  <a:lnTo>
                    <a:pt x="1028537" y="675777"/>
                  </a:lnTo>
                  <a:cubicBezTo>
                    <a:pt x="1028537" y="701773"/>
                    <a:pt x="1007462" y="722847"/>
                    <a:pt x="981466" y="722847"/>
                  </a:cubicBezTo>
                  <a:lnTo>
                    <a:pt x="47071" y="722847"/>
                  </a:lnTo>
                  <a:cubicBezTo>
                    <a:pt x="34587" y="722847"/>
                    <a:pt x="22614" y="717888"/>
                    <a:pt x="13787" y="709061"/>
                  </a:cubicBezTo>
                  <a:cubicBezTo>
                    <a:pt x="4959" y="700233"/>
                    <a:pt x="0" y="688261"/>
                    <a:pt x="0" y="675777"/>
                  </a:cubicBezTo>
                  <a:lnTo>
                    <a:pt x="0" y="47071"/>
                  </a:lnTo>
                  <a:cubicBezTo>
                    <a:pt x="0" y="21074"/>
                    <a:pt x="21074" y="0"/>
                    <a:pt x="470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028537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738764" y="6890290"/>
            <a:ext cx="3618445" cy="2543015"/>
            <a:chOff x="0" y="0"/>
            <a:chExt cx="1028537" cy="7228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8537" cy="722847"/>
            </a:xfrm>
            <a:custGeom>
              <a:avLst/>
              <a:gdLst/>
              <a:ahLst/>
              <a:cxnLst/>
              <a:rect r="r" b="b" t="t" l="l"/>
              <a:pathLst>
                <a:path h="722847" w="1028537">
                  <a:moveTo>
                    <a:pt x="47071" y="0"/>
                  </a:moveTo>
                  <a:lnTo>
                    <a:pt x="981466" y="0"/>
                  </a:lnTo>
                  <a:cubicBezTo>
                    <a:pt x="1007462" y="0"/>
                    <a:pt x="1028537" y="21074"/>
                    <a:pt x="1028537" y="47071"/>
                  </a:cubicBezTo>
                  <a:lnTo>
                    <a:pt x="1028537" y="675777"/>
                  </a:lnTo>
                  <a:cubicBezTo>
                    <a:pt x="1028537" y="701773"/>
                    <a:pt x="1007462" y="722847"/>
                    <a:pt x="981466" y="722847"/>
                  </a:cubicBezTo>
                  <a:lnTo>
                    <a:pt x="47071" y="722847"/>
                  </a:lnTo>
                  <a:cubicBezTo>
                    <a:pt x="34587" y="722847"/>
                    <a:pt x="22614" y="717888"/>
                    <a:pt x="13787" y="709061"/>
                  </a:cubicBezTo>
                  <a:cubicBezTo>
                    <a:pt x="4959" y="700233"/>
                    <a:pt x="0" y="688261"/>
                    <a:pt x="0" y="675777"/>
                  </a:cubicBezTo>
                  <a:lnTo>
                    <a:pt x="0" y="47071"/>
                  </a:lnTo>
                  <a:cubicBezTo>
                    <a:pt x="0" y="21074"/>
                    <a:pt x="21074" y="0"/>
                    <a:pt x="470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28537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924674" y="6890290"/>
            <a:ext cx="3618445" cy="2543015"/>
            <a:chOff x="0" y="0"/>
            <a:chExt cx="1028537" cy="72284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8537" cy="722847"/>
            </a:xfrm>
            <a:custGeom>
              <a:avLst/>
              <a:gdLst/>
              <a:ahLst/>
              <a:cxnLst/>
              <a:rect r="r" b="b" t="t" l="l"/>
              <a:pathLst>
                <a:path h="722847" w="1028537">
                  <a:moveTo>
                    <a:pt x="47071" y="0"/>
                  </a:moveTo>
                  <a:lnTo>
                    <a:pt x="981466" y="0"/>
                  </a:lnTo>
                  <a:cubicBezTo>
                    <a:pt x="1007462" y="0"/>
                    <a:pt x="1028537" y="21074"/>
                    <a:pt x="1028537" y="47071"/>
                  </a:cubicBezTo>
                  <a:lnTo>
                    <a:pt x="1028537" y="675777"/>
                  </a:lnTo>
                  <a:cubicBezTo>
                    <a:pt x="1028537" y="701773"/>
                    <a:pt x="1007462" y="722847"/>
                    <a:pt x="981466" y="722847"/>
                  </a:cubicBezTo>
                  <a:lnTo>
                    <a:pt x="47071" y="722847"/>
                  </a:lnTo>
                  <a:cubicBezTo>
                    <a:pt x="34587" y="722847"/>
                    <a:pt x="22614" y="717888"/>
                    <a:pt x="13787" y="709061"/>
                  </a:cubicBezTo>
                  <a:cubicBezTo>
                    <a:pt x="4959" y="700233"/>
                    <a:pt x="0" y="688261"/>
                    <a:pt x="0" y="675777"/>
                  </a:cubicBezTo>
                  <a:lnTo>
                    <a:pt x="0" y="47071"/>
                  </a:lnTo>
                  <a:cubicBezTo>
                    <a:pt x="0" y="21074"/>
                    <a:pt x="21074" y="0"/>
                    <a:pt x="470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28537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136332" y="1921342"/>
            <a:ext cx="273907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Sk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expertis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knowledge 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hat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ve bu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sin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nnova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tion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execution.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406482" y="1921342"/>
            <a:ext cx="273907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Strateg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ic all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ianc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 and supplier relationships that stren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then resource access.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279332" y="4945050"/>
            <a:ext cx="273907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s, equipment, and tools required to operat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and cr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eat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business va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69599" y="4945050"/>
            <a:ext cx="273907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Software, 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igital platforms, and IT infra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uctur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ing efficiency and growth.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136332" y="7968757"/>
            <a:ext cx="273907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Patent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s, trademarks, or brand assets that pr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compet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itive adva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tage.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406482" y="7968757"/>
            <a:ext cx="273907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Fund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s, investments, and cash flows that sustain 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per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ations and expansion.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136332" y="1443187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H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uman Talent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322242" y="1443187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P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artnership Networks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279332" y="4466895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Physic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al Assets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85359" y="4466895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Technology Systems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36332" y="7490603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Intellect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ual Property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322242" y="7490603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Fin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ancial Capital</a:t>
            </a:r>
          </a:p>
        </p:txBody>
      </p:sp>
      <p:sp>
        <p:nvSpPr>
          <p:cNvPr name="AutoShape 66" id="66"/>
          <p:cNvSpPr/>
          <p:nvPr/>
        </p:nvSpPr>
        <p:spPr>
          <a:xfrm flipV="true">
            <a:off x="11852117" y="1393103"/>
            <a:ext cx="886647" cy="669423"/>
          </a:xfrm>
          <a:prstGeom prst="line">
            <a:avLst/>
          </a:prstGeom>
          <a:ln cap="rnd" w="28575">
            <a:solidFill>
              <a:srgbClr val="BEC8D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5543119" y="1393103"/>
            <a:ext cx="904875" cy="669423"/>
          </a:xfrm>
          <a:prstGeom prst="line">
            <a:avLst/>
          </a:prstGeom>
          <a:ln cap="rnd" w="28575">
            <a:solidFill>
              <a:srgbClr val="BEC8D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68" id="68"/>
          <p:cNvSpPr/>
          <p:nvPr/>
        </p:nvSpPr>
        <p:spPr>
          <a:xfrm flipH="false" flipV="false" rot="0">
            <a:off x="5346142" y="4718307"/>
            <a:ext cx="665083" cy="666750"/>
          </a:xfrm>
          <a:custGeom>
            <a:avLst/>
            <a:gdLst/>
            <a:ahLst/>
            <a:cxnLst/>
            <a:rect r="r" b="b" t="t" l="l"/>
            <a:pathLst>
              <a:path h="666750" w="665083">
                <a:moveTo>
                  <a:pt x="0" y="0"/>
                </a:moveTo>
                <a:lnTo>
                  <a:pt x="665083" y="0"/>
                </a:lnTo>
                <a:lnTo>
                  <a:pt x="665083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9" id="69"/>
          <p:cNvSpPr/>
          <p:nvPr/>
        </p:nvSpPr>
        <p:spPr>
          <a:xfrm flipH="false" flipV="false" rot="0">
            <a:off x="6883929" y="1729150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629533" y="-1069957"/>
            <a:ext cx="1325090" cy="6443006"/>
            <a:chOff x="0" y="0"/>
            <a:chExt cx="660400" cy="32110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211073"/>
            </a:xfrm>
            <a:custGeom>
              <a:avLst/>
              <a:gdLst/>
              <a:ahLst/>
              <a:cxnLst/>
              <a:rect r="r" b="b" t="t" l="l"/>
              <a:pathLst>
                <a:path h="3211073" w="660400">
                  <a:moveTo>
                    <a:pt x="220252" y="3192004"/>
                  </a:moveTo>
                  <a:cubicBezTo>
                    <a:pt x="254109" y="3203518"/>
                    <a:pt x="292600" y="3211073"/>
                    <a:pt x="330378" y="3211073"/>
                  </a:cubicBezTo>
                  <a:cubicBezTo>
                    <a:pt x="368157" y="3211073"/>
                    <a:pt x="404509" y="3204596"/>
                    <a:pt x="438009" y="3193082"/>
                  </a:cubicBezTo>
                  <a:cubicBezTo>
                    <a:pt x="438723" y="3192723"/>
                    <a:pt x="439435" y="3192723"/>
                    <a:pt x="440148" y="3192363"/>
                  </a:cubicBezTo>
                  <a:cubicBezTo>
                    <a:pt x="565955" y="3146308"/>
                    <a:pt x="658618" y="3024694"/>
                    <a:pt x="660400" y="282929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827199"/>
                  </a:lnTo>
                  <a:cubicBezTo>
                    <a:pt x="1782" y="3025413"/>
                    <a:pt x="93019" y="3147028"/>
                    <a:pt x="220252" y="3192004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400" cy="3131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865456" y="-56990"/>
            <a:ext cx="1325090" cy="7676852"/>
            <a:chOff x="0" y="0"/>
            <a:chExt cx="660400" cy="38259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825999"/>
            </a:xfrm>
            <a:custGeom>
              <a:avLst/>
              <a:gdLst/>
              <a:ahLst/>
              <a:cxnLst/>
              <a:rect r="r" b="b" t="t" l="l"/>
              <a:pathLst>
                <a:path h="3825999" w="660400">
                  <a:moveTo>
                    <a:pt x="220252" y="3806930"/>
                  </a:moveTo>
                  <a:cubicBezTo>
                    <a:pt x="254109" y="3818444"/>
                    <a:pt x="292600" y="3825999"/>
                    <a:pt x="330378" y="3825999"/>
                  </a:cubicBezTo>
                  <a:cubicBezTo>
                    <a:pt x="368157" y="3825999"/>
                    <a:pt x="404509" y="3819522"/>
                    <a:pt x="438009" y="3808008"/>
                  </a:cubicBezTo>
                  <a:cubicBezTo>
                    <a:pt x="438723" y="3807649"/>
                    <a:pt x="439435" y="3807649"/>
                    <a:pt x="440148" y="3807289"/>
                  </a:cubicBezTo>
                  <a:cubicBezTo>
                    <a:pt x="565955" y="3761234"/>
                    <a:pt x="658618" y="3639620"/>
                    <a:pt x="660400" y="343056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428019"/>
                  </a:lnTo>
                  <a:cubicBezTo>
                    <a:pt x="1782" y="3640339"/>
                    <a:pt x="93019" y="3761954"/>
                    <a:pt x="220252" y="380693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60400" cy="374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6105050" y="954550"/>
            <a:ext cx="1325090" cy="8913552"/>
            <a:chOff x="0" y="0"/>
            <a:chExt cx="660400" cy="4442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4442347"/>
            </a:xfrm>
            <a:custGeom>
              <a:avLst/>
              <a:gdLst/>
              <a:ahLst/>
              <a:cxnLst/>
              <a:rect r="r" b="b" t="t" l="l"/>
              <a:pathLst>
                <a:path h="4442347" w="660400">
                  <a:moveTo>
                    <a:pt x="220252" y="4423278"/>
                  </a:moveTo>
                  <a:cubicBezTo>
                    <a:pt x="254109" y="4434792"/>
                    <a:pt x="292600" y="4442347"/>
                    <a:pt x="330378" y="4442347"/>
                  </a:cubicBezTo>
                  <a:cubicBezTo>
                    <a:pt x="368157" y="4442347"/>
                    <a:pt x="404509" y="4435870"/>
                    <a:pt x="438009" y="4424356"/>
                  </a:cubicBezTo>
                  <a:cubicBezTo>
                    <a:pt x="438723" y="4423997"/>
                    <a:pt x="439435" y="4423997"/>
                    <a:pt x="440148" y="4423638"/>
                  </a:cubicBezTo>
                  <a:cubicBezTo>
                    <a:pt x="565955" y="4377582"/>
                    <a:pt x="658618" y="4255969"/>
                    <a:pt x="660400" y="403322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030230"/>
                  </a:lnTo>
                  <a:cubicBezTo>
                    <a:pt x="1782" y="4256687"/>
                    <a:pt x="93019" y="4378303"/>
                    <a:pt x="220252" y="4423278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60400" cy="4362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6342400" y="1966090"/>
            <a:ext cx="1325090" cy="10150253"/>
            <a:chOff x="0" y="0"/>
            <a:chExt cx="660400" cy="50586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5058695"/>
            </a:xfrm>
            <a:custGeom>
              <a:avLst/>
              <a:gdLst/>
              <a:ahLst/>
              <a:cxnLst/>
              <a:rect r="r" b="b" t="t" l="l"/>
              <a:pathLst>
                <a:path h="5058695" w="660400">
                  <a:moveTo>
                    <a:pt x="220252" y="5039626"/>
                  </a:moveTo>
                  <a:cubicBezTo>
                    <a:pt x="254109" y="5051141"/>
                    <a:pt x="292600" y="5058695"/>
                    <a:pt x="330378" y="5058695"/>
                  </a:cubicBezTo>
                  <a:cubicBezTo>
                    <a:pt x="368157" y="5058695"/>
                    <a:pt x="404509" y="5052219"/>
                    <a:pt x="438009" y="5040705"/>
                  </a:cubicBezTo>
                  <a:cubicBezTo>
                    <a:pt x="438723" y="5040345"/>
                    <a:pt x="439435" y="5040345"/>
                    <a:pt x="440148" y="5039986"/>
                  </a:cubicBezTo>
                  <a:cubicBezTo>
                    <a:pt x="565955" y="4993931"/>
                    <a:pt x="658618" y="4872317"/>
                    <a:pt x="660400" y="463588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632440"/>
                  </a:lnTo>
                  <a:cubicBezTo>
                    <a:pt x="1782" y="4873036"/>
                    <a:pt x="93019" y="4994651"/>
                    <a:pt x="220252" y="5039626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60400" cy="4979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6579751" y="2978478"/>
            <a:ext cx="1325090" cy="11386954"/>
            <a:chOff x="0" y="0"/>
            <a:chExt cx="660400" cy="56750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" cy="5675044"/>
            </a:xfrm>
            <a:custGeom>
              <a:avLst/>
              <a:gdLst/>
              <a:ahLst/>
              <a:cxnLst/>
              <a:rect r="r" b="b" t="t" l="l"/>
              <a:pathLst>
                <a:path h="5675044" w="660400">
                  <a:moveTo>
                    <a:pt x="220252" y="5655975"/>
                  </a:moveTo>
                  <a:cubicBezTo>
                    <a:pt x="254109" y="5667489"/>
                    <a:pt x="292600" y="5675044"/>
                    <a:pt x="330378" y="5675044"/>
                  </a:cubicBezTo>
                  <a:cubicBezTo>
                    <a:pt x="368157" y="5675044"/>
                    <a:pt x="404509" y="5668567"/>
                    <a:pt x="438009" y="5657053"/>
                  </a:cubicBezTo>
                  <a:cubicBezTo>
                    <a:pt x="438723" y="5656694"/>
                    <a:pt x="439435" y="5656694"/>
                    <a:pt x="440148" y="5656335"/>
                  </a:cubicBezTo>
                  <a:cubicBezTo>
                    <a:pt x="565955" y="5610279"/>
                    <a:pt x="658618" y="5488665"/>
                    <a:pt x="660400" y="523853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234650"/>
                  </a:lnTo>
                  <a:cubicBezTo>
                    <a:pt x="1782" y="5489384"/>
                    <a:pt x="93019" y="5610999"/>
                    <a:pt x="220252" y="5655975"/>
                  </a:cubicBezTo>
                  <a:close/>
                </a:path>
              </a:pathLst>
            </a:custGeom>
            <a:solidFill>
              <a:srgbClr val="E8DED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60400" cy="5595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4540250">
            <a:off x="836566" y="4517841"/>
            <a:ext cx="10289161" cy="1308999"/>
          </a:xfrm>
          <a:custGeom>
            <a:avLst/>
            <a:gdLst/>
            <a:ahLst/>
            <a:cxnLst/>
            <a:rect r="r" b="b" t="t" l="l"/>
            <a:pathLst>
              <a:path h="1308999" w="10289161">
                <a:moveTo>
                  <a:pt x="0" y="0"/>
                </a:moveTo>
                <a:lnTo>
                  <a:pt x="10289161" y="0"/>
                </a:lnTo>
                <a:lnTo>
                  <a:pt x="10289161" y="1308999"/>
                </a:lnTo>
                <a:lnTo>
                  <a:pt x="0" y="1308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03" t="-1206" r="-6203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-2737759" y="98675"/>
            <a:ext cx="10084020" cy="10089649"/>
            <a:chOff x="0" y="0"/>
            <a:chExt cx="812800" cy="8132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3254"/>
            </a:xfrm>
            <a:custGeom>
              <a:avLst/>
              <a:gdLst/>
              <a:ahLst/>
              <a:cxnLst/>
              <a:rect r="r" b="b" t="t" l="l"/>
              <a:pathLst>
                <a:path h="813254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813254"/>
                  </a:lnTo>
                  <a:lnTo>
                    <a:pt x="0" y="81325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9ECF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47625"/>
              <a:ext cx="609600" cy="860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431902" y="6731654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1384402" y="8362392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9669902" y="5101764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8870495" y="3471874"/>
            <a:ext cx="503039" cy="619125"/>
          </a:xfrm>
          <a:custGeom>
            <a:avLst/>
            <a:gdLst/>
            <a:ahLst/>
            <a:cxnLst/>
            <a:rect r="r" b="b" t="t" l="l"/>
            <a:pathLst>
              <a:path h="619125" w="503039">
                <a:moveTo>
                  <a:pt x="0" y="0"/>
                </a:moveTo>
                <a:lnTo>
                  <a:pt x="503039" y="0"/>
                </a:lnTo>
                <a:lnTo>
                  <a:pt x="503039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8145702" y="1841983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952500" y="7778115"/>
            <a:ext cx="338345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Essential elements of how</a:t>
            </a:r>
            <a:r>
              <a:rPr lang="en-US" sz="20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businesses define, deliver, and reinforce unique value to customers.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2500" y="1164238"/>
            <a:ext cx="3383459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D</a:t>
            </a: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efining Value Proposition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88891" y="1769763"/>
            <a:ext cx="8649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88891" y="3447278"/>
            <a:ext cx="8649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88891" y="5077168"/>
            <a:ext cx="8649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88891" y="6707058"/>
            <a:ext cx="8649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88891" y="8337797"/>
            <a:ext cx="8649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29579" y="2096618"/>
            <a:ext cx="433839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Crea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 solutions address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customer challenges while delive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meaningful benefits.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29579" y="1618464"/>
            <a:ext cx="433839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Offer Design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77674" y="3726508"/>
            <a:ext cx="404139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Sh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ow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why custome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efer thi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bus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ss using 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ique,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tinctiv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qu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lit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77674" y="3248354"/>
            <a:ext cx="404139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Differentiation Factor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735619" y="5356398"/>
            <a:ext cx="404139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Show why custome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select this business us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unique, distinctiv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qu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alities.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735619" y="4878244"/>
            <a:ext cx="404139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Fit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91319" y="6986288"/>
            <a:ext cx="426414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easure 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tcome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customers exp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ence,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strengthening 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oyal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y,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trus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gem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91319" y="6508134"/>
            <a:ext cx="404139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Satisfaction Level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447020" y="8617027"/>
            <a:ext cx="421959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entify opportunities expand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value delivery across broader, 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market segments.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47020" y="8138873"/>
            <a:ext cx="404139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Growth Potential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2472449" y="4746412"/>
            <a:ext cx="6500556" cy="570208"/>
          </a:xfrm>
          <a:custGeom>
            <a:avLst/>
            <a:gdLst/>
            <a:ahLst/>
            <a:cxnLst/>
            <a:rect r="r" b="b" t="t" l="l"/>
            <a:pathLst>
              <a:path h="570208" w="6500556">
                <a:moveTo>
                  <a:pt x="0" y="0"/>
                </a:moveTo>
                <a:lnTo>
                  <a:pt x="6500556" y="0"/>
                </a:lnTo>
                <a:lnTo>
                  <a:pt x="6500556" y="570208"/>
                </a:lnTo>
                <a:lnTo>
                  <a:pt x="0" y="57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 l="0" t="0" r="0" b="-1217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378199" y="4746412"/>
            <a:ext cx="6500556" cy="570208"/>
          </a:xfrm>
          <a:custGeom>
            <a:avLst/>
            <a:gdLst/>
            <a:ahLst/>
            <a:cxnLst/>
            <a:rect r="r" b="b" t="t" l="l"/>
            <a:pathLst>
              <a:path h="570208" w="6500556">
                <a:moveTo>
                  <a:pt x="0" y="0"/>
                </a:moveTo>
                <a:lnTo>
                  <a:pt x="6500556" y="0"/>
                </a:lnTo>
                <a:lnTo>
                  <a:pt x="6500556" y="570208"/>
                </a:lnTo>
                <a:lnTo>
                  <a:pt x="0" y="57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 l="0" t="0" r="0" b="-1217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2472449" y="6662358"/>
            <a:ext cx="6500556" cy="570208"/>
          </a:xfrm>
          <a:custGeom>
            <a:avLst/>
            <a:gdLst/>
            <a:ahLst/>
            <a:cxnLst/>
            <a:rect r="r" b="b" t="t" l="l"/>
            <a:pathLst>
              <a:path h="570208" w="6500556">
                <a:moveTo>
                  <a:pt x="0" y="0"/>
                </a:moveTo>
                <a:lnTo>
                  <a:pt x="6500556" y="0"/>
                </a:lnTo>
                <a:lnTo>
                  <a:pt x="6500556" y="570208"/>
                </a:lnTo>
                <a:lnTo>
                  <a:pt x="0" y="57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 l="0" t="0" r="0" b="-1217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0378199" y="6662358"/>
            <a:ext cx="6500556" cy="570208"/>
          </a:xfrm>
          <a:custGeom>
            <a:avLst/>
            <a:gdLst/>
            <a:ahLst/>
            <a:cxnLst/>
            <a:rect r="r" b="b" t="t" l="l"/>
            <a:pathLst>
              <a:path h="570208" w="6500556">
                <a:moveTo>
                  <a:pt x="0" y="0"/>
                </a:moveTo>
                <a:lnTo>
                  <a:pt x="6500556" y="0"/>
                </a:lnTo>
                <a:lnTo>
                  <a:pt x="6500556" y="570208"/>
                </a:lnTo>
                <a:lnTo>
                  <a:pt x="0" y="57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 l="0" t="0" r="0" b="-12178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33030" y="3331077"/>
            <a:ext cx="6839975" cy="1580182"/>
            <a:chOff x="0" y="0"/>
            <a:chExt cx="1801475" cy="4161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1475" cy="416180"/>
            </a:xfrm>
            <a:custGeom>
              <a:avLst/>
              <a:gdLst/>
              <a:ahLst/>
              <a:cxnLst/>
              <a:rect r="r" b="b" t="t" l="l"/>
              <a:pathLst>
                <a:path h="416180" w="1801475">
                  <a:moveTo>
                    <a:pt x="18110" y="0"/>
                  </a:moveTo>
                  <a:lnTo>
                    <a:pt x="1783365" y="0"/>
                  </a:lnTo>
                  <a:cubicBezTo>
                    <a:pt x="1788168" y="0"/>
                    <a:pt x="1792774" y="1908"/>
                    <a:pt x="1796171" y="5304"/>
                  </a:cubicBezTo>
                  <a:cubicBezTo>
                    <a:pt x="1799567" y="8700"/>
                    <a:pt x="1801475" y="13307"/>
                    <a:pt x="1801475" y="18110"/>
                  </a:cubicBezTo>
                  <a:lnTo>
                    <a:pt x="1801475" y="398070"/>
                  </a:lnTo>
                  <a:cubicBezTo>
                    <a:pt x="1801475" y="402873"/>
                    <a:pt x="1799567" y="407479"/>
                    <a:pt x="1796171" y="410875"/>
                  </a:cubicBezTo>
                  <a:cubicBezTo>
                    <a:pt x="1792774" y="414272"/>
                    <a:pt x="1788168" y="416180"/>
                    <a:pt x="1783365" y="416180"/>
                  </a:cubicBezTo>
                  <a:lnTo>
                    <a:pt x="18110" y="416180"/>
                  </a:lnTo>
                  <a:cubicBezTo>
                    <a:pt x="8108" y="416180"/>
                    <a:pt x="0" y="408072"/>
                    <a:pt x="0" y="398070"/>
                  </a:cubicBezTo>
                  <a:lnTo>
                    <a:pt x="0" y="18110"/>
                  </a:lnTo>
                  <a:cubicBezTo>
                    <a:pt x="0" y="13307"/>
                    <a:pt x="1908" y="8700"/>
                    <a:pt x="5304" y="5304"/>
                  </a:cubicBezTo>
                  <a:cubicBezTo>
                    <a:pt x="8700" y="1908"/>
                    <a:pt x="13307" y="0"/>
                    <a:pt x="1811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01475" cy="46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38780" y="3331077"/>
            <a:ext cx="6839975" cy="1580182"/>
            <a:chOff x="0" y="0"/>
            <a:chExt cx="1801475" cy="4161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1475" cy="416180"/>
            </a:xfrm>
            <a:custGeom>
              <a:avLst/>
              <a:gdLst/>
              <a:ahLst/>
              <a:cxnLst/>
              <a:rect r="r" b="b" t="t" l="l"/>
              <a:pathLst>
                <a:path h="416180" w="1801475">
                  <a:moveTo>
                    <a:pt x="18110" y="0"/>
                  </a:moveTo>
                  <a:lnTo>
                    <a:pt x="1783365" y="0"/>
                  </a:lnTo>
                  <a:cubicBezTo>
                    <a:pt x="1788168" y="0"/>
                    <a:pt x="1792774" y="1908"/>
                    <a:pt x="1796171" y="5304"/>
                  </a:cubicBezTo>
                  <a:cubicBezTo>
                    <a:pt x="1799567" y="8700"/>
                    <a:pt x="1801475" y="13307"/>
                    <a:pt x="1801475" y="18110"/>
                  </a:cubicBezTo>
                  <a:lnTo>
                    <a:pt x="1801475" y="398070"/>
                  </a:lnTo>
                  <a:cubicBezTo>
                    <a:pt x="1801475" y="402873"/>
                    <a:pt x="1799567" y="407479"/>
                    <a:pt x="1796171" y="410875"/>
                  </a:cubicBezTo>
                  <a:cubicBezTo>
                    <a:pt x="1792774" y="414272"/>
                    <a:pt x="1788168" y="416180"/>
                    <a:pt x="1783365" y="416180"/>
                  </a:cubicBezTo>
                  <a:lnTo>
                    <a:pt x="18110" y="416180"/>
                  </a:lnTo>
                  <a:cubicBezTo>
                    <a:pt x="8108" y="416180"/>
                    <a:pt x="0" y="408072"/>
                    <a:pt x="0" y="398070"/>
                  </a:cubicBezTo>
                  <a:lnTo>
                    <a:pt x="0" y="18110"/>
                  </a:lnTo>
                  <a:cubicBezTo>
                    <a:pt x="0" y="13307"/>
                    <a:pt x="1908" y="8700"/>
                    <a:pt x="5304" y="5304"/>
                  </a:cubicBezTo>
                  <a:cubicBezTo>
                    <a:pt x="8700" y="1908"/>
                    <a:pt x="13307" y="0"/>
                    <a:pt x="1811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01475" cy="46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33030" y="5247023"/>
            <a:ext cx="6839975" cy="1580182"/>
            <a:chOff x="0" y="0"/>
            <a:chExt cx="1801475" cy="4161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1475" cy="416180"/>
            </a:xfrm>
            <a:custGeom>
              <a:avLst/>
              <a:gdLst/>
              <a:ahLst/>
              <a:cxnLst/>
              <a:rect r="r" b="b" t="t" l="l"/>
              <a:pathLst>
                <a:path h="416180" w="1801475">
                  <a:moveTo>
                    <a:pt x="18110" y="0"/>
                  </a:moveTo>
                  <a:lnTo>
                    <a:pt x="1783365" y="0"/>
                  </a:lnTo>
                  <a:cubicBezTo>
                    <a:pt x="1788168" y="0"/>
                    <a:pt x="1792774" y="1908"/>
                    <a:pt x="1796171" y="5304"/>
                  </a:cubicBezTo>
                  <a:cubicBezTo>
                    <a:pt x="1799567" y="8700"/>
                    <a:pt x="1801475" y="13307"/>
                    <a:pt x="1801475" y="18110"/>
                  </a:cubicBezTo>
                  <a:lnTo>
                    <a:pt x="1801475" y="398070"/>
                  </a:lnTo>
                  <a:cubicBezTo>
                    <a:pt x="1801475" y="402873"/>
                    <a:pt x="1799567" y="407479"/>
                    <a:pt x="1796171" y="410875"/>
                  </a:cubicBezTo>
                  <a:cubicBezTo>
                    <a:pt x="1792774" y="414272"/>
                    <a:pt x="1788168" y="416180"/>
                    <a:pt x="1783365" y="416180"/>
                  </a:cubicBezTo>
                  <a:lnTo>
                    <a:pt x="18110" y="416180"/>
                  </a:lnTo>
                  <a:cubicBezTo>
                    <a:pt x="8108" y="416180"/>
                    <a:pt x="0" y="408072"/>
                    <a:pt x="0" y="398070"/>
                  </a:cubicBezTo>
                  <a:lnTo>
                    <a:pt x="0" y="18110"/>
                  </a:lnTo>
                  <a:cubicBezTo>
                    <a:pt x="0" y="13307"/>
                    <a:pt x="1908" y="8700"/>
                    <a:pt x="5304" y="5304"/>
                  </a:cubicBezTo>
                  <a:cubicBezTo>
                    <a:pt x="8700" y="1908"/>
                    <a:pt x="13307" y="0"/>
                    <a:pt x="1811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01475" cy="46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38780" y="5247023"/>
            <a:ext cx="6839975" cy="1580182"/>
            <a:chOff x="0" y="0"/>
            <a:chExt cx="1801475" cy="4161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1475" cy="416180"/>
            </a:xfrm>
            <a:custGeom>
              <a:avLst/>
              <a:gdLst/>
              <a:ahLst/>
              <a:cxnLst/>
              <a:rect r="r" b="b" t="t" l="l"/>
              <a:pathLst>
                <a:path h="416180" w="1801475">
                  <a:moveTo>
                    <a:pt x="18110" y="0"/>
                  </a:moveTo>
                  <a:lnTo>
                    <a:pt x="1783365" y="0"/>
                  </a:lnTo>
                  <a:cubicBezTo>
                    <a:pt x="1788168" y="0"/>
                    <a:pt x="1792774" y="1908"/>
                    <a:pt x="1796171" y="5304"/>
                  </a:cubicBezTo>
                  <a:cubicBezTo>
                    <a:pt x="1799567" y="8700"/>
                    <a:pt x="1801475" y="13307"/>
                    <a:pt x="1801475" y="18110"/>
                  </a:cubicBezTo>
                  <a:lnTo>
                    <a:pt x="1801475" y="398070"/>
                  </a:lnTo>
                  <a:cubicBezTo>
                    <a:pt x="1801475" y="402873"/>
                    <a:pt x="1799567" y="407479"/>
                    <a:pt x="1796171" y="410875"/>
                  </a:cubicBezTo>
                  <a:cubicBezTo>
                    <a:pt x="1792774" y="414272"/>
                    <a:pt x="1788168" y="416180"/>
                    <a:pt x="1783365" y="416180"/>
                  </a:cubicBezTo>
                  <a:lnTo>
                    <a:pt x="18110" y="416180"/>
                  </a:lnTo>
                  <a:cubicBezTo>
                    <a:pt x="8108" y="416180"/>
                    <a:pt x="0" y="408072"/>
                    <a:pt x="0" y="398070"/>
                  </a:cubicBezTo>
                  <a:lnTo>
                    <a:pt x="0" y="18110"/>
                  </a:lnTo>
                  <a:cubicBezTo>
                    <a:pt x="0" y="13307"/>
                    <a:pt x="1908" y="8700"/>
                    <a:pt x="5304" y="5304"/>
                  </a:cubicBezTo>
                  <a:cubicBezTo>
                    <a:pt x="8700" y="1908"/>
                    <a:pt x="13307" y="0"/>
                    <a:pt x="1811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801475" cy="46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09245" y="3398468"/>
            <a:ext cx="1634682" cy="1633048"/>
          </a:xfrm>
          <a:custGeom>
            <a:avLst/>
            <a:gdLst/>
            <a:ahLst/>
            <a:cxnLst/>
            <a:rect r="r" b="b" t="t" l="l"/>
            <a:pathLst>
              <a:path h="1633048" w="1634682">
                <a:moveTo>
                  <a:pt x="0" y="0"/>
                </a:moveTo>
                <a:lnTo>
                  <a:pt x="1634682" y="0"/>
                </a:lnTo>
                <a:lnTo>
                  <a:pt x="1634682" y="1633048"/>
                </a:lnTo>
                <a:lnTo>
                  <a:pt x="0" y="1633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14995" y="3398468"/>
            <a:ext cx="1634682" cy="1633048"/>
          </a:xfrm>
          <a:custGeom>
            <a:avLst/>
            <a:gdLst/>
            <a:ahLst/>
            <a:cxnLst/>
            <a:rect r="r" b="b" t="t" l="l"/>
            <a:pathLst>
              <a:path h="1633048" w="1634682">
                <a:moveTo>
                  <a:pt x="0" y="0"/>
                </a:moveTo>
                <a:lnTo>
                  <a:pt x="1634682" y="0"/>
                </a:lnTo>
                <a:lnTo>
                  <a:pt x="1634682" y="1633048"/>
                </a:lnTo>
                <a:lnTo>
                  <a:pt x="0" y="1633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9245" y="5314414"/>
            <a:ext cx="1634682" cy="1633048"/>
          </a:xfrm>
          <a:custGeom>
            <a:avLst/>
            <a:gdLst/>
            <a:ahLst/>
            <a:cxnLst/>
            <a:rect r="r" b="b" t="t" l="l"/>
            <a:pathLst>
              <a:path h="1633048" w="1634682">
                <a:moveTo>
                  <a:pt x="0" y="0"/>
                </a:moveTo>
                <a:lnTo>
                  <a:pt x="1634682" y="0"/>
                </a:lnTo>
                <a:lnTo>
                  <a:pt x="1634682" y="1633048"/>
                </a:lnTo>
                <a:lnTo>
                  <a:pt x="0" y="1633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314995" y="5314414"/>
            <a:ext cx="1634682" cy="1633048"/>
          </a:xfrm>
          <a:custGeom>
            <a:avLst/>
            <a:gdLst/>
            <a:ahLst/>
            <a:cxnLst/>
            <a:rect r="r" b="b" t="t" l="l"/>
            <a:pathLst>
              <a:path h="1633048" w="1634682">
                <a:moveTo>
                  <a:pt x="0" y="0"/>
                </a:moveTo>
                <a:lnTo>
                  <a:pt x="1634682" y="0"/>
                </a:lnTo>
                <a:lnTo>
                  <a:pt x="1634682" y="1633048"/>
                </a:lnTo>
                <a:lnTo>
                  <a:pt x="0" y="1633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09245" y="3210820"/>
            <a:ext cx="1447571" cy="144757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14995" y="3210820"/>
            <a:ext cx="1447571" cy="144757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09245" y="5126766"/>
            <a:ext cx="1447571" cy="144757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14995" y="5126766"/>
            <a:ext cx="1447571" cy="144757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601428" y="3208021"/>
            <a:ext cx="1063204" cy="1062141"/>
          </a:xfrm>
          <a:custGeom>
            <a:avLst/>
            <a:gdLst/>
            <a:ahLst/>
            <a:cxnLst/>
            <a:rect r="r" b="b" t="t" l="l"/>
            <a:pathLst>
              <a:path h="1062141" w="1063204">
                <a:moveTo>
                  <a:pt x="0" y="0"/>
                </a:moveTo>
                <a:lnTo>
                  <a:pt x="1063205" y="0"/>
                </a:lnTo>
                <a:lnTo>
                  <a:pt x="1063205" y="1062141"/>
                </a:lnTo>
                <a:lnTo>
                  <a:pt x="0" y="1062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704101" y="3211544"/>
            <a:ext cx="857860" cy="85786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9507178" y="3208021"/>
            <a:ext cx="1063204" cy="1062141"/>
          </a:xfrm>
          <a:custGeom>
            <a:avLst/>
            <a:gdLst/>
            <a:ahLst/>
            <a:cxnLst/>
            <a:rect r="r" b="b" t="t" l="l"/>
            <a:pathLst>
              <a:path h="1062141" w="1063204">
                <a:moveTo>
                  <a:pt x="0" y="0"/>
                </a:moveTo>
                <a:lnTo>
                  <a:pt x="1063205" y="0"/>
                </a:lnTo>
                <a:lnTo>
                  <a:pt x="1063205" y="1062141"/>
                </a:lnTo>
                <a:lnTo>
                  <a:pt x="0" y="1062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507178" y="5127490"/>
            <a:ext cx="1063204" cy="1062141"/>
          </a:xfrm>
          <a:custGeom>
            <a:avLst/>
            <a:gdLst/>
            <a:ahLst/>
            <a:cxnLst/>
            <a:rect r="r" b="b" t="t" l="l"/>
            <a:pathLst>
              <a:path h="1062141" w="1063204">
                <a:moveTo>
                  <a:pt x="0" y="0"/>
                </a:moveTo>
                <a:lnTo>
                  <a:pt x="1063205" y="0"/>
                </a:lnTo>
                <a:lnTo>
                  <a:pt x="1063205" y="1062141"/>
                </a:lnTo>
                <a:lnTo>
                  <a:pt x="0" y="1062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601428" y="5127490"/>
            <a:ext cx="1063204" cy="1062141"/>
          </a:xfrm>
          <a:custGeom>
            <a:avLst/>
            <a:gdLst/>
            <a:ahLst/>
            <a:cxnLst/>
            <a:rect r="r" b="b" t="t" l="l"/>
            <a:pathLst>
              <a:path h="1062141" w="1063204">
                <a:moveTo>
                  <a:pt x="0" y="0"/>
                </a:moveTo>
                <a:lnTo>
                  <a:pt x="1063205" y="0"/>
                </a:lnTo>
                <a:lnTo>
                  <a:pt x="1063205" y="1062141"/>
                </a:lnTo>
                <a:lnTo>
                  <a:pt x="0" y="1062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9609851" y="3211544"/>
            <a:ext cx="857860" cy="857860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04101" y="5127490"/>
            <a:ext cx="857860" cy="857860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09851" y="5127490"/>
            <a:ext cx="857860" cy="857860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-10800000">
            <a:off x="2284383" y="8578303"/>
            <a:ext cx="6500556" cy="570208"/>
          </a:xfrm>
          <a:custGeom>
            <a:avLst/>
            <a:gdLst/>
            <a:ahLst/>
            <a:cxnLst/>
            <a:rect r="r" b="b" t="t" l="l"/>
            <a:pathLst>
              <a:path h="570208" w="6500556">
                <a:moveTo>
                  <a:pt x="0" y="0"/>
                </a:moveTo>
                <a:lnTo>
                  <a:pt x="6500556" y="0"/>
                </a:lnTo>
                <a:lnTo>
                  <a:pt x="6500556" y="570208"/>
                </a:lnTo>
                <a:lnTo>
                  <a:pt x="0" y="57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 l="0" t="0" r="0" b="-121788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-10800000">
            <a:off x="10190133" y="8578303"/>
            <a:ext cx="6500556" cy="570208"/>
          </a:xfrm>
          <a:custGeom>
            <a:avLst/>
            <a:gdLst/>
            <a:ahLst/>
            <a:cxnLst/>
            <a:rect r="r" b="b" t="t" l="l"/>
            <a:pathLst>
              <a:path h="570208" w="6500556">
                <a:moveTo>
                  <a:pt x="0" y="0"/>
                </a:moveTo>
                <a:lnTo>
                  <a:pt x="6500556" y="0"/>
                </a:lnTo>
                <a:lnTo>
                  <a:pt x="6500556" y="570208"/>
                </a:lnTo>
                <a:lnTo>
                  <a:pt x="0" y="57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 l="0" t="0" r="0" b="-121788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2133030" y="7162969"/>
            <a:ext cx="6839975" cy="1580182"/>
            <a:chOff x="0" y="0"/>
            <a:chExt cx="1801475" cy="4161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01475" cy="416180"/>
            </a:xfrm>
            <a:custGeom>
              <a:avLst/>
              <a:gdLst/>
              <a:ahLst/>
              <a:cxnLst/>
              <a:rect r="r" b="b" t="t" l="l"/>
              <a:pathLst>
                <a:path h="416180" w="1801475">
                  <a:moveTo>
                    <a:pt x="18110" y="0"/>
                  </a:moveTo>
                  <a:lnTo>
                    <a:pt x="1783365" y="0"/>
                  </a:lnTo>
                  <a:cubicBezTo>
                    <a:pt x="1788168" y="0"/>
                    <a:pt x="1792774" y="1908"/>
                    <a:pt x="1796171" y="5304"/>
                  </a:cubicBezTo>
                  <a:cubicBezTo>
                    <a:pt x="1799567" y="8700"/>
                    <a:pt x="1801475" y="13307"/>
                    <a:pt x="1801475" y="18110"/>
                  </a:cubicBezTo>
                  <a:lnTo>
                    <a:pt x="1801475" y="398070"/>
                  </a:lnTo>
                  <a:cubicBezTo>
                    <a:pt x="1801475" y="402873"/>
                    <a:pt x="1799567" y="407479"/>
                    <a:pt x="1796171" y="410875"/>
                  </a:cubicBezTo>
                  <a:cubicBezTo>
                    <a:pt x="1792774" y="414272"/>
                    <a:pt x="1788168" y="416180"/>
                    <a:pt x="1783365" y="416180"/>
                  </a:cubicBezTo>
                  <a:lnTo>
                    <a:pt x="18110" y="416180"/>
                  </a:lnTo>
                  <a:cubicBezTo>
                    <a:pt x="8108" y="416180"/>
                    <a:pt x="0" y="408072"/>
                    <a:pt x="0" y="398070"/>
                  </a:cubicBezTo>
                  <a:lnTo>
                    <a:pt x="0" y="18110"/>
                  </a:lnTo>
                  <a:cubicBezTo>
                    <a:pt x="0" y="13307"/>
                    <a:pt x="1908" y="8700"/>
                    <a:pt x="5304" y="5304"/>
                  </a:cubicBezTo>
                  <a:cubicBezTo>
                    <a:pt x="8700" y="1908"/>
                    <a:pt x="13307" y="0"/>
                    <a:pt x="1811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801475" cy="46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038780" y="7162969"/>
            <a:ext cx="6839975" cy="1580182"/>
            <a:chOff x="0" y="0"/>
            <a:chExt cx="1801475" cy="4161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01475" cy="416180"/>
            </a:xfrm>
            <a:custGeom>
              <a:avLst/>
              <a:gdLst/>
              <a:ahLst/>
              <a:cxnLst/>
              <a:rect r="r" b="b" t="t" l="l"/>
              <a:pathLst>
                <a:path h="416180" w="1801475">
                  <a:moveTo>
                    <a:pt x="18110" y="0"/>
                  </a:moveTo>
                  <a:lnTo>
                    <a:pt x="1783365" y="0"/>
                  </a:lnTo>
                  <a:cubicBezTo>
                    <a:pt x="1788168" y="0"/>
                    <a:pt x="1792774" y="1908"/>
                    <a:pt x="1796171" y="5304"/>
                  </a:cubicBezTo>
                  <a:cubicBezTo>
                    <a:pt x="1799567" y="8700"/>
                    <a:pt x="1801475" y="13307"/>
                    <a:pt x="1801475" y="18110"/>
                  </a:cubicBezTo>
                  <a:lnTo>
                    <a:pt x="1801475" y="398070"/>
                  </a:lnTo>
                  <a:cubicBezTo>
                    <a:pt x="1801475" y="402873"/>
                    <a:pt x="1799567" y="407479"/>
                    <a:pt x="1796171" y="410875"/>
                  </a:cubicBezTo>
                  <a:cubicBezTo>
                    <a:pt x="1792774" y="414272"/>
                    <a:pt x="1788168" y="416180"/>
                    <a:pt x="1783365" y="416180"/>
                  </a:cubicBezTo>
                  <a:lnTo>
                    <a:pt x="18110" y="416180"/>
                  </a:lnTo>
                  <a:cubicBezTo>
                    <a:pt x="8108" y="416180"/>
                    <a:pt x="0" y="408072"/>
                    <a:pt x="0" y="398070"/>
                  </a:cubicBezTo>
                  <a:lnTo>
                    <a:pt x="0" y="18110"/>
                  </a:lnTo>
                  <a:cubicBezTo>
                    <a:pt x="0" y="13307"/>
                    <a:pt x="1908" y="8700"/>
                    <a:pt x="5304" y="5304"/>
                  </a:cubicBezTo>
                  <a:cubicBezTo>
                    <a:pt x="8700" y="1908"/>
                    <a:pt x="13307" y="0"/>
                    <a:pt x="1811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801475" cy="46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409245" y="7230360"/>
            <a:ext cx="1634682" cy="1633048"/>
          </a:xfrm>
          <a:custGeom>
            <a:avLst/>
            <a:gdLst/>
            <a:ahLst/>
            <a:cxnLst/>
            <a:rect r="r" b="b" t="t" l="l"/>
            <a:pathLst>
              <a:path h="1633048" w="1634682">
                <a:moveTo>
                  <a:pt x="0" y="0"/>
                </a:moveTo>
                <a:lnTo>
                  <a:pt x="1634682" y="0"/>
                </a:lnTo>
                <a:lnTo>
                  <a:pt x="1634682" y="1633047"/>
                </a:lnTo>
                <a:lnTo>
                  <a:pt x="0" y="1633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9314995" y="7230360"/>
            <a:ext cx="1634682" cy="1633048"/>
          </a:xfrm>
          <a:custGeom>
            <a:avLst/>
            <a:gdLst/>
            <a:ahLst/>
            <a:cxnLst/>
            <a:rect r="r" b="b" t="t" l="l"/>
            <a:pathLst>
              <a:path h="1633048" w="1634682">
                <a:moveTo>
                  <a:pt x="0" y="0"/>
                </a:moveTo>
                <a:lnTo>
                  <a:pt x="1634682" y="0"/>
                </a:lnTo>
                <a:lnTo>
                  <a:pt x="1634682" y="1633047"/>
                </a:lnTo>
                <a:lnTo>
                  <a:pt x="0" y="1633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409245" y="7042712"/>
            <a:ext cx="1447571" cy="1447571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14995" y="7042712"/>
            <a:ext cx="1447571" cy="1447571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E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1601428" y="7046959"/>
            <a:ext cx="1063204" cy="1062141"/>
          </a:xfrm>
          <a:custGeom>
            <a:avLst/>
            <a:gdLst/>
            <a:ahLst/>
            <a:cxnLst/>
            <a:rect r="r" b="b" t="t" l="l"/>
            <a:pathLst>
              <a:path h="1062141" w="1063204">
                <a:moveTo>
                  <a:pt x="0" y="0"/>
                </a:moveTo>
                <a:lnTo>
                  <a:pt x="1063205" y="0"/>
                </a:lnTo>
                <a:lnTo>
                  <a:pt x="1063205" y="1062141"/>
                </a:lnTo>
                <a:lnTo>
                  <a:pt x="0" y="1062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704101" y="7043436"/>
            <a:ext cx="857860" cy="857860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9507178" y="7046959"/>
            <a:ext cx="1063204" cy="1062141"/>
          </a:xfrm>
          <a:custGeom>
            <a:avLst/>
            <a:gdLst/>
            <a:ahLst/>
            <a:cxnLst/>
            <a:rect r="r" b="b" t="t" l="l"/>
            <a:pathLst>
              <a:path h="1062141" w="1063204">
                <a:moveTo>
                  <a:pt x="0" y="0"/>
                </a:moveTo>
                <a:lnTo>
                  <a:pt x="1063205" y="0"/>
                </a:lnTo>
                <a:lnTo>
                  <a:pt x="1063205" y="1062141"/>
                </a:lnTo>
                <a:lnTo>
                  <a:pt x="0" y="1062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9609851" y="7043436"/>
            <a:ext cx="857860" cy="857860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1933005" y="3440449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5" id="75"/>
          <p:cNvSpPr/>
          <p:nvPr/>
        </p:nvSpPr>
        <p:spPr>
          <a:xfrm flipH="false" flipV="false" rot="0">
            <a:off x="1934756" y="5356395"/>
            <a:ext cx="396550" cy="400050"/>
          </a:xfrm>
          <a:custGeom>
            <a:avLst/>
            <a:gdLst/>
            <a:ahLst/>
            <a:cxnLst/>
            <a:rect r="r" b="b" t="t" l="l"/>
            <a:pathLst>
              <a:path h="400050" w="396550">
                <a:moveTo>
                  <a:pt x="0" y="0"/>
                </a:moveTo>
                <a:lnTo>
                  <a:pt x="396549" y="0"/>
                </a:lnTo>
                <a:lnTo>
                  <a:pt x="396549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6" id="76"/>
          <p:cNvSpPr/>
          <p:nvPr/>
        </p:nvSpPr>
        <p:spPr>
          <a:xfrm flipH="false" flipV="false" rot="0">
            <a:off x="1933005" y="7272341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7" id="77"/>
          <p:cNvSpPr/>
          <p:nvPr/>
        </p:nvSpPr>
        <p:spPr>
          <a:xfrm flipH="false" flipV="false" rot="0">
            <a:off x="9838755" y="3440449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8" id="78"/>
          <p:cNvSpPr/>
          <p:nvPr/>
        </p:nvSpPr>
        <p:spPr>
          <a:xfrm flipH="false" flipV="false" rot="0">
            <a:off x="9838755" y="5356395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9" id="79"/>
          <p:cNvSpPr/>
          <p:nvPr/>
        </p:nvSpPr>
        <p:spPr>
          <a:xfrm flipH="false" flipV="false" rot="0">
            <a:off x="9838755" y="7272341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0" id="80"/>
          <p:cNvSpPr txBox="true"/>
          <p:nvPr/>
        </p:nvSpPr>
        <p:spPr>
          <a:xfrm rot="0">
            <a:off x="2477838" y="1623060"/>
            <a:ext cx="1333232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Identifying external organizations and collaborator</a:t>
            </a:r>
            <a:r>
              <a:rPr lang="en-US" sz="20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that strengthen and support the business model.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155908" y="876300"/>
            <a:ext cx="99761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St</a:t>
            </a: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rategic Partner Network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3360520" y="4066240"/>
            <a:ext cx="511314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Entities providing critical goods and services required to sustain daily operations and overall busin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ess continuity.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3360520" y="3588085"/>
            <a:ext cx="511314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Supplie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728470" y="4151661"/>
            <a:ext cx="80912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634220" y="4151661"/>
            <a:ext cx="80912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728470" y="6067607"/>
            <a:ext cx="80912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634220" y="6067607"/>
            <a:ext cx="80912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266270" y="4066240"/>
            <a:ext cx="526421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Organizations delivering systems, tools, and platforms that enhance busin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ess efficiency, and competitive advantages.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266270" y="3588085"/>
            <a:ext cx="511314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Technology Partne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3360520" y="5982186"/>
            <a:ext cx="511314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Partners assisting businesses in reaching customers by expanding distribution networks, and acc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essible points.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360520" y="5504031"/>
            <a:ext cx="511314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Distributo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266270" y="5982186"/>
            <a:ext cx="511314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External advisors offering professional insights and specialized expertise to improve busin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ess strategies.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266270" y="5504031"/>
            <a:ext cx="511314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Consulting Expe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rts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3360520" y="7898132"/>
            <a:ext cx="511314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Collaborators sharing valuable resources and complementary capabilities to accomplish align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ed goals.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3360520" y="7419977"/>
            <a:ext cx="511314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Strategic Allie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s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1266270" y="7898132"/>
            <a:ext cx="526421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Institutions establishing compliance guidelines and legal frameworks, ensuring businesses operate safely.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1266270" y="7419977"/>
            <a:ext cx="511314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Regulatory Bodie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728470" y="7983553"/>
            <a:ext cx="80912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634220" y="7983553"/>
            <a:ext cx="80912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465981" y="4743926"/>
            <a:ext cx="6858000" cy="2323147"/>
          </a:xfrm>
          <a:custGeom>
            <a:avLst/>
            <a:gdLst/>
            <a:ahLst/>
            <a:cxnLst/>
            <a:rect r="r" b="b" t="t" l="l"/>
            <a:pathLst>
              <a:path h="2323147" w="6858000">
                <a:moveTo>
                  <a:pt x="0" y="0"/>
                </a:moveTo>
                <a:lnTo>
                  <a:pt x="6858000" y="0"/>
                </a:lnTo>
                <a:lnTo>
                  <a:pt x="6858000" y="2323148"/>
                </a:lnTo>
                <a:lnTo>
                  <a:pt x="0" y="2323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28515" y="3196627"/>
            <a:ext cx="1914417" cy="1136092"/>
            <a:chOff x="0" y="0"/>
            <a:chExt cx="483401" cy="2868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3401" cy="286869"/>
            </a:xfrm>
            <a:custGeom>
              <a:avLst/>
              <a:gdLst/>
              <a:ahLst/>
              <a:cxnLst/>
              <a:rect r="r" b="b" t="t" l="l"/>
              <a:pathLst>
                <a:path h="286869" w="483401">
                  <a:moveTo>
                    <a:pt x="0" y="0"/>
                  </a:moveTo>
                  <a:lnTo>
                    <a:pt x="483401" y="0"/>
                  </a:lnTo>
                  <a:lnTo>
                    <a:pt x="483401" y="286869"/>
                  </a:lnTo>
                  <a:lnTo>
                    <a:pt x="0" y="286869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3401" cy="33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69972" y="4620834"/>
            <a:ext cx="2372961" cy="1136092"/>
            <a:chOff x="0" y="0"/>
            <a:chExt cx="599185" cy="2868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9185" cy="286869"/>
            </a:xfrm>
            <a:custGeom>
              <a:avLst/>
              <a:gdLst/>
              <a:ahLst/>
              <a:cxnLst/>
              <a:rect r="r" b="b" t="t" l="l"/>
              <a:pathLst>
                <a:path h="286869" w="599185">
                  <a:moveTo>
                    <a:pt x="0" y="0"/>
                  </a:moveTo>
                  <a:lnTo>
                    <a:pt x="599185" y="0"/>
                  </a:lnTo>
                  <a:lnTo>
                    <a:pt x="599185" y="286869"/>
                  </a:lnTo>
                  <a:lnTo>
                    <a:pt x="0" y="286869"/>
                  </a:ln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99185" cy="33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13728" y="6064911"/>
            <a:ext cx="2829204" cy="1136092"/>
            <a:chOff x="0" y="0"/>
            <a:chExt cx="714389" cy="2868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4389" cy="286869"/>
            </a:xfrm>
            <a:custGeom>
              <a:avLst/>
              <a:gdLst/>
              <a:ahLst/>
              <a:cxnLst/>
              <a:rect r="r" b="b" t="t" l="l"/>
              <a:pathLst>
                <a:path h="286869" w="714389">
                  <a:moveTo>
                    <a:pt x="0" y="0"/>
                  </a:moveTo>
                  <a:lnTo>
                    <a:pt x="714389" y="0"/>
                  </a:lnTo>
                  <a:lnTo>
                    <a:pt x="714389" y="286869"/>
                  </a:lnTo>
                  <a:lnTo>
                    <a:pt x="0" y="286869"/>
                  </a:ln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14389" cy="33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57485" y="7489118"/>
            <a:ext cx="3285447" cy="1136092"/>
            <a:chOff x="0" y="0"/>
            <a:chExt cx="829593" cy="2868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593" cy="286869"/>
            </a:xfrm>
            <a:custGeom>
              <a:avLst/>
              <a:gdLst/>
              <a:ahLst/>
              <a:cxnLst/>
              <a:rect r="r" b="b" t="t" l="l"/>
              <a:pathLst>
                <a:path h="286869" w="829593">
                  <a:moveTo>
                    <a:pt x="0" y="0"/>
                  </a:moveTo>
                  <a:lnTo>
                    <a:pt x="829593" y="0"/>
                  </a:lnTo>
                  <a:lnTo>
                    <a:pt x="829593" y="286869"/>
                  </a:lnTo>
                  <a:lnTo>
                    <a:pt x="0" y="286869"/>
                  </a:ln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29593" cy="33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056555" y="3196627"/>
            <a:ext cx="5773710" cy="1136092"/>
            <a:chOff x="0" y="0"/>
            <a:chExt cx="1520648" cy="2992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0648" cy="299218"/>
            </a:xfrm>
            <a:custGeom>
              <a:avLst/>
              <a:gdLst/>
              <a:ahLst/>
              <a:cxnLst/>
              <a:rect r="r" b="b" t="t" l="l"/>
              <a:pathLst>
                <a:path h="299218" w="1520648">
                  <a:moveTo>
                    <a:pt x="0" y="0"/>
                  </a:moveTo>
                  <a:lnTo>
                    <a:pt x="1520648" y="0"/>
                  </a:lnTo>
                  <a:lnTo>
                    <a:pt x="1520648" y="299218"/>
                  </a:lnTo>
                  <a:lnTo>
                    <a:pt x="0" y="2992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520648" cy="346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56555" y="4620834"/>
            <a:ext cx="6440460" cy="1136092"/>
            <a:chOff x="0" y="0"/>
            <a:chExt cx="1696253" cy="2992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96253" cy="299218"/>
            </a:xfrm>
            <a:custGeom>
              <a:avLst/>
              <a:gdLst/>
              <a:ahLst/>
              <a:cxnLst/>
              <a:rect r="r" b="b" t="t" l="l"/>
              <a:pathLst>
                <a:path h="299218" w="1696253">
                  <a:moveTo>
                    <a:pt x="0" y="0"/>
                  </a:moveTo>
                  <a:lnTo>
                    <a:pt x="1696253" y="0"/>
                  </a:lnTo>
                  <a:lnTo>
                    <a:pt x="1696253" y="299218"/>
                  </a:lnTo>
                  <a:lnTo>
                    <a:pt x="0" y="2992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696253" cy="346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056555" y="6045041"/>
            <a:ext cx="7107210" cy="1136092"/>
            <a:chOff x="0" y="0"/>
            <a:chExt cx="1871858" cy="2992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71858" cy="299218"/>
            </a:xfrm>
            <a:custGeom>
              <a:avLst/>
              <a:gdLst/>
              <a:ahLst/>
              <a:cxnLst/>
              <a:rect r="r" b="b" t="t" l="l"/>
              <a:pathLst>
                <a:path h="299218" w="1871858">
                  <a:moveTo>
                    <a:pt x="0" y="0"/>
                  </a:moveTo>
                  <a:lnTo>
                    <a:pt x="1871858" y="0"/>
                  </a:lnTo>
                  <a:lnTo>
                    <a:pt x="1871858" y="299218"/>
                  </a:lnTo>
                  <a:lnTo>
                    <a:pt x="0" y="2992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871858" cy="346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056555" y="7469248"/>
            <a:ext cx="7773960" cy="1136092"/>
            <a:chOff x="0" y="0"/>
            <a:chExt cx="2047463" cy="2992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7463" cy="299218"/>
            </a:xfrm>
            <a:custGeom>
              <a:avLst/>
              <a:gdLst/>
              <a:ahLst/>
              <a:cxnLst/>
              <a:rect r="r" b="b" t="t" l="l"/>
              <a:pathLst>
                <a:path h="299218" w="2047463">
                  <a:moveTo>
                    <a:pt x="0" y="0"/>
                  </a:moveTo>
                  <a:lnTo>
                    <a:pt x="2047463" y="0"/>
                  </a:lnTo>
                  <a:lnTo>
                    <a:pt x="2047463" y="299218"/>
                  </a:lnTo>
                  <a:lnTo>
                    <a:pt x="0" y="2992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47463" cy="346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253475" y="3907901"/>
            <a:ext cx="522565" cy="523875"/>
          </a:xfrm>
          <a:custGeom>
            <a:avLst/>
            <a:gdLst/>
            <a:ahLst/>
            <a:cxnLst/>
            <a:rect r="r" b="b" t="t" l="l"/>
            <a:pathLst>
              <a:path h="523875" w="522565">
                <a:moveTo>
                  <a:pt x="0" y="0"/>
                </a:moveTo>
                <a:lnTo>
                  <a:pt x="522565" y="0"/>
                </a:lnTo>
                <a:lnTo>
                  <a:pt x="52256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253475" y="5314820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7253475" y="6752773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253475" y="8190727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235197" y="1623060"/>
            <a:ext cx="1181760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Mapping out delivery</a:t>
            </a:r>
            <a:r>
              <a:rPr lang="en-US" sz="20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systems that connect products or services with customers in effective ways.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35197" y="876300"/>
            <a:ext cx="1181760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Cust</a:t>
            </a: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omer Channel Pathways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57412" y="8091666"/>
            <a:ext cx="8649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57412" y="6653713"/>
            <a:ext cx="8649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57412" y="5215760"/>
            <a:ext cx="8649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57412" y="3808841"/>
            <a:ext cx="8649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52096" y="3480193"/>
            <a:ext cx="473435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Explain h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ow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tentia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 custome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first discover bu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iness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fferings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through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communic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ion channels.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52096" y="4904400"/>
            <a:ext cx="527816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Sh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ow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how customers receive delive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value in practical, convenient, and accessible formats.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255268" y="3425583"/>
            <a:ext cx="1344789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Awa</a:t>
            </a:r>
            <a:r>
              <a:rPr lang="en-US" b="true" sz="18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reness Stage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796725" y="4832985"/>
            <a:ext cx="120855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4"/>
              </a:lnSpc>
              <a:spcBef>
                <a:spcPct val="0"/>
              </a:spcBef>
            </a:pPr>
            <a:r>
              <a:rPr lang="en-US" b="true" sz="1617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D</a:t>
            </a:r>
            <a:r>
              <a:rPr lang="en-US" b="true" sz="1617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elivery Stage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340481" y="6293867"/>
            <a:ext cx="1344789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Supp</a:t>
            </a:r>
            <a:r>
              <a:rPr lang="en-US" b="true" sz="1800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ort Stage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84238" y="7746649"/>
            <a:ext cx="120855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4"/>
              </a:lnSpc>
              <a:spcBef>
                <a:spcPct val="0"/>
              </a:spcBef>
            </a:pPr>
            <a:r>
              <a:rPr lang="en-US" b="true" sz="1617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Ret</a:t>
            </a:r>
            <a:r>
              <a:rPr lang="en-US" b="true" sz="1617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ention Stage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552096" y="6328607"/>
            <a:ext cx="594491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Cla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rify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post-purchase assistance ensuring smooth experiences, effective resolutions, and str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satisfaction.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52096" y="7752814"/>
            <a:ext cx="678987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Outline strategies encouraging ongoing usage, renewals, repeat purchases, and stronger customer loyalty through consistent engagement.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035" y="2825730"/>
            <a:ext cx="7876765" cy="1885881"/>
            <a:chOff x="0" y="0"/>
            <a:chExt cx="2074539" cy="496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28504" y="0"/>
                  </a:moveTo>
                  <a:lnTo>
                    <a:pt x="2046035" y="0"/>
                  </a:lnTo>
                  <a:cubicBezTo>
                    <a:pt x="2053595" y="0"/>
                    <a:pt x="2060845" y="3003"/>
                    <a:pt x="2066190" y="8348"/>
                  </a:cubicBezTo>
                  <a:cubicBezTo>
                    <a:pt x="2071536" y="13694"/>
                    <a:pt x="2074539" y="20944"/>
                    <a:pt x="2074539" y="28504"/>
                  </a:cubicBezTo>
                  <a:lnTo>
                    <a:pt x="2074539" y="468189"/>
                  </a:lnTo>
                  <a:cubicBezTo>
                    <a:pt x="2074539" y="475749"/>
                    <a:pt x="2071536" y="482999"/>
                    <a:pt x="2066190" y="488344"/>
                  </a:cubicBezTo>
                  <a:cubicBezTo>
                    <a:pt x="2060845" y="493690"/>
                    <a:pt x="2053595" y="496693"/>
                    <a:pt x="2046035" y="496693"/>
                  </a:cubicBezTo>
                  <a:lnTo>
                    <a:pt x="28504" y="496693"/>
                  </a:lnTo>
                  <a:cubicBezTo>
                    <a:pt x="20944" y="496693"/>
                    <a:pt x="13694" y="493690"/>
                    <a:pt x="8348" y="488344"/>
                  </a:cubicBezTo>
                  <a:cubicBezTo>
                    <a:pt x="3003" y="482999"/>
                    <a:pt x="0" y="475749"/>
                    <a:pt x="0" y="468189"/>
                  </a:cubicBezTo>
                  <a:lnTo>
                    <a:pt x="0" y="28504"/>
                  </a:lnTo>
                  <a:cubicBezTo>
                    <a:pt x="0" y="20944"/>
                    <a:pt x="3003" y="13694"/>
                    <a:pt x="8348" y="8348"/>
                  </a:cubicBezTo>
                  <a:cubicBezTo>
                    <a:pt x="13694" y="3003"/>
                    <a:pt x="20944" y="0"/>
                    <a:pt x="28504" y="0"/>
                  </a:cubicBezTo>
                  <a:close/>
                </a:path>
              </a:pathLst>
            </a:custGeom>
            <a:solidFill>
              <a:srgbClr val="122359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3465" y="2825730"/>
            <a:ext cx="7876765" cy="1885881"/>
            <a:chOff x="0" y="0"/>
            <a:chExt cx="2074539" cy="4966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28504" y="0"/>
                  </a:moveTo>
                  <a:lnTo>
                    <a:pt x="2046035" y="0"/>
                  </a:lnTo>
                  <a:cubicBezTo>
                    <a:pt x="2053595" y="0"/>
                    <a:pt x="2060845" y="3003"/>
                    <a:pt x="2066190" y="8348"/>
                  </a:cubicBezTo>
                  <a:cubicBezTo>
                    <a:pt x="2071536" y="13694"/>
                    <a:pt x="2074539" y="20944"/>
                    <a:pt x="2074539" y="28504"/>
                  </a:cubicBezTo>
                  <a:lnTo>
                    <a:pt x="2074539" y="468189"/>
                  </a:lnTo>
                  <a:cubicBezTo>
                    <a:pt x="2074539" y="475749"/>
                    <a:pt x="2071536" y="482999"/>
                    <a:pt x="2066190" y="488344"/>
                  </a:cubicBezTo>
                  <a:cubicBezTo>
                    <a:pt x="2060845" y="493690"/>
                    <a:pt x="2053595" y="496693"/>
                    <a:pt x="2046035" y="496693"/>
                  </a:cubicBezTo>
                  <a:lnTo>
                    <a:pt x="28504" y="496693"/>
                  </a:lnTo>
                  <a:cubicBezTo>
                    <a:pt x="20944" y="496693"/>
                    <a:pt x="13694" y="493690"/>
                    <a:pt x="8348" y="488344"/>
                  </a:cubicBezTo>
                  <a:cubicBezTo>
                    <a:pt x="3003" y="482999"/>
                    <a:pt x="0" y="475749"/>
                    <a:pt x="0" y="468189"/>
                  </a:cubicBezTo>
                  <a:lnTo>
                    <a:pt x="0" y="28504"/>
                  </a:lnTo>
                  <a:cubicBezTo>
                    <a:pt x="0" y="20944"/>
                    <a:pt x="3003" y="13694"/>
                    <a:pt x="8348" y="8348"/>
                  </a:cubicBezTo>
                  <a:cubicBezTo>
                    <a:pt x="13694" y="3003"/>
                    <a:pt x="20944" y="0"/>
                    <a:pt x="28504" y="0"/>
                  </a:cubicBezTo>
                  <a:close/>
                </a:path>
              </a:pathLst>
            </a:custGeom>
            <a:solidFill>
              <a:srgbClr val="F68D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4888798" y="938199"/>
            <a:ext cx="357375" cy="7894099"/>
          </a:xfrm>
          <a:custGeom>
            <a:avLst/>
            <a:gdLst/>
            <a:ahLst/>
            <a:cxnLst/>
            <a:rect r="r" b="b" t="t" l="l"/>
            <a:pathLst>
              <a:path h="7894099" w="357375">
                <a:moveTo>
                  <a:pt x="0" y="0"/>
                </a:moveTo>
                <a:lnTo>
                  <a:pt x="357375" y="0"/>
                </a:lnTo>
                <a:lnTo>
                  <a:pt x="357375" y="7894099"/>
                </a:lnTo>
                <a:lnTo>
                  <a:pt x="0" y="7894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3339229" y="938199"/>
            <a:ext cx="357375" cy="7894099"/>
          </a:xfrm>
          <a:custGeom>
            <a:avLst/>
            <a:gdLst/>
            <a:ahLst/>
            <a:cxnLst/>
            <a:rect r="r" b="b" t="t" l="l"/>
            <a:pathLst>
              <a:path h="7894099" w="357375">
                <a:moveTo>
                  <a:pt x="0" y="0"/>
                </a:moveTo>
                <a:lnTo>
                  <a:pt x="357375" y="0"/>
                </a:lnTo>
                <a:lnTo>
                  <a:pt x="357375" y="7894099"/>
                </a:lnTo>
                <a:lnTo>
                  <a:pt x="0" y="7894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4888798" y="3255969"/>
            <a:ext cx="357375" cy="7894099"/>
          </a:xfrm>
          <a:custGeom>
            <a:avLst/>
            <a:gdLst/>
            <a:ahLst/>
            <a:cxnLst/>
            <a:rect r="r" b="b" t="t" l="l"/>
            <a:pathLst>
              <a:path h="7894099" w="357375">
                <a:moveTo>
                  <a:pt x="0" y="0"/>
                </a:moveTo>
                <a:lnTo>
                  <a:pt x="357375" y="0"/>
                </a:lnTo>
                <a:lnTo>
                  <a:pt x="357375" y="7894099"/>
                </a:lnTo>
                <a:lnTo>
                  <a:pt x="0" y="7894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3339229" y="3255969"/>
            <a:ext cx="357375" cy="7894099"/>
          </a:xfrm>
          <a:custGeom>
            <a:avLst/>
            <a:gdLst/>
            <a:ahLst/>
            <a:cxnLst/>
            <a:rect r="r" b="b" t="t" l="l"/>
            <a:pathLst>
              <a:path h="7894099" w="357375">
                <a:moveTo>
                  <a:pt x="0" y="0"/>
                </a:moveTo>
                <a:lnTo>
                  <a:pt x="357375" y="0"/>
                </a:lnTo>
                <a:lnTo>
                  <a:pt x="357375" y="7894099"/>
                </a:lnTo>
                <a:lnTo>
                  <a:pt x="0" y="7894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4888798" y="5615205"/>
            <a:ext cx="357375" cy="7894099"/>
          </a:xfrm>
          <a:custGeom>
            <a:avLst/>
            <a:gdLst/>
            <a:ahLst/>
            <a:cxnLst/>
            <a:rect r="r" b="b" t="t" l="l"/>
            <a:pathLst>
              <a:path h="7894099" w="357375">
                <a:moveTo>
                  <a:pt x="0" y="0"/>
                </a:moveTo>
                <a:lnTo>
                  <a:pt x="357375" y="0"/>
                </a:lnTo>
                <a:lnTo>
                  <a:pt x="357375" y="7894099"/>
                </a:lnTo>
                <a:lnTo>
                  <a:pt x="0" y="7894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3339229" y="5615205"/>
            <a:ext cx="357375" cy="7894099"/>
          </a:xfrm>
          <a:custGeom>
            <a:avLst/>
            <a:gdLst/>
            <a:ahLst/>
            <a:cxnLst/>
            <a:rect r="r" b="b" t="t" l="l"/>
            <a:pathLst>
              <a:path h="7894099" w="357375">
                <a:moveTo>
                  <a:pt x="0" y="0"/>
                </a:moveTo>
                <a:lnTo>
                  <a:pt x="357375" y="0"/>
                </a:lnTo>
                <a:lnTo>
                  <a:pt x="357375" y="7894099"/>
                </a:lnTo>
                <a:lnTo>
                  <a:pt x="0" y="7894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-771515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23035" y="5143500"/>
            <a:ext cx="7876765" cy="1885881"/>
            <a:chOff x="0" y="0"/>
            <a:chExt cx="2074539" cy="496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28504" y="0"/>
                  </a:moveTo>
                  <a:lnTo>
                    <a:pt x="2046035" y="0"/>
                  </a:lnTo>
                  <a:cubicBezTo>
                    <a:pt x="2053595" y="0"/>
                    <a:pt x="2060845" y="3003"/>
                    <a:pt x="2066190" y="8348"/>
                  </a:cubicBezTo>
                  <a:cubicBezTo>
                    <a:pt x="2071536" y="13694"/>
                    <a:pt x="2074539" y="20944"/>
                    <a:pt x="2074539" y="28504"/>
                  </a:cubicBezTo>
                  <a:lnTo>
                    <a:pt x="2074539" y="468189"/>
                  </a:lnTo>
                  <a:cubicBezTo>
                    <a:pt x="2074539" y="475749"/>
                    <a:pt x="2071536" y="482999"/>
                    <a:pt x="2066190" y="488344"/>
                  </a:cubicBezTo>
                  <a:cubicBezTo>
                    <a:pt x="2060845" y="493690"/>
                    <a:pt x="2053595" y="496693"/>
                    <a:pt x="2046035" y="496693"/>
                  </a:cubicBezTo>
                  <a:lnTo>
                    <a:pt x="28504" y="496693"/>
                  </a:lnTo>
                  <a:cubicBezTo>
                    <a:pt x="20944" y="496693"/>
                    <a:pt x="13694" y="493690"/>
                    <a:pt x="8348" y="488344"/>
                  </a:cubicBezTo>
                  <a:cubicBezTo>
                    <a:pt x="3003" y="482999"/>
                    <a:pt x="0" y="475749"/>
                    <a:pt x="0" y="468189"/>
                  </a:cubicBezTo>
                  <a:lnTo>
                    <a:pt x="0" y="28504"/>
                  </a:lnTo>
                  <a:cubicBezTo>
                    <a:pt x="0" y="20944"/>
                    <a:pt x="3003" y="13694"/>
                    <a:pt x="8348" y="8348"/>
                  </a:cubicBezTo>
                  <a:cubicBezTo>
                    <a:pt x="13694" y="3003"/>
                    <a:pt x="20944" y="0"/>
                    <a:pt x="28504" y="0"/>
                  </a:cubicBezTo>
                  <a:close/>
                </a:path>
              </a:pathLst>
            </a:custGeom>
            <a:solidFill>
              <a:srgbClr val="3C619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73465" y="5143500"/>
            <a:ext cx="7876765" cy="1885881"/>
            <a:chOff x="0" y="0"/>
            <a:chExt cx="2074539" cy="4966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28504" y="0"/>
                  </a:moveTo>
                  <a:lnTo>
                    <a:pt x="2046035" y="0"/>
                  </a:lnTo>
                  <a:cubicBezTo>
                    <a:pt x="2053595" y="0"/>
                    <a:pt x="2060845" y="3003"/>
                    <a:pt x="2066190" y="8348"/>
                  </a:cubicBezTo>
                  <a:cubicBezTo>
                    <a:pt x="2071536" y="13694"/>
                    <a:pt x="2074539" y="20944"/>
                    <a:pt x="2074539" y="28504"/>
                  </a:cubicBezTo>
                  <a:lnTo>
                    <a:pt x="2074539" y="468189"/>
                  </a:lnTo>
                  <a:cubicBezTo>
                    <a:pt x="2074539" y="475749"/>
                    <a:pt x="2071536" y="482999"/>
                    <a:pt x="2066190" y="488344"/>
                  </a:cubicBezTo>
                  <a:cubicBezTo>
                    <a:pt x="2060845" y="493690"/>
                    <a:pt x="2053595" y="496693"/>
                    <a:pt x="2046035" y="496693"/>
                  </a:cubicBezTo>
                  <a:lnTo>
                    <a:pt x="28504" y="496693"/>
                  </a:lnTo>
                  <a:cubicBezTo>
                    <a:pt x="20944" y="496693"/>
                    <a:pt x="13694" y="493690"/>
                    <a:pt x="8348" y="488344"/>
                  </a:cubicBezTo>
                  <a:cubicBezTo>
                    <a:pt x="3003" y="482999"/>
                    <a:pt x="0" y="475749"/>
                    <a:pt x="0" y="468189"/>
                  </a:cubicBezTo>
                  <a:lnTo>
                    <a:pt x="0" y="28504"/>
                  </a:lnTo>
                  <a:cubicBezTo>
                    <a:pt x="0" y="20944"/>
                    <a:pt x="3003" y="13694"/>
                    <a:pt x="8348" y="8348"/>
                  </a:cubicBezTo>
                  <a:cubicBezTo>
                    <a:pt x="13694" y="3003"/>
                    <a:pt x="20944" y="0"/>
                    <a:pt x="28504" y="0"/>
                  </a:cubicBezTo>
                  <a:close/>
                </a:path>
              </a:pathLst>
            </a:custGeom>
            <a:solidFill>
              <a:srgbClr val="E7DED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5400000">
            <a:off x="335830" y="3632221"/>
            <a:ext cx="1649230" cy="499450"/>
          </a:xfrm>
          <a:custGeom>
            <a:avLst/>
            <a:gdLst/>
            <a:ahLst/>
            <a:cxnLst/>
            <a:rect r="r" b="b" t="t" l="l"/>
            <a:pathLst>
              <a:path h="499450" w="1649230">
                <a:moveTo>
                  <a:pt x="0" y="0"/>
                </a:moveTo>
                <a:lnTo>
                  <a:pt x="1649230" y="0"/>
                </a:lnTo>
                <a:lnTo>
                  <a:pt x="1649230" y="499450"/>
                </a:lnTo>
                <a:lnTo>
                  <a:pt x="0" y="49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67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8794195" y="3632221"/>
            <a:ext cx="1649230" cy="499450"/>
          </a:xfrm>
          <a:custGeom>
            <a:avLst/>
            <a:gdLst/>
            <a:ahLst/>
            <a:cxnLst/>
            <a:rect r="r" b="b" t="t" l="l"/>
            <a:pathLst>
              <a:path h="499450" w="1649230">
                <a:moveTo>
                  <a:pt x="0" y="0"/>
                </a:moveTo>
                <a:lnTo>
                  <a:pt x="1649231" y="0"/>
                </a:lnTo>
                <a:lnTo>
                  <a:pt x="1649231" y="499450"/>
                </a:lnTo>
                <a:lnTo>
                  <a:pt x="0" y="49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67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333305" y="5952516"/>
            <a:ext cx="1654280" cy="499450"/>
          </a:xfrm>
          <a:custGeom>
            <a:avLst/>
            <a:gdLst/>
            <a:ahLst/>
            <a:cxnLst/>
            <a:rect r="r" b="b" t="t" l="l"/>
            <a:pathLst>
              <a:path h="499450" w="1654280">
                <a:moveTo>
                  <a:pt x="0" y="0"/>
                </a:moveTo>
                <a:lnTo>
                  <a:pt x="1654280" y="0"/>
                </a:lnTo>
                <a:lnTo>
                  <a:pt x="1654280" y="499449"/>
                </a:lnTo>
                <a:lnTo>
                  <a:pt x="0" y="499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14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8791670" y="5952516"/>
            <a:ext cx="1654280" cy="499450"/>
          </a:xfrm>
          <a:custGeom>
            <a:avLst/>
            <a:gdLst/>
            <a:ahLst/>
            <a:cxnLst/>
            <a:rect r="r" b="b" t="t" l="l"/>
            <a:pathLst>
              <a:path h="499450" w="1654280">
                <a:moveTo>
                  <a:pt x="0" y="0"/>
                </a:moveTo>
                <a:lnTo>
                  <a:pt x="1654281" y="0"/>
                </a:lnTo>
                <a:lnTo>
                  <a:pt x="1654281" y="499449"/>
                </a:lnTo>
                <a:lnTo>
                  <a:pt x="0" y="499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14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11230" y="3057331"/>
            <a:ext cx="7903305" cy="1848651"/>
            <a:chOff x="0" y="0"/>
            <a:chExt cx="2081529" cy="4868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28408" y="0"/>
                  </a:moveTo>
                  <a:lnTo>
                    <a:pt x="2053121" y="0"/>
                  </a:lnTo>
                  <a:cubicBezTo>
                    <a:pt x="2068810" y="0"/>
                    <a:pt x="2081529" y="12719"/>
                    <a:pt x="2081529" y="28408"/>
                  </a:cubicBezTo>
                  <a:lnTo>
                    <a:pt x="2081529" y="458480"/>
                  </a:lnTo>
                  <a:cubicBezTo>
                    <a:pt x="2081529" y="466014"/>
                    <a:pt x="2078536" y="473240"/>
                    <a:pt x="2073209" y="478567"/>
                  </a:cubicBezTo>
                  <a:cubicBezTo>
                    <a:pt x="2067881" y="483895"/>
                    <a:pt x="2060655" y="486888"/>
                    <a:pt x="2053121" y="486888"/>
                  </a:cubicBezTo>
                  <a:lnTo>
                    <a:pt x="28408" y="486888"/>
                  </a:lnTo>
                  <a:cubicBezTo>
                    <a:pt x="12719" y="486888"/>
                    <a:pt x="0" y="474169"/>
                    <a:pt x="0" y="458480"/>
                  </a:cubicBezTo>
                  <a:lnTo>
                    <a:pt x="0" y="28408"/>
                  </a:lnTo>
                  <a:cubicBezTo>
                    <a:pt x="0" y="20874"/>
                    <a:pt x="2993" y="13648"/>
                    <a:pt x="8320" y="8320"/>
                  </a:cubicBezTo>
                  <a:cubicBezTo>
                    <a:pt x="13648" y="2993"/>
                    <a:pt x="20874" y="0"/>
                    <a:pt x="284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61661" y="3057331"/>
            <a:ext cx="7903305" cy="1848651"/>
            <a:chOff x="0" y="0"/>
            <a:chExt cx="2081529" cy="4868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28408" y="0"/>
                  </a:moveTo>
                  <a:lnTo>
                    <a:pt x="2053121" y="0"/>
                  </a:lnTo>
                  <a:cubicBezTo>
                    <a:pt x="2068810" y="0"/>
                    <a:pt x="2081529" y="12719"/>
                    <a:pt x="2081529" y="28408"/>
                  </a:cubicBezTo>
                  <a:lnTo>
                    <a:pt x="2081529" y="458480"/>
                  </a:lnTo>
                  <a:cubicBezTo>
                    <a:pt x="2081529" y="466014"/>
                    <a:pt x="2078536" y="473240"/>
                    <a:pt x="2073209" y="478567"/>
                  </a:cubicBezTo>
                  <a:cubicBezTo>
                    <a:pt x="2067881" y="483895"/>
                    <a:pt x="2060655" y="486888"/>
                    <a:pt x="2053121" y="486888"/>
                  </a:cubicBezTo>
                  <a:lnTo>
                    <a:pt x="28408" y="486888"/>
                  </a:lnTo>
                  <a:cubicBezTo>
                    <a:pt x="12719" y="486888"/>
                    <a:pt x="0" y="474169"/>
                    <a:pt x="0" y="458480"/>
                  </a:cubicBezTo>
                  <a:lnTo>
                    <a:pt x="0" y="28408"/>
                  </a:lnTo>
                  <a:cubicBezTo>
                    <a:pt x="0" y="20874"/>
                    <a:pt x="2993" y="13648"/>
                    <a:pt x="8320" y="8320"/>
                  </a:cubicBezTo>
                  <a:cubicBezTo>
                    <a:pt x="13648" y="2993"/>
                    <a:pt x="20874" y="0"/>
                    <a:pt x="284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11230" y="5375101"/>
            <a:ext cx="7903305" cy="1848651"/>
            <a:chOff x="0" y="0"/>
            <a:chExt cx="2081529" cy="4868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28408" y="0"/>
                  </a:moveTo>
                  <a:lnTo>
                    <a:pt x="2053121" y="0"/>
                  </a:lnTo>
                  <a:cubicBezTo>
                    <a:pt x="2068810" y="0"/>
                    <a:pt x="2081529" y="12719"/>
                    <a:pt x="2081529" y="28408"/>
                  </a:cubicBezTo>
                  <a:lnTo>
                    <a:pt x="2081529" y="458480"/>
                  </a:lnTo>
                  <a:cubicBezTo>
                    <a:pt x="2081529" y="466014"/>
                    <a:pt x="2078536" y="473240"/>
                    <a:pt x="2073209" y="478567"/>
                  </a:cubicBezTo>
                  <a:cubicBezTo>
                    <a:pt x="2067881" y="483895"/>
                    <a:pt x="2060655" y="486888"/>
                    <a:pt x="2053121" y="486888"/>
                  </a:cubicBezTo>
                  <a:lnTo>
                    <a:pt x="28408" y="486888"/>
                  </a:lnTo>
                  <a:cubicBezTo>
                    <a:pt x="12719" y="486888"/>
                    <a:pt x="0" y="474169"/>
                    <a:pt x="0" y="458480"/>
                  </a:cubicBezTo>
                  <a:lnTo>
                    <a:pt x="0" y="28408"/>
                  </a:lnTo>
                  <a:cubicBezTo>
                    <a:pt x="0" y="20874"/>
                    <a:pt x="2993" y="13648"/>
                    <a:pt x="8320" y="8320"/>
                  </a:cubicBezTo>
                  <a:cubicBezTo>
                    <a:pt x="13648" y="2993"/>
                    <a:pt x="20874" y="0"/>
                    <a:pt x="284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61661" y="5375101"/>
            <a:ext cx="7903305" cy="1848651"/>
            <a:chOff x="0" y="0"/>
            <a:chExt cx="2081529" cy="4868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28408" y="0"/>
                  </a:moveTo>
                  <a:lnTo>
                    <a:pt x="2053121" y="0"/>
                  </a:lnTo>
                  <a:cubicBezTo>
                    <a:pt x="2068810" y="0"/>
                    <a:pt x="2081529" y="12719"/>
                    <a:pt x="2081529" y="28408"/>
                  </a:cubicBezTo>
                  <a:lnTo>
                    <a:pt x="2081529" y="458480"/>
                  </a:lnTo>
                  <a:cubicBezTo>
                    <a:pt x="2081529" y="466014"/>
                    <a:pt x="2078536" y="473240"/>
                    <a:pt x="2073209" y="478567"/>
                  </a:cubicBezTo>
                  <a:cubicBezTo>
                    <a:pt x="2067881" y="483895"/>
                    <a:pt x="2060655" y="486888"/>
                    <a:pt x="2053121" y="486888"/>
                  </a:cubicBezTo>
                  <a:lnTo>
                    <a:pt x="28408" y="486888"/>
                  </a:lnTo>
                  <a:cubicBezTo>
                    <a:pt x="12719" y="486888"/>
                    <a:pt x="0" y="474169"/>
                    <a:pt x="0" y="458480"/>
                  </a:cubicBezTo>
                  <a:lnTo>
                    <a:pt x="0" y="28408"/>
                  </a:lnTo>
                  <a:cubicBezTo>
                    <a:pt x="0" y="20874"/>
                    <a:pt x="2993" y="13648"/>
                    <a:pt x="8320" y="8320"/>
                  </a:cubicBezTo>
                  <a:cubicBezTo>
                    <a:pt x="13648" y="2993"/>
                    <a:pt x="20874" y="0"/>
                    <a:pt x="284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1282722" y="3745772"/>
            <a:ext cx="794347" cy="1137331"/>
            <a:chOff x="0" y="0"/>
            <a:chExt cx="660400" cy="9455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5400000">
            <a:off x="9733153" y="3745772"/>
            <a:ext cx="794347" cy="1137331"/>
            <a:chOff x="0" y="0"/>
            <a:chExt cx="660400" cy="9455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5400000">
            <a:off x="1282722" y="6063541"/>
            <a:ext cx="794347" cy="1137331"/>
            <a:chOff x="0" y="0"/>
            <a:chExt cx="660400" cy="9455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9733153" y="6063541"/>
            <a:ext cx="794347" cy="1137331"/>
            <a:chOff x="0" y="0"/>
            <a:chExt cx="660400" cy="9455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3035" y="7461270"/>
            <a:ext cx="7876765" cy="1885881"/>
            <a:chOff x="0" y="0"/>
            <a:chExt cx="2074539" cy="4966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28504" y="0"/>
                  </a:moveTo>
                  <a:lnTo>
                    <a:pt x="2046035" y="0"/>
                  </a:lnTo>
                  <a:cubicBezTo>
                    <a:pt x="2053595" y="0"/>
                    <a:pt x="2060845" y="3003"/>
                    <a:pt x="2066190" y="8348"/>
                  </a:cubicBezTo>
                  <a:cubicBezTo>
                    <a:pt x="2071536" y="13694"/>
                    <a:pt x="2074539" y="20944"/>
                    <a:pt x="2074539" y="28504"/>
                  </a:cubicBezTo>
                  <a:lnTo>
                    <a:pt x="2074539" y="468189"/>
                  </a:lnTo>
                  <a:cubicBezTo>
                    <a:pt x="2074539" y="475749"/>
                    <a:pt x="2071536" y="482999"/>
                    <a:pt x="2066190" y="488344"/>
                  </a:cubicBezTo>
                  <a:cubicBezTo>
                    <a:pt x="2060845" y="493690"/>
                    <a:pt x="2053595" y="496693"/>
                    <a:pt x="2046035" y="496693"/>
                  </a:cubicBezTo>
                  <a:lnTo>
                    <a:pt x="28504" y="496693"/>
                  </a:lnTo>
                  <a:cubicBezTo>
                    <a:pt x="20944" y="496693"/>
                    <a:pt x="13694" y="493690"/>
                    <a:pt x="8348" y="488344"/>
                  </a:cubicBezTo>
                  <a:cubicBezTo>
                    <a:pt x="3003" y="482999"/>
                    <a:pt x="0" y="475749"/>
                    <a:pt x="0" y="468189"/>
                  </a:cubicBezTo>
                  <a:lnTo>
                    <a:pt x="0" y="28504"/>
                  </a:lnTo>
                  <a:cubicBezTo>
                    <a:pt x="0" y="20944"/>
                    <a:pt x="3003" y="13694"/>
                    <a:pt x="8348" y="8348"/>
                  </a:cubicBezTo>
                  <a:cubicBezTo>
                    <a:pt x="13694" y="3003"/>
                    <a:pt x="20944" y="0"/>
                    <a:pt x="28504" y="0"/>
                  </a:cubicBezTo>
                  <a:close/>
                </a:path>
              </a:pathLst>
            </a:custGeom>
            <a:solidFill>
              <a:srgbClr val="BEC8D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273465" y="7461270"/>
            <a:ext cx="7876765" cy="1885881"/>
            <a:chOff x="0" y="0"/>
            <a:chExt cx="2074539" cy="49669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28504" y="0"/>
                  </a:moveTo>
                  <a:lnTo>
                    <a:pt x="2046035" y="0"/>
                  </a:lnTo>
                  <a:cubicBezTo>
                    <a:pt x="2053595" y="0"/>
                    <a:pt x="2060845" y="3003"/>
                    <a:pt x="2066190" y="8348"/>
                  </a:cubicBezTo>
                  <a:cubicBezTo>
                    <a:pt x="2071536" y="13694"/>
                    <a:pt x="2074539" y="20944"/>
                    <a:pt x="2074539" y="28504"/>
                  </a:cubicBezTo>
                  <a:lnTo>
                    <a:pt x="2074539" y="468189"/>
                  </a:lnTo>
                  <a:cubicBezTo>
                    <a:pt x="2074539" y="475749"/>
                    <a:pt x="2071536" y="482999"/>
                    <a:pt x="2066190" y="488344"/>
                  </a:cubicBezTo>
                  <a:cubicBezTo>
                    <a:pt x="2060845" y="493690"/>
                    <a:pt x="2053595" y="496693"/>
                    <a:pt x="2046035" y="496693"/>
                  </a:cubicBezTo>
                  <a:lnTo>
                    <a:pt x="28504" y="496693"/>
                  </a:lnTo>
                  <a:cubicBezTo>
                    <a:pt x="20944" y="496693"/>
                    <a:pt x="13694" y="493690"/>
                    <a:pt x="8348" y="488344"/>
                  </a:cubicBezTo>
                  <a:cubicBezTo>
                    <a:pt x="3003" y="482999"/>
                    <a:pt x="0" y="475749"/>
                    <a:pt x="0" y="468189"/>
                  </a:cubicBezTo>
                  <a:lnTo>
                    <a:pt x="0" y="28504"/>
                  </a:lnTo>
                  <a:cubicBezTo>
                    <a:pt x="0" y="20944"/>
                    <a:pt x="3003" y="13694"/>
                    <a:pt x="8348" y="8348"/>
                  </a:cubicBezTo>
                  <a:cubicBezTo>
                    <a:pt x="13694" y="3003"/>
                    <a:pt x="20944" y="0"/>
                    <a:pt x="28504" y="0"/>
                  </a:cubicBezTo>
                  <a:close/>
                </a:path>
              </a:pathLst>
            </a:custGeom>
            <a:solidFill>
              <a:srgbClr val="FBF6E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-5400000">
            <a:off x="333305" y="8270285"/>
            <a:ext cx="1654280" cy="499450"/>
          </a:xfrm>
          <a:custGeom>
            <a:avLst/>
            <a:gdLst/>
            <a:ahLst/>
            <a:cxnLst/>
            <a:rect r="r" b="b" t="t" l="l"/>
            <a:pathLst>
              <a:path h="499450" w="1654280">
                <a:moveTo>
                  <a:pt x="0" y="0"/>
                </a:moveTo>
                <a:lnTo>
                  <a:pt x="1654280" y="0"/>
                </a:lnTo>
                <a:lnTo>
                  <a:pt x="1654280" y="499450"/>
                </a:lnTo>
                <a:lnTo>
                  <a:pt x="0" y="49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14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-5400000">
            <a:off x="8791670" y="8270285"/>
            <a:ext cx="1654280" cy="499450"/>
          </a:xfrm>
          <a:custGeom>
            <a:avLst/>
            <a:gdLst/>
            <a:ahLst/>
            <a:cxnLst/>
            <a:rect r="r" b="b" t="t" l="l"/>
            <a:pathLst>
              <a:path h="499450" w="1654280">
                <a:moveTo>
                  <a:pt x="0" y="0"/>
                </a:moveTo>
                <a:lnTo>
                  <a:pt x="1654281" y="0"/>
                </a:lnTo>
                <a:lnTo>
                  <a:pt x="1654281" y="499450"/>
                </a:lnTo>
                <a:lnTo>
                  <a:pt x="0" y="49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14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111230" y="7692870"/>
            <a:ext cx="7903305" cy="1848651"/>
            <a:chOff x="0" y="0"/>
            <a:chExt cx="2081529" cy="4868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28408" y="0"/>
                  </a:moveTo>
                  <a:lnTo>
                    <a:pt x="2053121" y="0"/>
                  </a:lnTo>
                  <a:cubicBezTo>
                    <a:pt x="2068810" y="0"/>
                    <a:pt x="2081529" y="12719"/>
                    <a:pt x="2081529" y="28408"/>
                  </a:cubicBezTo>
                  <a:lnTo>
                    <a:pt x="2081529" y="458480"/>
                  </a:lnTo>
                  <a:cubicBezTo>
                    <a:pt x="2081529" y="466014"/>
                    <a:pt x="2078536" y="473240"/>
                    <a:pt x="2073209" y="478567"/>
                  </a:cubicBezTo>
                  <a:cubicBezTo>
                    <a:pt x="2067881" y="483895"/>
                    <a:pt x="2060655" y="486888"/>
                    <a:pt x="2053121" y="486888"/>
                  </a:cubicBezTo>
                  <a:lnTo>
                    <a:pt x="28408" y="486888"/>
                  </a:lnTo>
                  <a:cubicBezTo>
                    <a:pt x="12719" y="486888"/>
                    <a:pt x="0" y="474169"/>
                    <a:pt x="0" y="458480"/>
                  </a:cubicBezTo>
                  <a:lnTo>
                    <a:pt x="0" y="28408"/>
                  </a:lnTo>
                  <a:cubicBezTo>
                    <a:pt x="0" y="20874"/>
                    <a:pt x="2993" y="13648"/>
                    <a:pt x="8320" y="8320"/>
                  </a:cubicBezTo>
                  <a:cubicBezTo>
                    <a:pt x="13648" y="2993"/>
                    <a:pt x="20874" y="0"/>
                    <a:pt x="284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61661" y="7692870"/>
            <a:ext cx="7903305" cy="1848651"/>
            <a:chOff x="0" y="0"/>
            <a:chExt cx="2081529" cy="4868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28408" y="0"/>
                  </a:moveTo>
                  <a:lnTo>
                    <a:pt x="2053121" y="0"/>
                  </a:lnTo>
                  <a:cubicBezTo>
                    <a:pt x="2068810" y="0"/>
                    <a:pt x="2081529" y="12719"/>
                    <a:pt x="2081529" y="28408"/>
                  </a:cubicBezTo>
                  <a:lnTo>
                    <a:pt x="2081529" y="458480"/>
                  </a:lnTo>
                  <a:cubicBezTo>
                    <a:pt x="2081529" y="466014"/>
                    <a:pt x="2078536" y="473240"/>
                    <a:pt x="2073209" y="478567"/>
                  </a:cubicBezTo>
                  <a:cubicBezTo>
                    <a:pt x="2067881" y="483895"/>
                    <a:pt x="2060655" y="486888"/>
                    <a:pt x="2053121" y="486888"/>
                  </a:cubicBezTo>
                  <a:lnTo>
                    <a:pt x="28408" y="486888"/>
                  </a:lnTo>
                  <a:cubicBezTo>
                    <a:pt x="12719" y="486888"/>
                    <a:pt x="0" y="474169"/>
                    <a:pt x="0" y="458480"/>
                  </a:cubicBezTo>
                  <a:lnTo>
                    <a:pt x="0" y="28408"/>
                  </a:lnTo>
                  <a:cubicBezTo>
                    <a:pt x="0" y="20874"/>
                    <a:pt x="2993" y="13648"/>
                    <a:pt x="8320" y="8320"/>
                  </a:cubicBezTo>
                  <a:cubicBezTo>
                    <a:pt x="13648" y="2993"/>
                    <a:pt x="20874" y="0"/>
                    <a:pt x="284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5400000">
            <a:off x="1282722" y="8381311"/>
            <a:ext cx="794347" cy="1137331"/>
            <a:chOff x="0" y="0"/>
            <a:chExt cx="660400" cy="9455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5400000">
            <a:off x="9733153" y="8381311"/>
            <a:ext cx="794347" cy="1137331"/>
            <a:chOff x="0" y="0"/>
            <a:chExt cx="660400" cy="9455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FBF6E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9868535" y="3279089"/>
            <a:ext cx="475059" cy="476250"/>
          </a:xfrm>
          <a:custGeom>
            <a:avLst/>
            <a:gdLst/>
            <a:ahLst/>
            <a:cxnLst/>
            <a:rect r="r" b="b" t="t" l="l"/>
            <a:pathLst>
              <a:path h="476250" w="475059">
                <a:moveTo>
                  <a:pt x="0" y="0"/>
                </a:moveTo>
                <a:lnTo>
                  <a:pt x="475060" y="0"/>
                </a:lnTo>
                <a:lnTo>
                  <a:pt x="47506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9" id="69"/>
          <p:cNvSpPr txBox="true"/>
          <p:nvPr/>
        </p:nvSpPr>
        <p:spPr>
          <a:xfrm rot="0">
            <a:off x="2467312" y="1623060"/>
            <a:ext cx="1335337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Summarizing core building blocks into six connected parts for a clear business overview.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155908" y="876300"/>
            <a:ext cx="99761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</a:t>
            </a: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omplete Business Canvas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74920" y="3964870"/>
            <a:ext cx="80995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725351" y="3964870"/>
            <a:ext cx="80995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74920" y="6282639"/>
            <a:ext cx="80995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725351" y="6282639"/>
            <a:ext cx="80995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601618" y="3926729"/>
            <a:ext cx="586186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Covers customer segments, relationships, and channels to define how businesses reach, serve, and engage audiences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effectively.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601618" y="3448574"/>
            <a:ext cx="586186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Cust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omer Focus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051417" y="3926729"/>
            <a:ext cx="586186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Lists essential assets—human, financial, physical, and intellectual—empowering operations, driving growth, and enabling 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success.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051417" y="3448574"/>
            <a:ext cx="586186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Key Res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ources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601618" y="6244498"/>
            <a:ext cx="586186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Explains unique offerings that effectively solve customer problems and fulfill needs more successfully than alterna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tives.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601618" y="5766344"/>
            <a:ext cx="586186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Valu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 Proposition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051417" y="6244498"/>
            <a:ext cx="586186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Defines crucial actions required to design, produce, distribute, and consistently deliver meaningful value directly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to customers.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051417" y="5766344"/>
            <a:ext cx="586186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K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ey Activities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74920" y="8600409"/>
            <a:ext cx="80995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725351" y="8600409"/>
            <a:ext cx="80995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601618" y="8562268"/>
            <a:ext cx="586186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Details main income sources sustaining operations, ensuring profitability, and supporting business growth with 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stability.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601618" y="8084113"/>
            <a:ext cx="586186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Revenue Str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eams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051417" y="8562268"/>
            <a:ext cx="586186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Summarizes major expenses influencing operations, shaping partnerships, supporting strategies, and guiding 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planning.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051417" y="8084113"/>
            <a:ext cx="586186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Cost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 Structure</a:t>
            </a:r>
          </a:p>
        </p:txBody>
      </p:sp>
      <p:sp>
        <p:nvSpPr>
          <p:cNvPr name="Freeform 89" id="89"/>
          <p:cNvSpPr/>
          <p:nvPr/>
        </p:nvSpPr>
        <p:spPr>
          <a:xfrm flipH="false" flipV="false" rot="0">
            <a:off x="1410170" y="3279089"/>
            <a:ext cx="477444" cy="476250"/>
          </a:xfrm>
          <a:custGeom>
            <a:avLst/>
            <a:gdLst/>
            <a:ahLst/>
            <a:cxnLst/>
            <a:rect r="r" b="b" t="t" l="l"/>
            <a:pathLst>
              <a:path h="476250" w="477444">
                <a:moveTo>
                  <a:pt x="0" y="0"/>
                </a:moveTo>
                <a:lnTo>
                  <a:pt x="477443" y="0"/>
                </a:lnTo>
                <a:lnTo>
                  <a:pt x="477443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0" id="90"/>
          <p:cNvSpPr/>
          <p:nvPr/>
        </p:nvSpPr>
        <p:spPr>
          <a:xfrm flipH="false" flipV="false" rot="0">
            <a:off x="1410170" y="5596858"/>
            <a:ext cx="475059" cy="476250"/>
          </a:xfrm>
          <a:custGeom>
            <a:avLst/>
            <a:gdLst/>
            <a:ahLst/>
            <a:cxnLst/>
            <a:rect r="r" b="b" t="t" l="l"/>
            <a:pathLst>
              <a:path h="476250" w="475059">
                <a:moveTo>
                  <a:pt x="0" y="0"/>
                </a:moveTo>
                <a:lnTo>
                  <a:pt x="475059" y="0"/>
                </a:lnTo>
                <a:lnTo>
                  <a:pt x="475059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1" id="91"/>
          <p:cNvSpPr/>
          <p:nvPr/>
        </p:nvSpPr>
        <p:spPr>
          <a:xfrm flipH="false" flipV="false" rot="0">
            <a:off x="1408979" y="7914628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2" id="92"/>
          <p:cNvSpPr/>
          <p:nvPr/>
        </p:nvSpPr>
        <p:spPr>
          <a:xfrm flipH="false" flipV="false" rot="0">
            <a:off x="9868535" y="5596858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3" id="93"/>
          <p:cNvSpPr/>
          <p:nvPr/>
        </p:nvSpPr>
        <p:spPr>
          <a:xfrm flipH="false" flipV="false" rot="0">
            <a:off x="9867345" y="7914628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2356425"/>
            <a:ext cx="3261107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Identifying the key sources of</a:t>
            </a:r>
            <a:r>
              <a:rPr lang="en-US" sz="20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expenses that shape financial planning within the business model.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876300"/>
            <a:ext cx="3439309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Busin</a:t>
            </a: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ess Cost Structure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114876" y="2404050"/>
            <a:ext cx="5601990" cy="379278"/>
          </a:xfrm>
          <a:custGeom>
            <a:avLst/>
            <a:gdLst/>
            <a:ahLst/>
            <a:cxnLst/>
            <a:rect r="r" b="b" t="t" l="l"/>
            <a:pathLst>
              <a:path h="379278" w="5601990">
                <a:moveTo>
                  <a:pt x="0" y="0"/>
                </a:moveTo>
                <a:lnTo>
                  <a:pt x="5601990" y="0"/>
                </a:lnTo>
                <a:lnTo>
                  <a:pt x="5601990" y="379277"/>
                </a:lnTo>
                <a:lnTo>
                  <a:pt x="0" y="379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4" t="-71094" r="-56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14876" y="4100023"/>
            <a:ext cx="5601990" cy="379278"/>
          </a:xfrm>
          <a:custGeom>
            <a:avLst/>
            <a:gdLst/>
            <a:ahLst/>
            <a:cxnLst/>
            <a:rect r="r" b="b" t="t" l="l"/>
            <a:pathLst>
              <a:path h="379278" w="5601990">
                <a:moveTo>
                  <a:pt x="0" y="0"/>
                </a:moveTo>
                <a:lnTo>
                  <a:pt x="5601990" y="0"/>
                </a:lnTo>
                <a:lnTo>
                  <a:pt x="5601990" y="379277"/>
                </a:lnTo>
                <a:lnTo>
                  <a:pt x="0" y="379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4" t="-71094" r="-564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114876" y="953521"/>
            <a:ext cx="5601990" cy="1581482"/>
            <a:chOff x="0" y="0"/>
            <a:chExt cx="1475421" cy="4165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5421" cy="416522"/>
            </a:xfrm>
            <a:custGeom>
              <a:avLst/>
              <a:gdLst/>
              <a:ahLst/>
              <a:cxnLst/>
              <a:rect r="r" b="b" t="t" l="l"/>
              <a:pathLst>
                <a:path h="416522" w="1475421">
                  <a:moveTo>
                    <a:pt x="0" y="0"/>
                  </a:moveTo>
                  <a:lnTo>
                    <a:pt x="1475421" y="0"/>
                  </a:lnTo>
                  <a:lnTo>
                    <a:pt x="1475421" y="416522"/>
                  </a:lnTo>
                  <a:lnTo>
                    <a:pt x="0" y="4165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75421" cy="46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14876" y="2652374"/>
            <a:ext cx="5601990" cy="1581482"/>
            <a:chOff x="0" y="0"/>
            <a:chExt cx="1475421" cy="4165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75421" cy="416522"/>
            </a:xfrm>
            <a:custGeom>
              <a:avLst/>
              <a:gdLst/>
              <a:ahLst/>
              <a:cxnLst/>
              <a:rect r="r" b="b" t="t" l="l"/>
              <a:pathLst>
                <a:path h="416522" w="1475421">
                  <a:moveTo>
                    <a:pt x="0" y="0"/>
                  </a:moveTo>
                  <a:lnTo>
                    <a:pt x="1475421" y="0"/>
                  </a:lnTo>
                  <a:lnTo>
                    <a:pt x="1475421" y="416522"/>
                  </a:lnTo>
                  <a:lnTo>
                    <a:pt x="0" y="4165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75421" cy="46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114876" y="5795996"/>
            <a:ext cx="5601990" cy="379278"/>
          </a:xfrm>
          <a:custGeom>
            <a:avLst/>
            <a:gdLst/>
            <a:ahLst/>
            <a:cxnLst/>
            <a:rect r="r" b="b" t="t" l="l"/>
            <a:pathLst>
              <a:path h="379278" w="5601990">
                <a:moveTo>
                  <a:pt x="0" y="0"/>
                </a:moveTo>
                <a:lnTo>
                  <a:pt x="5601990" y="0"/>
                </a:lnTo>
                <a:lnTo>
                  <a:pt x="5601990" y="379278"/>
                </a:lnTo>
                <a:lnTo>
                  <a:pt x="0" y="37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4" t="-71094" r="-56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14876" y="7491969"/>
            <a:ext cx="5601990" cy="379278"/>
          </a:xfrm>
          <a:custGeom>
            <a:avLst/>
            <a:gdLst/>
            <a:ahLst/>
            <a:cxnLst/>
            <a:rect r="r" b="b" t="t" l="l"/>
            <a:pathLst>
              <a:path h="379278" w="5601990">
                <a:moveTo>
                  <a:pt x="0" y="0"/>
                </a:moveTo>
                <a:lnTo>
                  <a:pt x="5601990" y="0"/>
                </a:lnTo>
                <a:lnTo>
                  <a:pt x="5601990" y="379278"/>
                </a:lnTo>
                <a:lnTo>
                  <a:pt x="0" y="37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4" t="-71094" r="-564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14876" y="9187942"/>
            <a:ext cx="5601990" cy="379278"/>
          </a:xfrm>
          <a:custGeom>
            <a:avLst/>
            <a:gdLst/>
            <a:ahLst/>
            <a:cxnLst/>
            <a:rect r="r" b="b" t="t" l="l"/>
            <a:pathLst>
              <a:path h="379278" w="5601990">
                <a:moveTo>
                  <a:pt x="0" y="0"/>
                </a:moveTo>
                <a:lnTo>
                  <a:pt x="5601990" y="0"/>
                </a:lnTo>
                <a:lnTo>
                  <a:pt x="5601990" y="379278"/>
                </a:lnTo>
                <a:lnTo>
                  <a:pt x="0" y="37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4" t="-71094" r="-564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114876" y="4351228"/>
            <a:ext cx="5601990" cy="1581482"/>
            <a:chOff x="0" y="0"/>
            <a:chExt cx="1475421" cy="4165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5421" cy="416522"/>
            </a:xfrm>
            <a:custGeom>
              <a:avLst/>
              <a:gdLst/>
              <a:ahLst/>
              <a:cxnLst/>
              <a:rect r="r" b="b" t="t" l="l"/>
              <a:pathLst>
                <a:path h="416522" w="1475421">
                  <a:moveTo>
                    <a:pt x="0" y="0"/>
                  </a:moveTo>
                  <a:lnTo>
                    <a:pt x="1475421" y="0"/>
                  </a:lnTo>
                  <a:lnTo>
                    <a:pt x="1475421" y="416522"/>
                  </a:lnTo>
                  <a:lnTo>
                    <a:pt x="0" y="4165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475421" cy="46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114876" y="6050082"/>
            <a:ext cx="5601990" cy="1581482"/>
            <a:chOff x="0" y="0"/>
            <a:chExt cx="1475421" cy="4165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75421" cy="416522"/>
            </a:xfrm>
            <a:custGeom>
              <a:avLst/>
              <a:gdLst/>
              <a:ahLst/>
              <a:cxnLst/>
              <a:rect r="r" b="b" t="t" l="l"/>
              <a:pathLst>
                <a:path h="416522" w="1475421">
                  <a:moveTo>
                    <a:pt x="0" y="0"/>
                  </a:moveTo>
                  <a:lnTo>
                    <a:pt x="1475421" y="0"/>
                  </a:lnTo>
                  <a:lnTo>
                    <a:pt x="1475421" y="416522"/>
                  </a:lnTo>
                  <a:lnTo>
                    <a:pt x="0" y="4165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475421" cy="46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14876" y="7748936"/>
            <a:ext cx="5601990" cy="1581482"/>
            <a:chOff x="0" y="0"/>
            <a:chExt cx="1475421" cy="4165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5421" cy="416522"/>
            </a:xfrm>
            <a:custGeom>
              <a:avLst/>
              <a:gdLst/>
              <a:ahLst/>
              <a:cxnLst/>
              <a:rect r="r" b="b" t="t" l="l"/>
              <a:pathLst>
                <a:path h="416522" w="1475421">
                  <a:moveTo>
                    <a:pt x="0" y="0"/>
                  </a:moveTo>
                  <a:lnTo>
                    <a:pt x="1475421" y="0"/>
                  </a:lnTo>
                  <a:lnTo>
                    <a:pt x="1475421" y="416522"/>
                  </a:lnTo>
                  <a:lnTo>
                    <a:pt x="0" y="4165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475421" cy="46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922942" y="952500"/>
            <a:ext cx="4861222" cy="8363393"/>
          </a:xfrm>
          <a:custGeom>
            <a:avLst/>
            <a:gdLst/>
            <a:ahLst/>
            <a:cxnLst/>
            <a:rect r="r" b="b" t="t" l="l"/>
            <a:pathLst>
              <a:path h="8363393" w="4861222">
                <a:moveTo>
                  <a:pt x="0" y="0"/>
                </a:moveTo>
                <a:lnTo>
                  <a:pt x="4861222" y="0"/>
                </a:lnTo>
                <a:lnTo>
                  <a:pt x="4861222" y="8363393"/>
                </a:lnTo>
                <a:lnTo>
                  <a:pt x="0" y="8363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196091" y="953521"/>
            <a:ext cx="3117323" cy="1581482"/>
            <a:chOff x="0" y="0"/>
            <a:chExt cx="1009861" cy="5123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9861" cy="512323"/>
            </a:xfrm>
            <a:custGeom>
              <a:avLst/>
              <a:gdLst/>
              <a:ahLst/>
              <a:cxnLst/>
              <a:rect r="r" b="b" t="t" l="l"/>
              <a:pathLst>
                <a:path h="512323" w="1009861">
                  <a:moveTo>
                    <a:pt x="806661" y="0"/>
                  </a:moveTo>
                  <a:lnTo>
                    <a:pt x="0" y="0"/>
                  </a:lnTo>
                  <a:lnTo>
                    <a:pt x="0" y="512323"/>
                  </a:lnTo>
                  <a:lnTo>
                    <a:pt x="806661" y="512323"/>
                  </a:lnTo>
                  <a:lnTo>
                    <a:pt x="1009861" y="256162"/>
                  </a:lnTo>
                  <a:lnTo>
                    <a:pt x="806661" y="0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95561" cy="559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96091" y="2652374"/>
            <a:ext cx="3117323" cy="1582502"/>
            <a:chOff x="0" y="0"/>
            <a:chExt cx="1009861" cy="5126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9861" cy="512654"/>
            </a:xfrm>
            <a:custGeom>
              <a:avLst/>
              <a:gdLst/>
              <a:ahLst/>
              <a:cxnLst/>
              <a:rect r="r" b="b" t="t" l="l"/>
              <a:pathLst>
                <a:path h="512654" w="1009861">
                  <a:moveTo>
                    <a:pt x="806661" y="0"/>
                  </a:moveTo>
                  <a:lnTo>
                    <a:pt x="0" y="0"/>
                  </a:lnTo>
                  <a:lnTo>
                    <a:pt x="0" y="512654"/>
                  </a:lnTo>
                  <a:lnTo>
                    <a:pt x="806661" y="512654"/>
                  </a:lnTo>
                  <a:lnTo>
                    <a:pt x="1009861" y="256327"/>
                  </a:lnTo>
                  <a:lnTo>
                    <a:pt x="806661" y="0"/>
                  </a:ln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95561" cy="560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96091" y="4361167"/>
            <a:ext cx="3117323" cy="1562195"/>
            <a:chOff x="0" y="0"/>
            <a:chExt cx="1009861" cy="5060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9861" cy="506075"/>
            </a:xfrm>
            <a:custGeom>
              <a:avLst/>
              <a:gdLst/>
              <a:ahLst/>
              <a:cxnLst/>
              <a:rect r="r" b="b" t="t" l="l"/>
              <a:pathLst>
                <a:path h="506075" w="1009861">
                  <a:moveTo>
                    <a:pt x="806661" y="0"/>
                  </a:moveTo>
                  <a:lnTo>
                    <a:pt x="0" y="0"/>
                  </a:lnTo>
                  <a:lnTo>
                    <a:pt x="0" y="506075"/>
                  </a:lnTo>
                  <a:lnTo>
                    <a:pt x="806661" y="506075"/>
                  </a:lnTo>
                  <a:lnTo>
                    <a:pt x="1009861" y="253038"/>
                  </a:lnTo>
                  <a:lnTo>
                    <a:pt x="806661" y="0"/>
                  </a:ln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95561" cy="55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96091" y="6052123"/>
            <a:ext cx="3117323" cy="1582502"/>
            <a:chOff x="0" y="0"/>
            <a:chExt cx="1009861" cy="5126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9861" cy="512654"/>
            </a:xfrm>
            <a:custGeom>
              <a:avLst/>
              <a:gdLst/>
              <a:ahLst/>
              <a:cxnLst/>
              <a:rect r="r" b="b" t="t" l="l"/>
              <a:pathLst>
                <a:path h="512654" w="1009861">
                  <a:moveTo>
                    <a:pt x="806661" y="0"/>
                  </a:moveTo>
                  <a:lnTo>
                    <a:pt x="0" y="0"/>
                  </a:lnTo>
                  <a:lnTo>
                    <a:pt x="0" y="512654"/>
                  </a:lnTo>
                  <a:lnTo>
                    <a:pt x="806661" y="512654"/>
                  </a:lnTo>
                  <a:lnTo>
                    <a:pt x="1009861" y="256327"/>
                  </a:lnTo>
                  <a:lnTo>
                    <a:pt x="806661" y="0"/>
                  </a:ln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895561" cy="560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196091" y="7760788"/>
            <a:ext cx="3117323" cy="1573712"/>
            <a:chOff x="0" y="0"/>
            <a:chExt cx="1009861" cy="5098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9861" cy="509806"/>
            </a:xfrm>
            <a:custGeom>
              <a:avLst/>
              <a:gdLst/>
              <a:ahLst/>
              <a:cxnLst/>
              <a:rect r="r" b="b" t="t" l="l"/>
              <a:pathLst>
                <a:path h="509806" w="1009861">
                  <a:moveTo>
                    <a:pt x="806661" y="0"/>
                  </a:moveTo>
                  <a:lnTo>
                    <a:pt x="0" y="0"/>
                  </a:lnTo>
                  <a:lnTo>
                    <a:pt x="0" y="509806"/>
                  </a:lnTo>
                  <a:lnTo>
                    <a:pt x="806661" y="509806"/>
                  </a:lnTo>
                  <a:lnTo>
                    <a:pt x="1009861" y="254903"/>
                  </a:lnTo>
                  <a:lnTo>
                    <a:pt x="806661" y="0"/>
                  </a:lnTo>
                  <a:close/>
                </a:path>
              </a:pathLst>
            </a:custGeom>
            <a:solidFill>
              <a:srgbClr val="E8DED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95561" cy="557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5400000">
            <a:off x="7203639" y="1533025"/>
            <a:ext cx="1582502" cy="421451"/>
            <a:chOff x="0" y="0"/>
            <a:chExt cx="812800" cy="21646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216465"/>
            </a:xfrm>
            <a:custGeom>
              <a:avLst/>
              <a:gdLst/>
              <a:ahLst/>
              <a:cxnLst/>
              <a:rect r="r" b="b" t="t" l="l"/>
              <a:pathLst>
                <a:path h="216465" w="812800">
                  <a:moveTo>
                    <a:pt x="812800" y="0"/>
                  </a:moveTo>
                  <a:lnTo>
                    <a:pt x="0" y="0"/>
                  </a:lnTo>
                  <a:lnTo>
                    <a:pt x="101600" y="108232"/>
                  </a:lnTo>
                  <a:lnTo>
                    <a:pt x="0" y="216465"/>
                  </a:lnTo>
                  <a:lnTo>
                    <a:pt x="812800" y="216465"/>
                  </a:lnTo>
                  <a:lnTo>
                    <a:pt x="711200" y="108232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122359">
                <a:alpha val="76863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88900" y="-47625"/>
              <a:ext cx="635000" cy="264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5400000">
            <a:off x="7203639" y="3232900"/>
            <a:ext cx="1582502" cy="421451"/>
            <a:chOff x="0" y="0"/>
            <a:chExt cx="812800" cy="2164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216465"/>
            </a:xfrm>
            <a:custGeom>
              <a:avLst/>
              <a:gdLst/>
              <a:ahLst/>
              <a:cxnLst/>
              <a:rect r="r" b="b" t="t" l="l"/>
              <a:pathLst>
                <a:path h="216465" w="812800">
                  <a:moveTo>
                    <a:pt x="812800" y="0"/>
                  </a:moveTo>
                  <a:lnTo>
                    <a:pt x="0" y="0"/>
                  </a:lnTo>
                  <a:lnTo>
                    <a:pt x="101600" y="108232"/>
                  </a:lnTo>
                  <a:lnTo>
                    <a:pt x="0" y="216465"/>
                  </a:lnTo>
                  <a:lnTo>
                    <a:pt x="812800" y="216465"/>
                  </a:lnTo>
                  <a:lnTo>
                    <a:pt x="711200" y="108232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3D6298">
                <a:alpha val="76863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88900" y="-47625"/>
              <a:ext cx="635000" cy="264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-5400000">
            <a:off x="7203639" y="4932774"/>
            <a:ext cx="1582502" cy="421451"/>
            <a:chOff x="0" y="0"/>
            <a:chExt cx="812800" cy="21646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216465"/>
            </a:xfrm>
            <a:custGeom>
              <a:avLst/>
              <a:gdLst/>
              <a:ahLst/>
              <a:cxnLst/>
              <a:rect r="r" b="b" t="t" l="l"/>
              <a:pathLst>
                <a:path h="216465" w="812800">
                  <a:moveTo>
                    <a:pt x="812800" y="0"/>
                  </a:moveTo>
                  <a:lnTo>
                    <a:pt x="0" y="0"/>
                  </a:lnTo>
                  <a:lnTo>
                    <a:pt x="101600" y="108232"/>
                  </a:lnTo>
                  <a:lnTo>
                    <a:pt x="0" y="216465"/>
                  </a:lnTo>
                  <a:lnTo>
                    <a:pt x="812800" y="216465"/>
                  </a:lnTo>
                  <a:lnTo>
                    <a:pt x="711200" y="108232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BEC8DA">
                <a:alpha val="76863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88900" y="-47625"/>
              <a:ext cx="635000" cy="264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5400000">
            <a:off x="7203639" y="6632649"/>
            <a:ext cx="1582502" cy="421451"/>
            <a:chOff x="0" y="0"/>
            <a:chExt cx="812800" cy="2164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216465"/>
            </a:xfrm>
            <a:custGeom>
              <a:avLst/>
              <a:gdLst/>
              <a:ahLst/>
              <a:cxnLst/>
              <a:rect r="r" b="b" t="t" l="l"/>
              <a:pathLst>
                <a:path h="216465" w="812800">
                  <a:moveTo>
                    <a:pt x="812800" y="0"/>
                  </a:moveTo>
                  <a:lnTo>
                    <a:pt x="0" y="0"/>
                  </a:lnTo>
                  <a:lnTo>
                    <a:pt x="101600" y="108232"/>
                  </a:lnTo>
                  <a:lnTo>
                    <a:pt x="0" y="216465"/>
                  </a:lnTo>
                  <a:lnTo>
                    <a:pt x="812800" y="216465"/>
                  </a:lnTo>
                  <a:lnTo>
                    <a:pt x="711200" y="108232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F68D55">
                <a:alpha val="76863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88900" y="-47625"/>
              <a:ext cx="635000" cy="264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7203639" y="8332523"/>
            <a:ext cx="1582502" cy="421451"/>
            <a:chOff x="0" y="0"/>
            <a:chExt cx="812800" cy="21646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216465"/>
            </a:xfrm>
            <a:custGeom>
              <a:avLst/>
              <a:gdLst/>
              <a:ahLst/>
              <a:cxnLst/>
              <a:rect r="r" b="b" t="t" l="l"/>
              <a:pathLst>
                <a:path h="216465" w="812800">
                  <a:moveTo>
                    <a:pt x="812800" y="0"/>
                  </a:moveTo>
                  <a:lnTo>
                    <a:pt x="0" y="0"/>
                  </a:lnTo>
                  <a:lnTo>
                    <a:pt x="101600" y="108232"/>
                  </a:lnTo>
                  <a:lnTo>
                    <a:pt x="0" y="216465"/>
                  </a:lnTo>
                  <a:lnTo>
                    <a:pt x="812800" y="216465"/>
                  </a:lnTo>
                  <a:lnTo>
                    <a:pt x="711200" y="108232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E8DED6">
                <a:alpha val="44706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88900" y="-47625"/>
              <a:ext cx="635000" cy="264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787662" y="1689334"/>
            <a:ext cx="413561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Summa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riz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regul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 costs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fro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 producing goods, services,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da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y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bu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iness ac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ivities.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787662" y="3388188"/>
            <a:ext cx="413561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over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tied to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hum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 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ources, 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hy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sical assets,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nd es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ntial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erials.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787662" y="1211179"/>
            <a:ext cx="413561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Op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erations Costs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787662" y="2910033"/>
            <a:ext cx="413561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ource Costs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787662" y="5087042"/>
            <a:ext cx="455142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Incl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ude costs from 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ver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ing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off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cus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tom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thro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gh distr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ibu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tion, digit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latforms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787662" y="4608887"/>
            <a:ext cx="413561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Chann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el Costs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87662" y="6785895"/>
            <a:ext cx="455142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Add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ess exp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 managing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custome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interacti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oyal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y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programs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port serv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ices.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787662" y="6307741"/>
            <a:ext cx="413561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elationship Costs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787662" y="8484749"/>
            <a:ext cx="413561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List financial requirements for regulations, policies, and business environment standards.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787662" y="8006594"/>
            <a:ext cx="413561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ompliance Costs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978785" y="1394694"/>
            <a:ext cx="866698" cy="62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978785" y="3094058"/>
            <a:ext cx="866698" cy="62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978785" y="4792697"/>
            <a:ext cx="866698" cy="62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978785" y="6493807"/>
            <a:ext cx="866698" cy="62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978785" y="8198076"/>
            <a:ext cx="866698" cy="62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8778476" y="1363261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1" id="71"/>
          <p:cNvSpPr/>
          <p:nvPr/>
        </p:nvSpPr>
        <p:spPr>
          <a:xfrm flipH="false" flipV="false" rot="0">
            <a:off x="8778476" y="3062626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2" id="72"/>
          <p:cNvSpPr/>
          <p:nvPr/>
        </p:nvSpPr>
        <p:spPr>
          <a:xfrm flipH="false" flipV="false" rot="0">
            <a:off x="8776567" y="4761265"/>
            <a:ext cx="763910" cy="762000"/>
          </a:xfrm>
          <a:custGeom>
            <a:avLst/>
            <a:gdLst/>
            <a:ahLst/>
            <a:cxnLst/>
            <a:rect r="r" b="b" t="t" l="l"/>
            <a:pathLst>
              <a:path h="762000" w="763910">
                <a:moveTo>
                  <a:pt x="0" y="0"/>
                </a:moveTo>
                <a:lnTo>
                  <a:pt x="763909" y="0"/>
                </a:lnTo>
                <a:lnTo>
                  <a:pt x="763909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3" id="73"/>
          <p:cNvSpPr/>
          <p:nvPr/>
        </p:nvSpPr>
        <p:spPr>
          <a:xfrm flipH="false" flipV="false" rot="0">
            <a:off x="8778476" y="6462374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4" id="74"/>
          <p:cNvSpPr/>
          <p:nvPr/>
        </p:nvSpPr>
        <p:spPr>
          <a:xfrm flipH="false" flipV="false" rot="0">
            <a:off x="8778476" y="8166644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45795" y="952500"/>
            <a:ext cx="8340090" cy="8382000"/>
          </a:xfrm>
          <a:custGeom>
            <a:avLst/>
            <a:gdLst/>
            <a:ahLst/>
            <a:cxnLst/>
            <a:rect r="r" b="b" t="t" l="l"/>
            <a:pathLst>
              <a:path h="8382000" w="8340090">
                <a:moveTo>
                  <a:pt x="0" y="0"/>
                </a:moveTo>
                <a:lnTo>
                  <a:pt x="8340090" y="0"/>
                </a:lnTo>
                <a:lnTo>
                  <a:pt x="8340090" y="8382000"/>
                </a:lnTo>
                <a:lnTo>
                  <a:pt x="0" y="838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85682" y="3457415"/>
            <a:ext cx="4449818" cy="307911"/>
          </a:xfrm>
          <a:custGeom>
            <a:avLst/>
            <a:gdLst/>
            <a:ahLst/>
            <a:cxnLst/>
            <a:rect r="r" b="b" t="t" l="l"/>
            <a:pathLst>
              <a:path h="307911" w="4449818">
                <a:moveTo>
                  <a:pt x="0" y="0"/>
                </a:moveTo>
                <a:lnTo>
                  <a:pt x="4449818" y="0"/>
                </a:lnTo>
                <a:lnTo>
                  <a:pt x="4449818" y="307910"/>
                </a:lnTo>
                <a:lnTo>
                  <a:pt x="0" y="307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8" t="-71094" r="-1678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885682" y="952500"/>
            <a:ext cx="4449818" cy="2543015"/>
            <a:chOff x="0" y="0"/>
            <a:chExt cx="1264853" cy="7228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4853" cy="722847"/>
            </a:xfrm>
            <a:custGeom>
              <a:avLst/>
              <a:gdLst/>
              <a:ahLst/>
              <a:cxnLst/>
              <a:rect r="r" b="b" t="t" l="l"/>
              <a:pathLst>
                <a:path h="722847" w="1264853">
                  <a:moveTo>
                    <a:pt x="38276" y="0"/>
                  </a:moveTo>
                  <a:lnTo>
                    <a:pt x="1226577" y="0"/>
                  </a:lnTo>
                  <a:cubicBezTo>
                    <a:pt x="1247716" y="0"/>
                    <a:pt x="1264853" y="17137"/>
                    <a:pt x="1264853" y="38276"/>
                  </a:cubicBezTo>
                  <a:lnTo>
                    <a:pt x="1264853" y="684571"/>
                  </a:lnTo>
                  <a:cubicBezTo>
                    <a:pt x="1264853" y="694723"/>
                    <a:pt x="1260820" y="704458"/>
                    <a:pt x="1253642" y="711637"/>
                  </a:cubicBezTo>
                  <a:cubicBezTo>
                    <a:pt x="1246464" y="718815"/>
                    <a:pt x="1236728" y="722847"/>
                    <a:pt x="1226577" y="722847"/>
                  </a:cubicBezTo>
                  <a:lnTo>
                    <a:pt x="38276" y="722847"/>
                  </a:lnTo>
                  <a:cubicBezTo>
                    <a:pt x="28125" y="722847"/>
                    <a:pt x="18389" y="718815"/>
                    <a:pt x="11211" y="711637"/>
                  </a:cubicBezTo>
                  <a:cubicBezTo>
                    <a:pt x="4033" y="704458"/>
                    <a:pt x="0" y="694723"/>
                    <a:pt x="0" y="684571"/>
                  </a:cubicBezTo>
                  <a:lnTo>
                    <a:pt x="0" y="38276"/>
                  </a:lnTo>
                  <a:cubicBezTo>
                    <a:pt x="0" y="28125"/>
                    <a:pt x="4033" y="18389"/>
                    <a:pt x="11211" y="11211"/>
                  </a:cubicBezTo>
                  <a:cubicBezTo>
                    <a:pt x="18389" y="4033"/>
                    <a:pt x="28125" y="0"/>
                    <a:pt x="382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64853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885682" y="6376907"/>
            <a:ext cx="4449818" cy="307911"/>
          </a:xfrm>
          <a:custGeom>
            <a:avLst/>
            <a:gdLst/>
            <a:ahLst/>
            <a:cxnLst/>
            <a:rect r="r" b="b" t="t" l="l"/>
            <a:pathLst>
              <a:path h="307911" w="4449818">
                <a:moveTo>
                  <a:pt x="0" y="0"/>
                </a:moveTo>
                <a:lnTo>
                  <a:pt x="4449818" y="0"/>
                </a:lnTo>
                <a:lnTo>
                  <a:pt x="4449818" y="307911"/>
                </a:lnTo>
                <a:lnTo>
                  <a:pt x="0" y="307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8" t="-71094" r="-167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82555" y="6376907"/>
            <a:ext cx="4449818" cy="307911"/>
          </a:xfrm>
          <a:custGeom>
            <a:avLst/>
            <a:gdLst/>
            <a:ahLst/>
            <a:cxnLst/>
            <a:rect r="r" b="b" t="t" l="l"/>
            <a:pathLst>
              <a:path h="307911" w="4449818">
                <a:moveTo>
                  <a:pt x="0" y="0"/>
                </a:moveTo>
                <a:lnTo>
                  <a:pt x="4449818" y="0"/>
                </a:lnTo>
                <a:lnTo>
                  <a:pt x="4449818" y="307911"/>
                </a:lnTo>
                <a:lnTo>
                  <a:pt x="0" y="307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8" t="-71094" r="-1678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85682" y="9296400"/>
            <a:ext cx="4449818" cy="307911"/>
          </a:xfrm>
          <a:custGeom>
            <a:avLst/>
            <a:gdLst/>
            <a:ahLst/>
            <a:cxnLst/>
            <a:rect r="r" b="b" t="t" l="l"/>
            <a:pathLst>
              <a:path h="307911" w="4449818">
                <a:moveTo>
                  <a:pt x="0" y="0"/>
                </a:moveTo>
                <a:lnTo>
                  <a:pt x="4449818" y="0"/>
                </a:lnTo>
                <a:lnTo>
                  <a:pt x="4449818" y="307911"/>
                </a:lnTo>
                <a:lnTo>
                  <a:pt x="0" y="307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8" t="-71094" r="-1678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82555" y="9296400"/>
            <a:ext cx="4449818" cy="307911"/>
          </a:xfrm>
          <a:custGeom>
            <a:avLst/>
            <a:gdLst/>
            <a:ahLst/>
            <a:cxnLst/>
            <a:rect r="r" b="b" t="t" l="l"/>
            <a:pathLst>
              <a:path h="307911" w="4449818">
                <a:moveTo>
                  <a:pt x="0" y="0"/>
                </a:moveTo>
                <a:lnTo>
                  <a:pt x="4449818" y="0"/>
                </a:lnTo>
                <a:lnTo>
                  <a:pt x="4449818" y="307911"/>
                </a:lnTo>
                <a:lnTo>
                  <a:pt x="0" y="307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8" t="-71094" r="-1678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885682" y="3871993"/>
            <a:ext cx="4449818" cy="2543015"/>
            <a:chOff x="0" y="0"/>
            <a:chExt cx="1264853" cy="7228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4853" cy="722847"/>
            </a:xfrm>
            <a:custGeom>
              <a:avLst/>
              <a:gdLst/>
              <a:ahLst/>
              <a:cxnLst/>
              <a:rect r="r" b="b" t="t" l="l"/>
              <a:pathLst>
                <a:path h="722847" w="1264853">
                  <a:moveTo>
                    <a:pt x="38276" y="0"/>
                  </a:moveTo>
                  <a:lnTo>
                    <a:pt x="1226577" y="0"/>
                  </a:lnTo>
                  <a:cubicBezTo>
                    <a:pt x="1247716" y="0"/>
                    <a:pt x="1264853" y="17137"/>
                    <a:pt x="1264853" y="38276"/>
                  </a:cubicBezTo>
                  <a:lnTo>
                    <a:pt x="1264853" y="684571"/>
                  </a:lnTo>
                  <a:cubicBezTo>
                    <a:pt x="1264853" y="694723"/>
                    <a:pt x="1260820" y="704458"/>
                    <a:pt x="1253642" y="711637"/>
                  </a:cubicBezTo>
                  <a:cubicBezTo>
                    <a:pt x="1246464" y="718815"/>
                    <a:pt x="1236728" y="722847"/>
                    <a:pt x="1226577" y="722847"/>
                  </a:cubicBezTo>
                  <a:lnTo>
                    <a:pt x="38276" y="722847"/>
                  </a:lnTo>
                  <a:cubicBezTo>
                    <a:pt x="28125" y="722847"/>
                    <a:pt x="18389" y="718815"/>
                    <a:pt x="11211" y="711637"/>
                  </a:cubicBezTo>
                  <a:cubicBezTo>
                    <a:pt x="4033" y="704458"/>
                    <a:pt x="0" y="694723"/>
                    <a:pt x="0" y="684571"/>
                  </a:cubicBezTo>
                  <a:lnTo>
                    <a:pt x="0" y="38276"/>
                  </a:lnTo>
                  <a:cubicBezTo>
                    <a:pt x="0" y="28125"/>
                    <a:pt x="4033" y="18389"/>
                    <a:pt x="11211" y="11211"/>
                  </a:cubicBezTo>
                  <a:cubicBezTo>
                    <a:pt x="18389" y="4033"/>
                    <a:pt x="28125" y="0"/>
                    <a:pt x="382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64853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82555" y="3871993"/>
            <a:ext cx="4449818" cy="2543015"/>
            <a:chOff x="0" y="0"/>
            <a:chExt cx="1264853" cy="722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4853" cy="722847"/>
            </a:xfrm>
            <a:custGeom>
              <a:avLst/>
              <a:gdLst/>
              <a:ahLst/>
              <a:cxnLst/>
              <a:rect r="r" b="b" t="t" l="l"/>
              <a:pathLst>
                <a:path h="722847" w="1264853">
                  <a:moveTo>
                    <a:pt x="38276" y="0"/>
                  </a:moveTo>
                  <a:lnTo>
                    <a:pt x="1226577" y="0"/>
                  </a:lnTo>
                  <a:cubicBezTo>
                    <a:pt x="1247716" y="0"/>
                    <a:pt x="1264853" y="17137"/>
                    <a:pt x="1264853" y="38276"/>
                  </a:cubicBezTo>
                  <a:lnTo>
                    <a:pt x="1264853" y="684571"/>
                  </a:lnTo>
                  <a:cubicBezTo>
                    <a:pt x="1264853" y="694723"/>
                    <a:pt x="1260820" y="704458"/>
                    <a:pt x="1253642" y="711637"/>
                  </a:cubicBezTo>
                  <a:cubicBezTo>
                    <a:pt x="1246464" y="718815"/>
                    <a:pt x="1236728" y="722847"/>
                    <a:pt x="1226577" y="722847"/>
                  </a:cubicBezTo>
                  <a:lnTo>
                    <a:pt x="38276" y="722847"/>
                  </a:lnTo>
                  <a:cubicBezTo>
                    <a:pt x="28125" y="722847"/>
                    <a:pt x="18389" y="718815"/>
                    <a:pt x="11211" y="711637"/>
                  </a:cubicBezTo>
                  <a:cubicBezTo>
                    <a:pt x="4033" y="704458"/>
                    <a:pt x="0" y="694723"/>
                    <a:pt x="0" y="684571"/>
                  </a:cubicBezTo>
                  <a:lnTo>
                    <a:pt x="0" y="38276"/>
                  </a:lnTo>
                  <a:cubicBezTo>
                    <a:pt x="0" y="28125"/>
                    <a:pt x="4033" y="18389"/>
                    <a:pt x="11211" y="11211"/>
                  </a:cubicBezTo>
                  <a:cubicBezTo>
                    <a:pt x="18389" y="4033"/>
                    <a:pt x="28125" y="0"/>
                    <a:pt x="382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64853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85682" y="6791485"/>
            <a:ext cx="4449818" cy="2543015"/>
            <a:chOff x="0" y="0"/>
            <a:chExt cx="1264853" cy="7228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4853" cy="722847"/>
            </a:xfrm>
            <a:custGeom>
              <a:avLst/>
              <a:gdLst/>
              <a:ahLst/>
              <a:cxnLst/>
              <a:rect r="r" b="b" t="t" l="l"/>
              <a:pathLst>
                <a:path h="722847" w="1264853">
                  <a:moveTo>
                    <a:pt x="38276" y="0"/>
                  </a:moveTo>
                  <a:lnTo>
                    <a:pt x="1226577" y="0"/>
                  </a:lnTo>
                  <a:cubicBezTo>
                    <a:pt x="1247716" y="0"/>
                    <a:pt x="1264853" y="17137"/>
                    <a:pt x="1264853" y="38276"/>
                  </a:cubicBezTo>
                  <a:lnTo>
                    <a:pt x="1264853" y="684571"/>
                  </a:lnTo>
                  <a:cubicBezTo>
                    <a:pt x="1264853" y="694723"/>
                    <a:pt x="1260820" y="704458"/>
                    <a:pt x="1253642" y="711637"/>
                  </a:cubicBezTo>
                  <a:cubicBezTo>
                    <a:pt x="1246464" y="718815"/>
                    <a:pt x="1236728" y="722847"/>
                    <a:pt x="1226577" y="722847"/>
                  </a:cubicBezTo>
                  <a:lnTo>
                    <a:pt x="38276" y="722847"/>
                  </a:lnTo>
                  <a:cubicBezTo>
                    <a:pt x="28125" y="722847"/>
                    <a:pt x="18389" y="718815"/>
                    <a:pt x="11211" y="711637"/>
                  </a:cubicBezTo>
                  <a:cubicBezTo>
                    <a:pt x="4033" y="704458"/>
                    <a:pt x="0" y="694723"/>
                    <a:pt x="0" y="684571"/>
                  </a:cubicBezTo>
                  <a:lnTo>
                    <a:pt x="0" y="38276"/>
                  </a:lnTo>
                  <a:cubicBezTo>
                    <a:pt x="0" y="28125"/>
                    <a:pt x="4033" y="18389"/>
                    <a:pt x="11211" y="11211"/>
                  </a:cubicBezTo>
                  <a:cubicBezTo>
                    <a:pt x="18389" y="4033"/>
                    <a:pt x="28125" y="0"/>
                    <a:pt x="382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64853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82555" y="6791485"/>
            <a:ext cx="4449818" cy="2543015"/>
            <a:chOff x="0" y="0"/>
            <a:chExt cx="1264853" cy="7228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4853" cy="722847"/>
            </a:xfrm>
            <a:custGeom>
              <a:avLst/>
              <a:gdLst/>
              <a:ahLst/>
              <a:cxnLst/>
              <a:rect r="r" b="b" t="t" l="l"/>
              <a:pathLst>
                <a:path h="722847" w="1264853">
                  <a:moveTo>
                    <a:pt x="38276" y="0"/>
                  </a:moveTo>
                  <a:lnTo>
                    <a:pt x="1226577" y="0"/>
                  </a:lnTo>
                  <a:cubicBezTo>
                    <a:pt x="1247716" y="0"/>
                    <a:pt x="1264853" y="17137"/>
                    <a:pt x="1264853" y="38276"/>
                  </a:cubicBezTo>
                  <a:lnTo>
                    <a:pt x="1264853" y="684571"/>
                  </a:lnTo>
                  <a:cubicBezTo>
                    <a:pt x="1264853" y="694723"/>
                    <a:pt x="1260820" y="704458"/>
                    <a:pt x="1253642" y="711637"/>
                  </a:cubicBezTo>
                  <a:cubicBezTo>
                    <a:pt x="1246464" y="718815"/>
                    <a:pt x="1236728" y="722847"/>
                    <a:pt x="1226577" y="722847"/>
                  </a:cubicBezTo>
                  <a:lnTo>
                    <a:pt x="38276" y="722847"/>
                  </a:lnTo>
                  <a:cubicBezTo>
                    <a:pt x="28125" y="722847"/>
                    <a:pt x="18389" y="718815"/>
                    <a:pt x="11211" y="711637"/>
                  </a:cubicBezTo>
                  <a:cubicBezTo>
                    <a:pt x="4033" y="704458"/>
                    <a:pt x="0" y="694723"/>
                    <a:pt x="0" y="684571"/>
                  </a:cubicBezTo>
                  <a:lnTo>
                    <a:pt x="0" y="38276"/>
                  </a:lnTo>
                  <a:cubicBezTo>
                    <a:pt x="0" y="28125"/>
                    <a:pt x="4033" y="18389"/>
                    <a:pt x="11211" y="11211"/>
                  </a:cubicBezTo>
                  <a:cubicBezTo>
                    <a:pt x="18389" y="4033"/>
                    <a:pt x="28125" y="0"/>
                    <a:pt x="382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64853" cy="770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16591260" y="2751274"/>
            <a:ext cx="954426" cy="534055"/>
            <a:chOff x="0" y="0"/>
            <a:chExt cx="812800" cy="4548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54808"/>
            </a:xfrm>
            <a:custGeom>
              <a:avLst/>
              <a:gdLst/>
              <a:ahLst/>
              <a:cxnLst/>
              <a:rect r="r" b="b" t="t" l="l"/>
              <a:pathLst>
                <a:path h="454808" w="812800">
                  <a:moveTo>
                    <a:pt x="609600" y="0"/>
                  </a:moveTo>
                  <a:lnTo>
                    <a:pt x="0" y="0"/>
                  </a:lnTo>
                  <a:lnTo>
                    <a:pt x="0" y="454808"/>
                  </a:lnTo>
                  <a:lnTo>
                    <a:pt x="609600" y="454808"/>
                  </a:lnTo>
                  <a:lnTo>
                    <a:pt x="812800" y="22740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98500" cy="502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6591260" y="5670767"/>
            <a:ext cx="954426" cy="534055"/>
            <a:chOff x="0" y="0"/>
            <a:chExt cx="812800" cy="4548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54808"/>
            </a:xfrm>
            <a:custGeom>
              <a:avLst/>
              <a:gdLst/>
              <a:ahLst/>
              <a:cxnLst/>
              <a:rect r="r" b="b" t="t" l="l"/>
              <a:pathLst>
                <a:path h="454808" w="812800">
                  <a:moveTo>
                    <a:pt x="609600" y="0"/>
                  </a:moveTo>
                  <a:lnTo>
                    <a:pt x="0" y="0"/>
                  </a:lnTo>
                  <a:lnTo>
                    <a:pt x="0" y="454808"/>
                  </a:lnTo>
                  <a:lnTo>
                    <a:pt x="609600" y="454808"/>
                  </a:lnTo>
                  <a:lnTo>
                    <a:pt x="812800" y="22740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98500" cy="502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11888133" y="5670767"/>
            <a:ext cx="954426" cy="534055"/>
            <a:chOff x="0" y="0"/>
            <a:chExt cx="812800" cy="4548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454808"/>
            </a:xfrm>
            <a:custGeom>
              <a:avLst/>
              <a:gdLst/>
              <a:ahLst/>
              <a:cxnLst/>
              <a:rect r="r" b="b" t="t" l="l"/>
              <a:pathLst>
                <a:path h="454808" w="812800">
                  <a:moveTo>
                    <a:pt x="609600" y="0"/>
                  </a:moveTo>
                  <a:lnTo>
                    <a:pt x="0" y="0"/>
                  </a:lnTo>
                  <a:lnTo>
                    <a:pt x="0" y="454808"/>
                  </a:lnTo>
                  <a:lnTo>
                    <a:pt x="609600" y="454808"/>
                  </a:lnTo>
                  <a:lnTo>
                    <a:pt x="812800" y="22740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98500" cy="502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16591260" y="8590260"/>
            <a:ext cx="954426" cy="534055"/>
            <a:chOff x="0" y="0"/>
            <a:chExt cx="812800" cy="4548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454808"/>
            </a:xfrm>
            <a:custGeom>
              <a:avLst/>
              <a:gdLst/>
              <a:ahLst/>
              <a:cxnLst/>
              <a:rect r="r" b="b" t="t" l="l"/>
              <a:pathLst>
                <a:path h="454808" w="812800">
                  <a:moveTo>
                    <a:pt x="609600" y="0"/>
                  </a:moveTo>
                  <a:lnTo>
                    <a:pt x="0" y="0"/>
                  </a:lnTo>
                  <a:lnTo>
                    <a:pt x="0" y="454808"/>
                  </a:lnTo>
                  <a:lnTo>
                    <a:pt x="609600" y="454808"/>
                  </a:lnTo>
                  <a:lnTo>
                    <a:pt x="812800" y="22740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8DED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98500" cy="502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11888133" y="8590260"/>
            <a:ext cx="954426" cy="534055"/>
            <a:chOff x="0" y="0"/>
            <a:chExt cx="812800" cy="454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454808"/>
            </a:xfrm>
            <a:custGeom>
              <a:avLst/>
              <a:gdLst/>
              <a:ahLst/>
              <a:cxnLst/>
              <a:rect r="r" b="b" t="t" l="l"/>
              <a:pathLst>
                <a:path h="454808" w="812800">
                  <a:moveTo>
                    <a:pt x="609600" y="0"/>
                  </a:moveTo>
                  <a:lnTo>
                    <a:pt x="0" y="0"/>
                  </a:lnTo>
                  <a:lnTo>
                    <a:pt x="0" y="454808"/>
                  </a:lnTo>
                  <a:lnTo>
                    <a:pt x="609600" y="454808"/>
                  </a:lnTo>
                  <a:lnTo>
                    <a:pt x="812800" y="22740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98500" cy="502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8" id="38"/>
          <p:cNvSpPr/>
          <p:nvPr/>
        </p:nvSpPr>
        <p:spPr>
          <a:xfrm>
            <a:off x="2335166" y="3953524"/>
            <a:ext cx="1189084" cy="0"/>
          </a:xfrm>
          <a:prstGeom prst="line">
            <a:avLst/>
          </a:prstGeom>
          <a:ln cap="flat" w="19050">
            <a:solidFill>
              <a:srgbClr val="E9ECF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>
            <a:off x="1759672" y="5492541"/>
            <a:ext cx="2376871" cy="0"/>
          </a:xfrm>
          <a:prstGeom prst="line">
            <a:avLst/>
          </a:prstGeom>
          <a:ln cap="flat" w="19050">
            <a:solidFill>
              <a:srgbClr val="1223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>
            <a:off x="930831" y="7126808"/>
            <a:ext cx="3873557" cy="0"/>
          </a:xfrm>
          <a:prstGeom prst="line">
            <a:avLst/>
          </a:prstGeom>
          <a:ln cap="flat" w="19050">
            <a:solidFill>
              <a:srgbClr val="1223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>
            <a:off x="-347706" y="8742024"/>
            <a:ext cx="6062706" cy="0"/>
          </a:xfrm>
          <a:prstGeom prst="line">
            <a:avLst/>
          </a:prstGeom>
          <a:ln cap="flat" w="19050">
            <a:solidFill>
              <a:srgbClr val="1223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2" id="42"/>
          <p:cNvSpPr txBox="true"/>
          <p:nvPr/>
        </p:nvSpPr>
        <p:spPr>
          <a:xfrm rot="0">
            <a:off x="8182555" y="2356485"/>
            <a:ext cx="42809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Explaining where income comes from and how</a:t>
            </a:r>
            <a:r>
              <a:rPr lang="en-US" sz="20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businesses generate sustainable financial results.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182555" y="876300"/>
            <a:ext cx="3818945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Main</a:t>
            </a:r>
            <a:r>
              <a:rPr lang="en-US" b="true" sz="3599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 Revenue Sources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67026" y="1892855"/>
            <a:ext cx="2823309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evenue gained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f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rom 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ell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produc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or services di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ctly 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cus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tom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ithou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intermediaries.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367026" y="1414700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Di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rect Sales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801445" y="2836374"/>
            <a:ext cx="534055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801445" y="5755867"/>
            <a:ext cx="534055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98318" y="5755867"/>
            <a:ext cx="534055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67026" y="4812347"/>
            <a:ext cx="2607576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Revenue earned from granting others the right to use intellectual property or technology.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367026" y="4334193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Licensing Income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663899" y="4812347"/>
            <a:ext cx="282330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Ong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y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customers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mak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services or content regularly.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663899" y="4334193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Subsc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ription Fees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367026" y="7731840"/>
            <a:ext cx="2700033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Inc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from providi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services, consu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ions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,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er-sales support to customers.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367026" y="7253685"/>
            <a:ext cx="2823309" cy="30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Service Charges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663899" y="7731840"/>
            <a:ext cx="282330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Ea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from fa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ing 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ran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sac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ions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twe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 other parties and taking a share.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663899" y="7253685"/>
            <a:ext cx="28233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</a:t>
            </a:r>
            <a:r>
              <a:rPr lang="en-US" b="true" sz="1800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ommission Revenue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801445" y="8675360"/>
            <a:ext cx="534055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098318" y="8675360"/>
            <a:ext cx="534055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3280172" y="1938257"/>
            <a:ext cx="625078" cy="666750"/>
          </a:xfrm>
          <a:custGeom>
            <a:avLst/>
            <a:gdLst/>
            <a:ahLst/>
            <a:cxnLst/>
            <a:rect r="r" b="b" t="t" l="l"/>
            <a:pathLst>
              <a:path h="666750" w="625078">
                <a:moveTo>
                  <a:pt x="0" y="0"/>
                </a:moveTo>
                <a:lnTo>
                  <a:pt x="625078" y="0"/>
                </a:lnTo>
                <a:lnTo>
                  <a:pt x="625078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0" id="60"/>
          <p:cNvSpPr/>
          <p:nvPr/>
        </p:nvSpPr>
        <p:spPr>
          <a:xfrm flipH="false" flipV="false" rot="0">
            <a:off x="3905250" y="3620149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1" id="61"/>
          <p:cNvSpPr/>
          <p:nvPr/>
        </p:nvSpPr>
        <p:spPr>
          <a:xfrm flipH="false" flipV="false" rot="0">
            <a:off x="4667250" y="5159166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5429250" y="6793433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3" id="63"/>
          <p:cNvSpPr/>
          <p:nvPr/>
        </p:nvSpPr>
        <p:spPr>
          <a:xfrm flipH="false" flipV="false" rot="0">
            <a:off x="6191250" y="8408649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DAHAGTm6thE</dc:identifier>
  <dcterms:modified xsi:type="dcterms:W3CDTF">2011-08-01T06:04:30Z</dcterms:modified>
  <cp:revision>1</cp:revision>
  <dc:title>Modern Business Model Canvas Infographic Presentation</dc:title>
</cp:coreProperties>
</file>