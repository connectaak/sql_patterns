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png" Type="http://schemas.openxmlformats.org/officeDocument/2006/relationships/image"/><Relationship Id="rId19" Target="../media/image45.svg" Type="http://schemas.openxmlformats.org/officeDocument/2006/relationships/image"/><Relationship Id="rId2" Target="../media/image29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48.png" Type="http://schemas.openxmlformats.org/officeDocument/2006/relationships/image"/><Relationship Id="rId23" Target="../media/image49.svg" Type="http://schemas.openxmlformats.org/officeDocument/2006/relationships/image"/><Relationship Id="rId24" Target="../media/image14.png" Type="http://schemas.openxmlformats.org/officeDocument/2006/relationships/image"/><Relationship Id="rId25" Target="../media/image15.svg" Type="http://schemas.openxmlformats.org/officeDocument/2006/relationships/image"/><Relationship Id="rId3" Target="../media/image30.svg" Type="http://schemas.openxmlformats.org/officeDocument/2006/relationships/image"/><Relationship Id="rId4" Target="../media/image1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svg" Type="http://schemas.openxmlformats.org/officeDocument/2006/relationships/image"/><Relationship Id="rId11" Target="../media/image81.png" Type="http://schemas.openxmlformats.org/officeDocument/2006/relationships/image"/><Relationship Id="rId12" Target="../media/image82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74.png" Type="http://schemas.openxmlformats.org/officeDocument/2006/relationships/image"/><Relationship Id="rId3" Target="../media/image75.sv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76.png" Type="http://schemas.openxmlformats.org/officeDocument/2006/relationships/image"/><Relationship Id="rId5" Target="../media/image93.png" Type="http://schemas.openxmlformats.org/officeDocument/2006/relationships/image"/><Relationship Id="rId6" Target="../media/image94.svg" Type="http://schemas.openxmlformats.org/officeDocument/2006/relationships/image"/><Relationship Id="rId7" Target="../media/image95.png" Type="http://schemas.openxmlformats.org/officeDocument/2006/relationships/image"/><Relationship Id="rId8" Target="../media/image96.svg" Type="http://schemas.openxmlformats.org/officeDocument/2006/relationships/image"/><Relationship Id="rId9" Target="../media/image9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26917" y="3575080"/>
            <a:ext cx="2349462" cy="269120"/>
          </a:xfrm>
          <a:custGeom>
            <a:avLst/>
            <a:gdLst/>
            <a:ahLst/>
            <a:cxnLst/>
            <a:rect r="r" b="b" t="t" l="l"/>
            <a:pathLst>
              <a:path h="269120" w="2349462">
                <a:moveTo>
                  <a:pt x="0" y="0"/>
                </a:moveTo>
                <a:lnTo>
                  <a:pt x="2349461" y="0"/>
                </a:lnTo>
                <a:lnTo>
                  <a:pt x="2349461" y="269121"/>
                </a:lnTo>
                <a:lnTo>
                  <a:pt x="0" y="269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2456" y="4900857"/>
            <a:ext cx="2349462" cy="269120"/>
          </a:xfrm>
          <a:custGeom>
            <a:avLst/>
            <a:gdLst/>
            <a:ahLst/>
            <a:cxnLst/>
            <a:rect r="r" b="b" t="t" l="l"/>
            <a:pathLst>
              <a:path h="269120" w="2349462">
                <a:moveTo>
                  <a:pt x="0" y="0"/>
                </a:moveTo>
                <a:lnTo>
                  <a:pt x="2349462" y="0"/>
                </a:lnTo>
                <a:lnTo>
                  <a:pt x="2349462" y="269120"/>
                </a:lnTo>
                <a:lnTo>
                  <a:pt x="0" y="269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20746" y="6226633"/>
            <a:ext cx="2349462" cy="269120"/>
          </a:xfrm>
          <a:custGeom>
            <a:avLst/>
            <a:gdLst/>
            <a:ahLst/>
            <a:cxnLst/>
            <a:rect r="r" b="b" t="t" l="l"/>
            <a:pathLst>
              <a:path h="269120" w="2349462">
                <a:moveTo>
                  <a:pt x="0" y="0"/>
                </a:moveTo>
                <a:lnTo>
                  <a:pt x="2349462" y="0"/>
                </a:lnTo>
                <a:lnTo>
                  <a:pt x="2349462" y="269120"/>
                </a:lnTo>
                <a:lnTo>
                  <a:pt x="0" y="269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46770" y="7531171"/>
            <a:ext cx="2349462" cy="269120"/>
          </a:xfrm>
          <a:custGeom>
            <a:avLst/>
            <a:gdLst/>
            <a:ahLst/>
            <a:cxnLst/>
            <a:rect r="r" b="b" t="t" l="l"/>
            <a:pathLst>
              <a:path h="269120" w="2349462">
                <a:moveTo>
                  <a:pt x="0" y="0"/>
                </a:moveTo>
                <a:lnTo>
                  <a:pt x="2349462" y="0"/>
                </a:lnTo>
                <a:lnTo>
                  <a:pt x="2349462" y="269120"/>
                </a:lnTo>
                <a:lnTo>
                  <a:pt x="0" y="269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97325" y="8878186"/>
            <a:ext cx="2349462" cy="269120"/>
          </a:xfrm>
          <a:custGeom>
            <a:avLst/>
            <a:gdLst/>
            <a:ahLst/>
            <a:cxnLst/>
            <a:rect r="r" b="b" t="t" l="l"/>
            <a:pathLst>
              <a:path h="269120" w="2349462">
                <a:moveTo>
                  <a:pt x="0" y="0"/>
                </a:moveTo>
                <a:lnTo>
                  <a:pt x="2349462" y="0"/>
                </a:lnTo>
                <a:lnTo>
                  <a:pt x="2349462" y="269120"/>
                </a:lnTo>
                <a:lnTo>
                  <a:pt x="0" y="269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494" y="3137229"/>
            <a:ext cx="8080756" cy="6414100"/>
          </a:xfrm>
          <a:custGeom>
            <a:avLst/>
            <a:gdLst/>
            <a:ahLst/>
            <a:cxnLst/>
            <a:rect r="r" b="b" t="t" l="l"/>
            <a:pathLst>
              <a:path h="6414100" w="8080756">
                <a:moveTo>
                  <a:pt x="0" y="0"/>
                </a:moveTo>
                <a:lnTo>
                  <a:pt x="8080756" y="0"/>
                </a:lnTo>
                <a:lnTo>
                  <a:pt x="8080756" y="6414100"/>
                </a:lnTo>
                <a:lnTo>
                  <a:pt x="0" y="6414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26917" y="3155278"/>
            <a:ext cx="2349462" cy="554362"/>
            <a:chOff x="0" y="0"/>
            <a:chExt cx="618788" cy="1460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8788" cy="146005"/>
            </a:xfrm>
            <a:custGeom>
              <a:avLst/>
              <a:gdLst/>
              <a:ahLst/>
              <a:cxnLst/>
              <a:rect r="r" b="b" t="t" l="l"/>
              <a:pathLst>
                <a:path h="146005" w="618788">
                  <a:moveTo>
                    <a:pt x="73002" y="0"/>
                  </a:moveTo>
                  <a:lnTo>
                    <a:pt x="545786" y="0"/>
                  </a:lnTo>
                  <a:cubicBezTo>
                    <a:pt x="586104" y="0"/>
                    <a:pt x="618788" y="32684"/>
                    <a:pt x="618788" y="73002"/>
                  </a:cubicBezTo>
                  <a:lnTo>
                    <a:pt x="618788" y="73002"/>
                  </a:lnTo>
                  <a:cubicBezTo>
                    <a:pt x="618788" y="92364"/>
                    <a:pt x="611097" y="110932"/>
                    <a:pt x="597406" y="124623"/>
                  </a:cubicBezTo>
                  <a:cubicBezTo>
                    <a:pt x="583716" y="138314"/>
                    <a:pt x="565147" y="146005"/>
                    <a:pt x="545786" y="146005"/>
                  </a:cubicBezTo>
                  <a:lnTo>
                    <a:pt x="73002" y="146005"/>
                  </a:lnTo>
                  <a:cubicBezTo>
                    <a:pt x="53641" y="146005"/>
                    <a:pt x="35073" y="138314"/>
                    <a:pt x="21382" y="124623"/>
                  </a:cubicBezTo>
                  <a:cubicBezTo>
                    <a:pt x="7691" y="110932"/>
                    <a:pt x="0" y="92364"/>
                    <a:pt x="0" y="73002"/>
                  </a:cubicBezTo>
                  <a:lnTo>
                    <a:pt x="0" y="73002"/>
                  </a:lnTo>
                  <a:cubicBezTo>
                    <a:pt x="0" y="53641"/>
                    <a:pt x="7691" y="35073"/>
                    <a:pt x="21382" y="21382"/>
                  </a:cubicBezTo>
                  <a:cubicBezTo>
                    <a:pt x="35073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8788" cy="18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7878E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Warm Welcome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82456" y="4481055"/>
            <a:ext cx="2349462" cy="554362"/>
            <a:chOff x="0" y="0"/>
            <a:chExt cx="618788" cy="1460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8788" cy="146005"/>
            </a:xfrm>
            <a:custGeom>
              <a:avLst/>
              <a:gdLst/>
              <a:ahLst/>
              <a:cxnLst/>
              <a:rect r="r" b="b" t="t" l="l"/>
              <a:pathLst>
                <a:path h="146005" w="618788">
                  <a:moveTo>
                    <a:pt x="73002" y="0"/>
                  </a:moveTo>
                  <a:lnTo>
                    <a:pt x="545786" y="0"/>
                  </a:lnTo>
                  <a:cubicBezTo>
                    <a:pt x="586104" y="0"/>
                    <a:pt x="618788" y="32684"/>
                    <a:pt x="618788" y="73002"/>
                  </a:cubicBezTo>
                  <a:lnTo>
                    <a:pt x="618788" y="73002"/>
                  </a:lnTo>
                  <a:cubicBezTo>
                    <a:pt x="618788" y="92364"/>
                    <a:pt x="611097" y="110932"/>
                    <a:pt x="597406" y="124623"/>
                  </a:cubicBezTo>
                  <a:cubicBezTo>
                    <a:pt x="583716" y="138314"/>
                    <a:pt x="565147" y="146005"/>
                    <a:pt x="545786" y="146005"/>
                  </a:cubicBezTo>
                  <a:lnTo>
                    <a:pt x="73002" y="146005"/>
                  </a:lnTo>
                  <a:cubicBezTo>
                    <a:pt x="53641" y="146005"/>
                    <a:pt x="35073" y="138314"/>
                    <a:pt x="21382" y="124623"/>
                  </a:cubicBezTo>
                  <a:cubicBezTo>
                    <a:pt x="7691" y="110932"/>
                    <a:pt x="0" y="92364"/>
                    <a:pt x="0" y="73002"/>
                  </a:cubicBezTo>
                  <a:lnTo>
                    <a:pt x="0" y="73002"/>
                  </a:lnTo>
                  <a:cubicBezTo>
                    <a:pt x="0" y="53641"/>
                    <a:pt x="7691" y="35073"/>
                    <a:pt x="21382" y="21382"/>
                  </a:cubicBezTo>
                  <a:cubicBezTo>
                    <a:pt x="35073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8788" cy="18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538EF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Simple Guide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20746" y="5806831"/>
            <a:ext cx="2349462" cy="554362"/>
            <a:chOff x="0" y="0"/>
            <a:chExt cx="618788" cy="146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8788" cy="146005"/>
            </a:xfrm>
            <a:custGeom>
              <a:avLst/>
              <a:gdLst/>
              <a:ahLst/>
              <a:cxnLst/>
              <a:rect r="r" b="b" t="t" l="l"/>
              <a:pathLst>
                <a:path h="146005" w="618788">
                  <a:moveTo>
                    <a:pt x="73002" y="0"/>
                  </a:moveTo>
                  <a:lnTo>
                    <a:pt x="545786" y="0"/>
                  </a:lnTo>
                  <a:cubicBezTo>
                    <a:pt x="586104" y="0"/>
                    <a:pt x="618788" y="32684"/>
                    <a:pt x="618788" y="73002"/>
                  </a:cubicBezTo>
                  <a:lnTo>
                    <a:pt x="618788" y="73002"/>
                  </a:lnTo>
                  <a:cubicBezTo>
                    <a:pt x="618788" y="92364"/>
                    <a:pt x="611097" y="110932"/>
                    <a:pt x="597406" y="124623"/>
                  </a:cubicBezTo>
                  <a:cubicBezTo>
                    <a:pt x="583716" y="138314"/>
                    <a:pt x="565147" y="146005"/>
                    <a:pt x="545786" y="146005"/>
                  </a:cubicBezTo>
                  <a:lnTo>
                    <a:pt x="73002" y="146005"/>
                  </a:lnTo>
                  <a:cubicBezTo>
                    <a:pt x="53641" y="146005"/>
                    <a:pt x="35073" y="138314"/>
                    <a:pt x="21382" y="124623"/>
                  </a:cubicBezTo>
                  <a:cubicBezTo>
                    <a:pt x="7691" y="110932"/>
                    <a:pt x="0" y="92364"/>
                    <a:pt x="0" y="73002"/>
                  </a:cubicBezTo>
                  <a:lnTo>
                    <a:pt x="0" y="73002"/>
                  </a:lnTo>
                  <a:cubicBezTo>
                    <a:pt x="0" y="53641"/>
                    <a:pt x="7691" y="35073"/>
                    <a:pt x="21382" y="21382"/>
                  </a:cubicBezTo>
                  <a:cubicBezTo>
                    <a:pt x="35073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8788" cy="18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2B2E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Early Value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46770" y="7132608"/>
            <a:ext cx="2349462" cy="554362"/>
            <a:chOff x="0" y="0"/>
            <a:chExt cx="618788" cy="1460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8788" cy="146005"/>
            </a:xfrm>
            <a:custGeom>
              <a:avLst/>
              <a:gdLst/>
              <a:ahLst/>
              <a:cxnLst/>
              <a:rect r="r" b="b" t="t" l="l"/>
              <a:pathLst>
                <a:path h="146005" w="618788">
                  <a:moveTo>
                    <a:pt x="73002" y="0"/>
                  </a:moveTo>
                  <a:lnTo>
                    <a:pt x="545786" y="0"/>
                  </a:lnTo>
                  <a:cubicBezTo>
                    <a:pt x="586104" y="0"/>
                    <a:pt x="618788" y="32684"/>
                    <a:pt x="618788" y="73002"/>
                  </a:cubicBezTo>
                  <a:lnTo>
                    <a:pt x="618788" y="73002"/>
                  </a:lnTo>
                  <a:cubicBezTo>
                    <a:pt x="618788" y="92364"/>
                    <a:pt x="611097" y="110932"/>
                    <a:pt x="597406" y="124623"/>
                  </a:cubicBezTo>
                  <a:cubicBezTo>
                    <a:pt x="583716" y="138314"/>
                    <a:pt x="565147" y="146005"/>
                    <a:pt x="545786" y="146005"/>
                  </a:cubicBezTo>
                  <a:lnTo>
                    <a:pt x="73002" y="146005"/>
                  </a:lnTo>
                  <a:cubicBezTo>
                    <a:pt x="53641" y="146005"/>
                    <a:pt x="35073" y="138314"/>
                    <a:pt x="21382" y="124623"/>
                  </a:cubicBezTo>
                  <a:cubicBezTo>
                    <a:pt x="7691" y="110932"/>
                    <a:pt x="0" y="92364"/>
                    <a:pt x="0" y="73002"/>
                  </a:cubicBezTo>
                  <a:lnTo>
                    <a:pt x="0" y="73002"/>
                  </a:lnTo>
                  <a:cubicBezTo>
                    <a:pt x="0" y="53641"/>
                    <a:pt x="7691" y="35073"/>
                    <a:pt x="21382" y="21382"/>
                  </a:cubicBezTo>
                  <a:cubicBezTo>
                    <a:pt x="35073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18788" cy="18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CCB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Member Support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97325" y="8458384"/>
            <a:ext cx="2349462" cy="554362"/>
            <a:chOff x="0" y="0"/>
            <a:chExt cx="618788" cy="1460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8788" cy="146005"/>
            </a:xfrm>
            <a:custGeom>
              <a:avLst/>
              <a:gdLst/>
              <a:ahLst/>
              <a:cxnLst/>
              <a:rect r="r" b="b" t="t" l="l"/>
              <a:pathLst>
                <a:path h="146005" w="618788">
                  <a:moveTo>
                    <a:pt x="73002" y="0"/>
                  </a:moveTo>
                  <a:lnTo>
                    <a:pt x="545786" y="0"/>
                  </a:lnTo>
                  <a:cubicBezTo>
                    <a:pt x="586104" y="0"/>
                    <a:pt x="618788" y="32684"/>
                    <a:pt x="618788" y="73002"/>
                  </a:cubicBezTo>
                  <a:lnTo>
                    <a:pt x="618788" y="73002"/>
                  </a:lnTo>
                  <a:cubicBezTo>
                    <a:pt x="618788" y="92364"/>
                    <a:pt x="611097" y="110932"/>
                    <a:pt x="597406" y="124623"/>
                  </a:cubicBezTo>
                  <a:cubicBezTo>
                    <a:pt x="583716" y="138314"/>
                    <a:pt x="565147" y="146005"/>
                    <a:pt x="545786" y="146005"/>
                  </a:cubicBezTo>
                  <a:lnTo>
                    <a:pt x="73002" y="146005"/>
                  </a:lnTo>
                  <a:cubicBezTo>
                    <a:pt x="53641" y="146005"/>
                    <a:pt x="35073" y="138314"/>
                    <a:pt x="21382" y="124623"/>
                  </a:cubicBezTo>
                  <a:cubicBezTo>
                    <a:pt x="7691" y="110932"/>
                    <a:pt x="0" y="92364"/>
                    <a:pt x="0" y="73002"/>
                  </a:cubicBezTo>
                  <a:lnTo>
                    <a:pt x="0" y="73002"/>
                  </a:lnTo>
                  <a:cubicBezTo>
                    <a:pt x="0" y="53641"/>
                    <a:pt x="7691" y="35073"/>
                    <a:pt x="21382" y="21382"/>
                  </a:cubicBezTo>
                  <a:cubicBezTo>
                    <a:pt x="35073" y="7691"/>
                    <a:pt x="53641" y="0"/>
                    <a:pt x="730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18788" cy="18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5DDB7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Program Tour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188074" y="6339954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467607" y="6936776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741167" y="7564009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982456" y="8191242"/>
            <a:ext cx="589175" cy="571500"/>
          </a:xfrm>
          <a:custGeom>
            <a:avLst/>
            <a:gdLst/>
            <a:ahLst/>
            <a:cxnLst/>
            <a:rect r="r" b="b" t="t" l="l"/>
            <a:pathLst>
              <a:path h="571500" w="589175">
                <a:moveTo>
                  <a:pt x="0" y="0"/>
                </a:moveTo>
                <a:lnTo>
                  <a:pt x="589176" y="0"/>
                </a:lnTo>
                <a:lnTo>
                  <a:pt x="58917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172531" y="8729395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Onboard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ing Funnel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Map the process of turning interest into confirmed membership.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44031" y="3138417"/>
            <a:ext cx="5080644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a friendly int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roduction that makes new members feel valued and supported from the start.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99571" y="4464194"/>
            <a:ext cx="5080644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Offer step-by-step inst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ructions that explain how to use the program effectively.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37860" y="5789970"/>
            <a:ext cx="5080644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Encourage members to experien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 one useful feature quickly to boost initial satisfaction.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63885" y="7115747"/>
            <a:ext cx="5080644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easy help 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options such as quick tips or contact points to build confidence.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14440" y="8441523"/>
            <a:ext cx="5080644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Introduce main se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ctions of the program with clear explanations to reduce confusion.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6791" y="3103201"/>
            <a:ext cx="7389628" cy="5985599"/>
          </a:xfrm>
          <a:custGeom>
            <a:avLst/>
            <a:gdLst/>
            <a:ahLst/>
            <a:cxnLst/>
            <a:rect r="r" b="b" t="t" l="l"/>
            <a:pathLst>
              <a:path h="5985599" w="7389628">
                <a:moveTo>
                  <a:pt x="0" y="0"/>
                </a:moveTo>
                <a:lnTo>
                  <a:pt x="7389627" y="0"/>
                </a:lnTo>
                <a:lnTo>
                  <a:pt x="7389627" y="5985598"/>
                </a:lnTo>
                <a:lnTo>
                  <a:pt x="0" y="598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26908" y="7818014"/>
            <a:ext cx="1044823" cy="1044823"/>
            <a:chOff x="0" y="0"/>
            <a:chExt cx="330106" cy="3301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0106" cy="330106"/>
            </a:xfrm>
            <a:custGeom>
              <a:avLst/>
              <a:gdLst/>
              <a:ahLst/>
              <a:cxnLst/>
              <a:rect r="r" b="b" t="t" l="l"/>
              <a:pathLst>
                <a:path h="330106" w="330106">
                  <a:moveTo>
                    <a:pt x="165053" y="0"/>
                  </a:moveTo>
                  <a:lnTo>
                    <a:pt x="165053" y="0"/>
                  </a:lnTo>
                  <a:cubicBezTo>
                    <a:pt x="256209" y="0"/>
                    <a:pt x="330106" y="73897"/>
                    <a:pt x="330106" y="165053"/>
                  </a:cubicBezTo>
                  <a:lnTo>
                    <a:pt x="330106" y="165053"/>
                  </a:lnTo>
                  <a:cubicBezTo>
                    <a:pt x="330106" y="256209"/>
                    <a:pt x="256209" y="330106"/>
                    <a:pt x="165053" y="330106"/>
                  </a:cubicBezTo>
                  <a:lnTo>
                    <a:pt x="165053" y="330106"/>
                  </a:lnTo>
                  <a:cubicBezTo>
                    <a:pt x="73897" y="330106"/>
                    <a:pt x="0" y="256209"/>
                    <a:pt x="0" y="165053"/>
                  </a:cubicBezTo>
                  <a:lnTo>
                    <a:pt x="0" y="165053"/>
                  </a:lnTo>
                  <a:cubicBezTo>
                    <a:pt x="0" y="73897"/>
                    <a:pt x="73897" y="0"/>
                    <a:pt x="165053" y="0"/>
                  </a:cubicBezTo>
                  <a:close/>
                </a:path>
              </a:pathLst>
            </a:custGeom>
            <a:solidFill>
              <a:srgbClr val="5DDB7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0106" cy="36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26884" y="7916854"/>
            <a:ext cx="2858119" cy="847143"/>
            <a:chOff x="0" y="0"/>
            <a:chExt cx="903006" cy="267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3006" cy="267650"/>
            </a:xfrm>
            <a:custGeom>
              <a:avLst/>
              <a:gdLst/>
              <a:ahLst/>
              <a:cxnLst/>
              <a:rect r="r" b="b" t="t" l="l"/>
              <a:pathLst>
                <a:path h="267650" w="903006">
                  <a:moveTo>
                    <a:pt x="62301" y="0"/>
                  </a:moveTo>
                  <a:lnTo>
                    <a:pt x="840705" y="0"/>
                  </a:lnTo>
                  <a:cubicBezTo>
                    <a:pt x="875113" y="0"/>
                    <a:pt x="903006" y="27893"/>
                    <a:pt x="903006" y="62301"/>
                  </a:cubicBezTo>
                  <a:lnTo>
                    <a:pt x="903006" y="205349"/>
                  </a:lnTo>
                  <a:cubicBezTo>
                    <a:pt x="903006" y="239757"/>
                    <a:pt x="875113" y="267650"/>
                    <a:pt x="840705" y="267650"/>
                  </a:cubicBezTo>
                  <a:lnTo>
                    <a:pt x="62301" y="267650"/>
                  </a:lnTo>
                  <a:cubicBezTo>
                    <a:pt x="27893" y="267650"/>
                    <a:pt x="0" y="239757"/>
                    <a:pt x="0" y="205349"/>
                  </a:cubicBezTo>
                  <a:lnTo>
                    <a:pt x="0" y="62301"/>
                  </a:lnTo>
                  <a:cubicBezTo>
                    <a:pt x="0" y="27893"/>
                    <a:pt x="27893" y="0"/>
                    <a:pt x="62301" y="0"/>
                  </a:cubicBezTo>
                  <a:close/>
                </a:path>
              </a:pathLst>
            </a:custGeom>
            <a:solidFill>
              <a:srgbClr val="D4EFDE"/>
            </a:solidFill>
            <a:ln w="19050" cap="rnd">
              <a:solidFill>
                <a:srgbClr val="5DDB7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03006" cy="30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Community Growth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6908" y="6325515"/>
            <a:ext cx="1044823" cy="1044823"/>
            <a:chOff x="0" y="0"/>
            <a:chExt cx="330106" cy="3301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106" cy="330106"/>
            </a:xfrm>
            <a:custGeom>
              <a:avLst/>
              <a:gdLst/>
              <a:ahLst/>
              <a:cxnLst/>
              <a:rect r="r" b="b" t="t" l="l"/>
              <a:pathLst>
                <a:path h="330106" w="330106">
                  <a:moveTo>
                    <a:pt x="165053" y="0"/>
                  </a:moveTo>
                  <a:lnTo>
                    <a:pt x="165053" y="0"/>
                  </a:lnTo>
                  <a:cubicBezTo>
                    <a:pt x="256209" y="0"/>
                    <a:pt x="330106" y="73897"/>
                    <a:pt x="330106" y="165053"/>
                  </a:cubicBezTo>
                  <a:lnTo>
                    <a:pt x="330106" y="165053"/>
                  </a:lnTo>
                  <a:cubicBezTo>
                    <a:pt x="330106" y="256209"/>
                    <a:pt x="256209" y="330106"/>
                    <a:pt x="165053" y="330106"/>
                  </a:cubicBezTo>
                  <a:lnTo>
                    <a:pt x="165053" y="330106"/>
                  </a:lnTo>
                  <a:cubicBezTo>
                    <a:pt x="73897" y="330106"/>
                    <a:pt x="0" y="256209"/>
                    <a:pt x="0" y="165053"/>
                  </a:cubicBezTo>
                  <a:lnTo>
                    <a:pt x="0" y="165053"/>
                  </a:lnTo>
                  <a:cubicBezTo>
                    <a:pt x="0" y="73897"/>
                    <a:pt x="73897" y="0"/>
                    <a:pt x="165053" y="0"/>
                  </a:cubicBezTo>
                  <a:close/>
                </a:path>
              </a:pathLst>
            </a:custGeom>
            <a:solidFill>
              <a:srgbClr val="00CCB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0106" cy="36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26884" y="6424356"/>
            <a:ext cx="2858119" cy="847143"/>
            <a:chOff x="0" y="0"/>
            <a:chExt cx="903006" cy="267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3006" cy="267650"/>
            </a:xfrm>
            <a:custGeom>
              <a:avLst/>
              <a:gdLst/>
              <a:ahLst/>
              <a:cxnLst/>
              <a:rect r="r" b="b" t="t" l="l"/>
              <a:pathLst>
                <a:path h="267650" w="903006">
                  <a:moveTo>
                    <a:pt x="62301" y="0"/>
                  </a:moveTo>
                  <a:lnTo>
                    <a:pt x="840705" y="0"/>
                  </a:lnTo>
                  <a:cubicBezTo>
                    <a:pt x="875113" y="0"/>
                    <a:pt x="903006" y="27893"/>
                    <a:pt x="903006" y="62301"/>
                  </a:cubicBezTo>
                  <a:lnTo>
                    <a:pt x="903006" y="205349"/>
                  </a:lnTo>
                  <a:cubicBezTo>
                    <a:pt x="903006" y="239757"/>
                    <a:pt x="875113" y="267650"/>
                    <a:pt x="840705" y="267650"/>
                  </a:cubicBezTo>
                  <a:lnTo>
                    <a:pt x="62301" y="267650"/>
                  </a:lnTo>
                  <a:cubicBezTo>
                    <a:pt x="27893" y="267650"/>
                    <a:pt x="0" y="239757"/>
                    <a:pt x="0" y="205349"/>
                  </a:cubicBezTo>
                  <a:lnTo>
                    <a:pt x="0" y="62301"/>
                  </a:lnTo>
                  <a:cubicBezTo>
                    <a:pt x="0" y="27893"/>
                    <a:pt x="27893" y="0"/>
                    <a:pt x="62301" y="0"/>
                  </a:cubicBezTo>
                  <a:close/>
                </a:path>
              </a:pathLst>
            </a:custGeom>
            <a:solidFill>
              <a:srgbClr val="CCECEA"/>
            </a:solidFill>
            <a:ln w="19050" cap="rnd">
              <a:solidFill>
                <a:srgbClr val="00CCBC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03006" cy="30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Social Proof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26908" y="4833017"/>
            <a:ext cx="1044823" cy="1044823"/>
            <a:chOff x="0" y="0"/>
            <a:chExt cx="330106" cy="3301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0106" cy="330106"/>
            </a:xfrm>
            <a:custGeom>
              <a:avLst/>
              <a:gdLst/>
              <a:ahLst/>
              <a:cxnLst/>
              <a:rect r="r" b="b" t="t" l="l"/>
              <a:pathLst>
                <a:path h="330106" w="330106">
                  <a:moveTo>
                    <a:pt x="165053" y="0"/>
                  </a:moveTo>
                  <a:lnTo>
                    <a:pt x="165053" y="0"/>
                  </a:lnTo>
                  <a:cubicBezTo>
                    <a:pt x="256209" y="0"/>
                    <a:pt x="330106" y="73897"/>
                    <a:pt x="330106" y="165053"/>
                  </a:cubicBezTo>
                  <a:lnTo>
                    <a:pt x="330106" y="165053"/>
                  </a:lnTo>
                  <a:cubicBezTo>
                    <a:pt x="330106" y="256209"/>
                    <a:pt x="256209" y="330106"/>
                    <a:pt x="165053" y="330106"/>
                  </a:cubicBezTo>
                  <a:lnTo>
                    <a:pt x="165053" y="330106"/>
                  </a:lnTo>
                  <a:cubicBezTo>
                    <a:pt x="73897" y="330106"/>
                    <a:pt x="0" y="256209"/>
                    <a:pt x="0" y="165053"/>
                  </a:cubicBezTo>
                  <a:lnTo>
                    <a:pt x="0" y="165053"/>
                  </a:lnTo>
                  <a:cubicBezTo>
                    <a:pt x="0" y="73897"/>
                    <a:pt x="73897" y="0"/>
                    <a:pt x="165053" y="0"/>
                  </a:cubicBez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0106" cy="36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26884" y="4931857"/>
            <a:ext cx="2858119" cy="847143"/>
            <a:chOff x="0" y="0"/>
            <a:chExt cx="903006" cy="267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3006" cy="267650"/>
            </a:xfrm>
            <a:custGeom>
              <a:avLst/>
              <a:gdLst/>
              <a:ahLst/>
              <a:cxnLst/>
              <a:rect r="r" b="b" t="t" l="l"/>
              <a:pathLst>
                <a:path h="267650" w="903006">
                  <a:moveTo>
                    <a:pt x="62301" y="0"/>
                  </a:moveTo>
                  <a:lnTo>
                    <a:pt x="840705" y="0"/>
                  </a:lnTo>
                  <a:cubicBezTo>
                    <a:pt x="875113" y="0"/>
                    <a:pt x="903006" y="27893"/>
                    <a:pt x="903006" y="62301"/>
                  </a:cubicBezTo>
                  <a:lnTo>
                    <a:pt x="903006" y="205349"/>
                  </a:lnTo>
                  <a:cubicBezTo>
                    <a:pt x="903006" y="239757"/>
                    <a:pt x="875113" y="267650"/>
                    <a:pt x="840705" y="267650"/>
                  </a:cubicBezTo>
                  <a:lnTo>
                    <a:pt x="62301" y="267650"/>
                  </a:lnTo>
                  <a:cubicBezTo>
                    <a:pt x="27893" y="267650"/>
                    <a:pt x="0" y="239757"/>
                    <a:pt x="0" y="205349"/>
                  </a:cubicBezTo>
                  <a:lnTo>
                    <a:pt x="0" y="62301"/>
                  </a:lnTo>
                  <a:cubicBezTo>
                    <a:pt x="0" y="27893"/>
                    <a:pt x="27893" y="0"/>
                    <a:pt x="62301" y="0"/>
                  </a:cubicBezTo>
                  <a:close/>
                </a:path>
              </a:pathLst>
            </a:custGeom>
            <a:solidFill>
              <a:srgbClr val="C8E7F2"/>
            </a:solidFill>
            <a:ln w="19050" cap="rnd">
              <a:solidFill>
                <a:srgbClr val="02B2E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03006" cy="30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Referral Drive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26908" y="3340518"/>
            <a:ext cx="1044823" cy="1044823"/>
            <a:chOff x="0" y="0"/>
            <a:chExt cx="330106" cy="3301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0106" cy="330106"/>
            </a:xfrm>
            <a:custGeom>
              <a:avLst/>
              <a:gdLst/>
              <a:ahLst/>
              <a:cxnLst/>
              <a:rect r="r" b="b" t="t" l="l"/>
              <a:pathLst>
                <a:path h="330106" w="330106">
                  <a:moveTo>
                    <a:pt x="165053" y="0"/>
                  </a:moveTo>
                  <a:lnTo>
                    <a:pt x="165053" y="0"/>
                  </a:lnTo>
                  <a:cubicBezTo>
                    <a:pt x="256209" y="0"/>
                    <a:pt x="330106" y="73897"/>
                    <a:pt x="330106" y="165053"/>
                  </a:cubicBezTo>
                  <a:lnTo>
                    <a:pt x="330106" y="165053"/>
                  </a:lnTo>
                  <a:cubicBezTo>
                    <a:pt x="330106" y="256209"/>
                    <a:pt x="256209" y="330106"/>
                    <a:pt x="165053" y="330106"/>
                  </a:cubicBezTo>
                  <a:lnTo>
                    <a:pt x="165053" y="330106"/>
                  </a:lnTo>
                  <a:cubicBezTo>
                    <a:pt x="73897" y="330106"/>
                    <a:pt x="0" y="256209"/>
                    <a:pt x="0" y="165053"/>
                  </a:cubicBezTo>
                  <a:lnTo>
                    <a:pt x="0" y="165053"/>
                  </a:lnTo>
                  <a:cubicBezTo>
                    <a:pt x="0" y="73897"/>
                    <a:pt x="73897" y="0"/>
                    <a:pt x="165053" y="0"/>
                  </a:cubicBezTo>
                  <a:close/>
                </a:path>
              </a:pathLst>
            </a:custGeom>
            <a:solidFill>
              <a:srgbClr val="7878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30106" cy="368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26884" y="3439359"/>
            <a:ext cx="2858119" cy="847143"/>
            <a:chOff x="0" y="0"/>
            <a:chExt cx="903006" cy="2676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3006" cy="267650"/>
            </a:xfrm>
            <a:custGeom>
              <a:avLst/>
              <a:gdLst/>
              <a:ahLst/>
              <a:cxnLst/>
              <a:rect r="r" b="b" t="t" l="l"/>
              <a:pathLst>
                <a:path h="267650" w="903006">
                  <a:moveTo>
                    <a:pt x="62301" y="0"/>
                  </a:moveTo>
                  <a:lnTo>
                    <a:pt x="840705" y="0"/>
                  </a:lnTo>
                  <a:cubicBezTo>
                    <a:pt x="875113" y="0"/>
                    <a:pt x="903006" y="27893"/>
                    <a:pt x="903006" y="62301"/>
                  </a:cubicBezTo>
                  <a:lnTo>
                    <a:pt x="903006" y="205349"/>
                  </a:lnTo>
                  <a:cubicBezTo>
                    <a:pt x="903006" y="239757"/>
                    <a:pt x="875113" y="267650"/>
                    <a:pt x="840705" y="267650"/>
                  </a:cubicBezTo>
                  <a:lnTo>
                    <a:pt x="62301" y="267650"/>
                  </a:lnTo>
                  <a:cubicBezTo>
                    <a:pt x="27893" y="267650"/>
                    <a:pt x="0" y="239757"/>
                    <a:pt x="0" y="205349"/>
                  </a:cubicBezTo>
                  <a:lnTo>
                    <a:pt x="0" y="62301"/>
                  </a:lnTo>
                  <a:cubicBezTo>
                    <a:pt x="0" y="27893"/>
                    <a:pt x="27893" y="0"/>
                    <a:pt x="62301" y="0"/>
                  </a:cubicBezTo>
                  <a:close/>
                </a:path>
              </a:pathLst>
            </a:custGeom>
            <a:solidFill>
              <a:srgbClr val="D5DBF5"/>
            </a:solidFill>
            <a:ln w="19050" cap="rnd">
              <a:solidFill>
                <a:srgbClr val="7878ED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03006" cy="30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Story Share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063569" y="3577180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064284" y="5069678"/>
            <a:ext cx="570071" cy="571500"/>
          </a:xfrm>
          <a:custGeom>
            <a:avLst/>
            <a:gdLst/>
            <a:ahLst/>
            <a:cxnLst/>
            <a:rect r="r" b="b" t="t" l="l"/>
            <a:pathLst>
              <a:path h="571500" w="570071">
                <a:moveTo>
                  <a:pt x="0" y="0"/>
                </a:moveTo>
                <a:lnTo>
                  <a:pt x="570071" y="0"/>
                </a:lnTo>
                <a:lnTo>
                  <a:pt x="570071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034009" y="6562177"/>
            <a:ext cx="630621" cy="571500"/>
          </a:xfrm>
          <a:custGeom>
            <a:avLst/>
            <a:gdLst/>
            <a:ahLst/>
            <a:cxnLst/>
            <a:rect r="r" b="b" t="t" l="l"/>
            <a:pathLst>
              <a:path h="571500" w="630621">
                <a:moveTo>
                  <a:pt x="0" y="0"/>
                </a:moveTo>
                <a:lnTo>
                  <a:pt x="630621" y="0"/>
                </a:lnTo>
                <a:lnTo>
                  <a:pt x="630621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063569" y="8054675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Advocacy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 Funnel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Describe how loyal members encourage others to join.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37428" y="7908252"/>
            <a:ext cx="3821872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Encourage members to bring in new participants, expanding the overall reach.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37428" y="6553885"/>
            <a:ext cx="3821872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Showcase authentic testimonials and stories to attract others naturally.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37428" y="5061386"/>
            <a:ext cx="3821872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Offer clear rewards or benefits for referring new members.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37428" y="3430757"/>
            <a:ext cx="3821872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Encourage members to share their positive experiences with peers and networks.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90856" y="4045068"/>
            <a:ext cx="2281497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90856" y="5421851"/>
            <a:ext cx="2281497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90856" y="6816522"/>
            <a:ext cx="2281497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90856" y="8190064"/>
            <a:ext cx="2281497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1921" y="2403224"/>
            <a:ext cx="5718122" cy="654341"/>
          </a:xfrm>
          <a:custGeom>
            <a:avLst/>
            <a:gdLst/>
            <a:ahLst/>
            <a:cxnLst/>
            <a:rect r="r" b="b" t="t" l="l"/>
            <a:pathLst>
              <a:path h="654341" w="5718122">
                <a:moveTo>
                  <a:pt x="0" y="0"/>
                </a:moveTo>
                <a:lnTo>
                  <a:pt x="5718122" y="0"/>
                </a:lnTo>
                <a:lnTo>
                  <a:pt x="5718122" y="654342"/>
                </a:lnTo>
                <a:lnTo>
                  <a:pt x="0" y="65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9379" t="-105674" r="-937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89782" y="1694423"/>
            <a:ext cx="7145718" cy="1134671"/>
            <a:chOff x="0" y="0"/>
            <a:chExt cx="1882000" cy="298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2000" cy="298843"/>
            </a:xfrm>
            <a:custGeom>
              <a:avLst/>
              <a:gdLst/>
              <a:ahLst/>
              <a:cxnLst/>
              <a:rect r="r" b="b" t="t" l="l"/>
              <a:pathLst>
                <a:path h="298843" w="1882000">
                  <a:moveTo>
                    <a:pt x="31420" y="0"/>
                  </a:moveTo>
                  <a:lnTo>
                    <a:pt x="1850580" y="0"/>
                  </a:lnTo>
                  <a:cubicBezTo>
                    <a:pt x="1867933" y="0"/>
                    <a:pt x="1882000" y="14067"/>
                    <a:pt x="1882000" y="31420"/>
                  </a:cubicBezTo>
                  <a:lnTo>
                    <a:pt x="1882000" y="267424"/>
                  </a:lnTo>
                  <a:cubicBezTo>
                    <a:pt x="1882000" y="275757"/>
                    <a:pt x="1878689" y="283748"/>
                    <a:pt x="1872797" y="289641"/>
                  </a:cubicBezTo>
                  <a:cubicBezTo>
                    <a:pt x="1866905" y="295533"/>
                    <a:pt x="1858913" y="298843"/>
                    <a:pt x="1850580" y="298843"/>
                  </a:cubicBezTo>
                  <a:lnTo>
                    <a:pt x="31420" y="298843"/>
                  </a:lnTo>
                  <a:cubicBezTo>
                    <a:pt x="23087" y="298843"/>
                    <a:pt x="15095" y="295533"/>
                    <a:pt x="9203" y="289641"/>
                  </a:cubicBezTo>
                  <a:cubicBezTo>
                    <a:pt x="3310" y="283748"/>
                    <a:pt x="0" y="275757"/>
                    <a:pt x="0" y="267424"/>
                  </a:cubicBezTo>
                  <a:lnTo>
                    <a:pt x="0" y="31420"/>
                  </a:lnTo>
                  <a:cubicBezTo>
                    <a:pt x="0" y="23087"/>
                    <a:pt x="3310" y="15095"/>
                    <a:pt x="9203" y="9203"/>
                  </a:cubicBezTo>
                  <a:cubicBezTo>
                    <a:pt x="15095" y="3310"/>
                    <a:pt x="23087" y="0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82000" cy="33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79728" y="2444446"/>
            <a:ext cx="2452417" cy="280913"/>
          </a:xfrm>
          <a:custGeom>
            <a:avLst/>
            <a:gdLst/>
            <a:ahLst/>
            <a:cxnLst/>
            <a:rect r="r" b="b" t="t" l="l"/>
            <a:pathLst>
              <a:path h="280913" w="2452417">
                <a:moveTo>
                  <a:pt x="0" y="0"/>
                </a:moveTo>
                <a:lnTo>
                  <a:pt x="2452417" y="0"/>
                </a:lnTo>
                <a:lnTo>
                  <a:pt x="2452417" y="280913"/>
                </a:lnTo>
                <a:lnTo>
                  <a:pt x="0" y="280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79728" y="1938615"/>
            <a:ext cx="2452417" cy="646287"/>
            <a:chOff x="0" y="0"/>
            <a:chExt cx="645904" cy="170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5904" cy="170216"/>
            </a:xfrm>
            <a:custGeom>
              <a:avLst/>
              <a:gdLst/>
              <a:ahLst/>
              <a:cxnLst/>
              <a:rect r="r" b="b" t="t" l="l"/>
              <a:pathLst>
                <a:path h="170216" w="645904">
                  <a:moveTo>
                    <a:pt x="85108" y="0"/>
                  </a:moveTo>
                  <a:lnTo>
                    <a:pt x="560796" y="0"/>
                  </a:lnTo>
                  <a:cubicBezTo>
                    <a:pt x="583368" y="0"/>
                    <a:pt x="605016" y="8967"/>
                    <a:pt x="620977" y="24927"/>
                  </a:cubicBezTo>
                  <a:cubicBezTo>
                    <a:pt x="636937" y="40888"/>
                    <a:pt x="645904" y="62536"/>
                    <a:pt x="645904" y="85108"/>
                  </a:cubicBezTo>
                  <a:lnTo>
                    <a:pt x="645904" y="85108"/>
                  </a:lnTo>
                  <a:cubicBezTo>
                    <a:pt x="645904" y="132112"/>
                    <a:pt x="607800" y="170216"/>
                    <a:pt x="560796" y="170216"/>
                  </a:cubicBezTo>
                  <a:lnTo>
                    <a:pt x="85108" y="170216"/>
                  </a:lnTo>
                  <a:cubicBezTo>
                    <a:pt x="38104" y="170216"/>
                    <a:pt x="0" y="132112"/>
                    <a:pt x="0" y="85108"/>
                  </a:cubicBezTo>
                  <a:lnTo>
                    <a:pt x="0" y="85108"/>
                  </a:lnTo>
                  <a:cubicBezTo>
                    <a:pt x="0" y="38104"/>
                    <a:pt x="38104" y="0"/>
                    <a:pt x="85108" y="0"/>
                  </a:cubicBezTo>
                  <a:close/>
                </a:path>
              </a:pathLst>
            </a:custGeom>
            <a:solidFill>
              <a:srgbClr val="7778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5904" cy="208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</a:t>
              </a: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nitial Reach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11540793" y="2169800"/>
            <a:ext cx="214758" cy="183917"/>
            <a:chOff x="0" y="0"/>
            <a:chExt cx="354879" cy="3039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879" cy="303914"/>
            </a:xfrm>
            <a:custGeom>
              <a:avLst/>
              <a:gdLst/>
              <a:ahLst/>
              <a:cxnLst/>
              <a:rect r="r" b="b" t="t" l="l"/>
              <a:pathLst>
                <a:path h="303914" w="354879">
                  <a:moveTo>
                    <a:pt x="177439" y="303914"/>
                  </a:moveTo>
                  <a:lnTo>
                    <a:pt x="354879" y="0"/>
                  </a:lnTo>
                  <a:lnTo>
                    <a:pt x="0" y="0"/>
                  </a:lnTo>
                  <a:lnTo>
                    <a:pt x="177439" y="303914"/>
                  </a:lnTo>
                  <a:close/>
                </a:path>
              </a:pathLst>
            </a:custGeom>
            <a:solidFill>
              <a:srgbClr val="7778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55450" y="-35442"/>
              <a:ext cx="243979" cy="198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57801" y="1829586"/>
            <a:ext cx="5162320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Share program details through clear online and offline channels, making it easy for people to discover and show initial interest.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531921" y="3920917"/>
            <a:ext cx="5718122" cy="654341"/>
          </a:xfrm>
          <a:custGeom>
            <a:avLst/>
            <a:gdLst/>
            <a:ahLst/>
            <a:cxnLst/>
            <a:rect r="r" b="b" t="t" l="l"/>
            <a:pathLst>
              <a:path h="654341" w="5718122">
                <a:moveTo>
                  <a:pt x="0" y="0"/>
                </a:moveTo>
                <a:lnTo>
                  <a:pt x="5718122" y="0"/>
                </a:lnTo>
                <a:lnTo>
                  <a:pt x="5718122" y="654341"/>
                </a:lnTo>
                <a:lnTo>
                  <a:pt x="0" y="654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9379" t="-105674" r="-9379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189782" y="3212116"/>
            <a:ext cx="7145718" cy="1134671"/>
            <a:chOff x="0" y="0"/>
            <a:chExt cx="1882000" cy="2988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82000" cy="298843"/>
            </a:xfrm>
            <a:custGeom>
              <a:avLst/>
              <a:gdLst/>
              <a:ahLst/>
              <a:cxnLst/>
              <a:rect r="r" b="b" t="t" l="l"/>
              <a:pathLst>
                <a:path h="298843" w="1882000">
                  <a:moveTo>
                    <a:pt x="31420" y="0"/>
                  </a:moveTo>
                  <a:lnTo>
                    <a:pt x="1850580" y="0"/>
                  </a:lnTo>
                  <a:cubicBezTo>
                    <a:pt x="1867933" y="0"/>
                    <a:pt x="1882000" y="14067"/>
                    <a:pt x="1882000" y="31420"/>
                  </a:cubicBezTo>
                  <a:lnTo>
                    <a:pt x="1882000" y="267424"/>
                  </a:lnTo>
                  <a:cubicBezTo>
                    <a:pt x="1882000" y="275757"/>
                    <a:pt x="1878689" y="283748"/>
                    <a:pt x="1872797" y="289641"/>
                  </a:cubicBezTo>
                  <a:cubicBezTo>
                    <a:pt x="1866905" y="295533"/>
                    <a:pt x="1858913" y="298843"/>
                    <a:pt x="1850580" y="298843"/>
                  </a:cubicBezTo>
                  <a:lnTo>
                    <a:pt x="31420" y="298843"/>
                  </a:lnTo>
                  <a:cubicBezTo>
                    <a:pt x="23087" y="298843"/>
                    <a:pt x="15095" y="295533"/>
                    <a:pt x="9203" y="289641"/>
                  </a:cubicBezTo>
                  <a:cubicBezTo>
                    <a:pt x="3310" y="283748"/>
                    <a:pt x="0" y="275757"/>
                    <a:pt x="0" y="267424"/>
                  </a:cubicBezTo>
                  <a:lnTo>
                    <a:pt x="0" y="31420"/>
                  </a:lnTo>
                  <a:cubicBezTo>
                    <a:pt x="0" y="23087"/>
                    <a:pt x="3310" y="15095"/>
                    <a:pt x="9203" y="9203"/>
                  </a:cubicBezTo>
                  <a:cubicBezTo>
                    <a:pt x="15095" y="3310"/>
                    <a:pt x="23087" y="0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82000" cy="33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179728" y="3962138"/>
            <a:ext cx="2452417" cy="280913"/>
          </a:xfrm>
          <a:custGeom>
            <a:avLst/>
            <a:gdLst/>
            <a:ahLst/>
            <a:cxnLst/>
            <a:rect r="r" b="b" t="t" l="l"/>
            <a:pathLst>
              <a:path h="280913" w="2452417">
                <a:moveTo>
                  <a:pt x="0" y="0"/>
                </a:moveTo>
                <a:lnTo>
                  <a:pt x="2452417" y="0"/>
                </a:lnTo>
                <a:lnTo>
                  <a:pt x="2452417" y="280913"/>
                </a:lnTo>
                <a:lnTo>
                  <a:pt x="0" y="280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179728" y="3456307"/>
            <a:ext cx="2452417" cy="646287"/>
            <a:chOff x="0" y="0"/>
            <a:chExt cx="645904" cy="170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5904" cy="170216"/>
            </a:xfrm>
            <a:custGeom>
              <a:avLst/>
              <a:gdLst/>
              <a:ahLst/>
              <a:cxnLst/>
              <a:rect r="r" b="b" t="t" l="l"/>
              <a:pathLst>
                <a:path h="170216" w="645904">
                  <a:moveTo>
                    <a:pt x="85108" y="0"/>
                  </a:moveTo>
                  <a:lnTo>
                    <a:pt x="560796" y="0"/>
                  </a:lnTo>
                  <a:cubicBezTo>
                    <a:pt x="583368" y="0"/>
                    <a:pt x="605016" y="8967"/>
                    <a:pt x="620977" y="24927"/>
                  </a:cubicBezTo>
                  <a:cubicBezTo>
                    <a:pt x="636937" y="40888"/>
                    <a:pt x="645904" y="62536"/>
                    <a:pt x="645904" y="85108"/>
                  </a:cubicBezTo>
                  <a:lnTo>
                    <a:pt x="645904" y="85108"/>
                  </a:lnTo>
                  <a:cubicBezTo>
                    <a:pt x="645904" y="132112"/>
                    <a:pt x="607800" y="170216"/>
                    <a:pt x="560796" y="170216"/>
                  </a:cubicBezTo>
                  <a:lnTo>
                    <a:pt x="85108" y="170216"/>
                  </a:lnTo>
                  <a:cubicBezTo>
                    <a:pt x="38104" y="170216"/>
                    <a:pt x="0" y="132112"/>
                    <a:pt x="0" y="85108"/>
                  </a:cubicBezTo>
                  <a:lnTo>
                    <a:pt x="0" y="85108"/>
                  </a:lnTo>
                  <a:cubicBezTo>
                    <a:pt x="0" y="38104"/>
                    <a:pt x="38104" y="0"/>
                    <a:pt x="85108" y="0"/>
                  </a:cubicBezTo>
                  <a:close/>
                </a:path>
              </a:pathLst>
            </a:custGeom>
            <a:solidFill>
              <a:srgbClr val="538EF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5904" cy="208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Aud</a:t>
              </a: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ience Target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1540793" y="3687493"/>
            <a:ext cx="214758" cy="183917"/>
            <a:chOff x="0" y="0"/>
            <a:chExt cx="354879" cy="30391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4879" cy="303914"/>
            </a:xfrm>
            <a:custGeom>
              <a:avLst/>
              <a:gdLst/>
              <a:ahLst/>
              <a:cxnLst/>
              <a:rect r="r" b="b" t="t" l="l"/>
              <a:pathLst>
                <a:path h="303914" w="354879">
                  <a:moveTo>
                    <a:pt x="177439" y="303914"/>
                  </a:moveTo>
                  <a:lnTo>
                    <a:pt x="354879" y="0"/>
                  </a:lnTo>
                  <a:lnTo>
                    <a:pt x="0" y="0"/>
                  </a:lnTo>
                  <a:lnTo>
                    <a:pt x="177439" y="303914"/>
                  </a:lnTo>
                  <a:close/>
                </a:path>
              </a:pathLst>
            </a:custGeom>
            <a:solidFill>
              <a:srgbClr val="538EF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55450" y="-35442"/>
              <a:ext cx="243979" cy="198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057801" y="3347278"/>
            <a:ext cx="5162320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 potential members who match the program’s values and goals, focusing communication efforts on the groups most likely to participate.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500" y="6707456"/>
            <a:ext cx="3673199" cy="127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Aware</a:t>
            </a:r>
            <a:r>
              <a:rPr lang="en-US" b="true" sz="42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ness Funnel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500" y="8280138"/>
            <a:ext cx="3221928" cy="62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Outline the first stage where potential members learn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524250" y="1694423"/>
            <a:ext cx="5411703" cy="7288488"/>
          </a:xfrm>
          <a:custGeom>
            <a:avLst/>
            <a:gdLst/>
            <a:ahLst/>
            <a:cxnLst/>
            <a:rect r="r" b="b" t="t" l="l"/>
            <a:pathLst>
              <a:path h="7288488" w="5411703">
                <a:moveTo>
                  <a:pt x="0" y="0"/>
                </a:moveTo>
                <a:lnTo>
                  <a:pt x="5411703" y="0"/>
                </a:lnTo>
                <a:lnTo>
                  <a:pt x="5411703" y="7288489"/>
                </a:lnTo>
                <a:lnTo>
                  <a:pt x="0" y="728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5955980" y="3167194"/>
            <a:ext cx="548242" cy="54824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778E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32"/>
                </a:lnSpc>
              </a:pPr>
              <a:r>
                <a:rPr lang="en-US" b="true" sz="16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955980" y="4602997"/>
            <a:ext cx="548242" cy="561471"/>
            <a:chOff x="0" y="0"/>
            <a:chExt cx="812800" cy="8324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32413"/>
            </a:xfrm>
            <a:custGeom>
              <a:avLst/>
              <a:gdLst/>
              <a:ahLst/>
              <a:cxnLst/>
              <a:rect r="r" b="b" t="t" l="l"/>
              <a:pathLst>
                <a:path h="832413" w="812800">
                  <a:moveTo>
                    <a:pt x="406400" y="0"/>
                  </a:moveTo>
                  <a:cubicBezTo>
                    <a:pt x="181951" y="0"/>
                    <a:pt x="0" y="186342"/>
                    <a:pt x="0" y="416206"/>
                  </a:cubicBezTo>
                  <a:cubicBezTo>
                    <a:pt x="0" y="646071"/>
                    <a:pt x="181951" y="832413"/>
                    <a:pt x="406400" y="832413"/>
                  </a:cubicBezTo>
                  <a:cubicBezTo>
                    <a:pt x="630849" y="832413"/>
                    <a:pt x="812800" y="646071"/>
                    <a:pt x="812800" y="416206"/>
                  </a:cubicBezTo>
                  <a:cubicBezTo>
                    <a:pt x="812800" y="186342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538E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9939"/>
              <a:ext cx="660400" cy="71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955980" y="5894750"/>
            <a:ext cx="548242" cy="561471"/>
            <a:chOff x="0" y="0"/>
            <a:chExt cx="812800" cy="8324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32413"/>
            </a:xfrm>
            <a:custGeom>
              <a:avLst/>
              <a:gdLst/>
              <a:ahLst/>
              <a:cxnLst/>
              <a:rect r="r" b="b" t="t" l="l"/>
              <a:pathLst>
                <a:path h="832413" w="812800">
                  <a:moveTo>
                    <a:pt x="406400" y="0"/>
                  </a:moveTo>
                  <a:cubicBezTo>
                    <a:pt x="181951" y="0"/>
                    <a:pt x="0" y="186342"/>
                    <a:pt x="0" y="416206"/>
                  </a:cubicBezTo>
                  <a:cubicBezTo>
                    <a:pt x="0" y="646071"/>
                    <a:pt x="181951" y="832413"/>
                    <a:pt x="406400" y="832413"/>
                  </a:cubicBezTo>
                  <a:cubicBezTo>
                    <a:pt x="630849" y="832413"/>
                    <a:pt x="812800" y="646071"/>
                    <a:pt x="812800" y="416206"/>
                  </a:cubicBezTo>
                  <a:cubicBezTo>
                    <a:pt x="812800" y="186342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2B2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9939"/>
              <a:ext cx="660400" cy="71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55980" y="7015831"/>
            <a:ext cx="548242" cy="561471"/>
            <a:chOff x="0" y="0"/>
            <a:chExt cx="812800" cy="83241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32413"/>
            </a:xfrm>
            <a:custGeom>
              <a:avLst/>
              <a:gdLst/>
              <a:ahLst/>
              <a:cxnLst/>
              <a:rect r="r" b="b" t="t" l="l"/>
              <a:pathLst>
                <a:path h="832413" w="812800">
                  <a:moveTo>
                    <a:pt x="406400" y="0"/>
                  </a:moveTo>
                  <a:cubicBezTo>
                    <a:pt x="181951" y="0"/>
                    <a:pt x="0" y="186342"/>
                    <a:pt x="0" y="416206"/>
                  </a:cubicBezTo>
                  <a:cubicBezTo>
                    <a:pt x="0" y="646071"/>
                    <a:pt x="181951" y="832413"/>
                    <a:pt x="406400" y="832413"/>
                  </a:cubicBezTo>
                  <a:cubicBezTo>
                    <a:pt x="630849" y="832413"/>
                    <a:pt x="812800" y="646071"/>
                    <a:pt x="812800" y="416206"/>
                  </a:cubicBezTo>
                  <a:cubicBezTo>
                    <a:pt x="812800" y="186342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B3A5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9939"/>
              <a:ext cx="660400" cy="71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955980" y="8259978"/>
            <a:ext cx="548242" cy="561471"/>
            <a:chOff x="0" y="0"/>
            <a:chExt cx="812800" cy="83241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32413"/>
            </a:xfrm>
            <a:custGeom>
              <a:avLst/>
              <a:gdLst/>
              <a:ahLst/>
              <a:cxnLst/>
              <a:rect r="r" b="b" t="t" l="l"/>
              <a:pathLst>
                <a:path h="832413" w="812800">
                  <a:moveTo>
                    <a:pt x="406400" y="0"/>
                  </a:moveTo>
                  <a:cubicBezTo>
                    <a:pt x="181951" y="0"/>
                    <a:pt x="0" y="186342"/>
                    <a:pt x="0" y="416206"/>
                  </a:cubicBezTo>
                  <a:cubicBezTo>
                    <a:pt x="0" y="646071"/>
                    <a:pt x="181951" y="832413"/>
                    <a:pt x="406400" y="832413"/>
                  </a:cubicBezTo>
                  <a:cubicBezTo>
                    <a:pt x="630849" y="832413"/>
                    <a:pt x="812800" y="646071"/>
                    <a:pt x="812800" y="416206"/>
                  </a:cubicBezTo>
                  <a:cubicBezTo>
                    <a:pt x="812800" y="186342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5DDB7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9939"/>
              <a:ext cx="660400" cy="71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1531921" y="5438609"/>
            <a:ext cx="5718122" cy="654341"/>
          </a:xfrm>
          <a:custGeom>
            <a:avLst/>
            <a:gdLst/>
            <a:ahLst/>
            <a:cxnLst/>
            <a:rect r="r" b="b" t="t" l="l"/>
            <a:pathLst>
              <a:path h="654341" w="5718122">
                <a:moveTo>
                  <a:pt x="0" y="0"/>
                </a:moveTo>
                <a:lnTo>
                  <a:pt x="5718122" y="0"/>
                </a:lnTo>
                <a:lnTo>
                  <a:pt x="5718122" y="654341"/>
                </a:lnTo>
                <a:lnTo>
                  <a:pt x="0" y="654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9379" t="-105674" r="-9379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0189782" y="4729808"/>
            <a:ext cx="7145718" cy="1134671"/>
            <a:chOff x="0" y="0"/>
            <a:chExt cx="1882000" cy="2988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82000" cy="298843"/>
            </a:xfrm>
            <a:custGeom>
              <a:avLst/>
              <a:gdLst/>
              <a:ahLst/>
              <a:cxnLst/>
              <a:rect r="r" b="b" t="t" l="l"/>
              <a:pathLst>
                <a:path h="298843" w="1882000">
                  <a:moveTo>
                    <a:pt x="31420" y="0"/>
                  </a:moveTo>
                  <a:lnTo>
                    <a:pt x="1850580" y="0"/>
                  </a:lnTo>
                  <a:cubicBezTo>
                    <a:pt x="1867933" y="0"/>
                    <a:pt x="1882000" y="14067"/>
                    <a:pt x="1882000" y="31420"/>
                  </a:cubicBezTo>
                  <a:lnTo>
                    <a:pt x="1882000" y="267424"/>
                  </a:lnTo>
                  <a:cubicBezTo>
                    <a:pt x="1882000" y="275757"/>
                    <a:pt x="1878689" y="283748"/>
                    <a:pt x="1872797" y="289641"/>
                  </a:cubicBezTo>
                  <a:cubicBezTo>
                    <a:pt x="1866905" y="295533"/>
                    <a:pt x="1858913" y="298843"/>
                    <a:pt x="1850580" y="298843"/>
                  </a:cubicBezTo>
                  <a:lnTo>
                    <a:pt x="31420" y="298843"/>
                  </a:lnTo>
                  <a:cubicBezTo>
                    <a:pt x="23087" y="298843"/>
                    <a:pt x="15095" y="295533"/>
                    <a:pt x="9203" y="289641"/>
                  </a:cubicBezTo>
                  <a:cubicBezTo>
                    <a:pt x="3310" y="283748"/>
                    <a:pt x="0" y="275757"/>
                    <a:pt x="0" y="267424"/>
                  </a:cubicBezTo>
                  <a:lnTo>
                    <a:pt x="0" y="31420"/>
                  </a:lnTo>
                  <a:cubicBezTo>
                    <a:pt x="0" y="23087"/>
                    <a:pt x="3310" y="15095"/>
                    <a:pt x="9203" y="9203"/>
                  </a:cubicBezTo>
                  <a:cubicBezTo>
                    <a:pt x="15095" y="3310"/>
                    <a:pt x="23087" y="0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882000" cy="33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9179728" y="5479830"/>
            <a:ext cx="2452417" cy="280913"/>
          </a:xfrm>
          <a:custGeom>
            <a:avLst/>
            <a:gdLst/>
            <a:ahLst/>
            <a:cxnLst/>
            <a:rect r="r" b="b" t="t" l="l"/>
            <a:pathLst>
              <a:path h="280913" w="2452417">
                <a:moveTo>
                  <a:pt x="0" y="0"/>
                </a:moveTo>
                <a:lnTo>
                  <a:pt x="2452417" y="0"/>
                </a:lnTo>
                <a:lnTo>
                  <a:pt x="2452417" y="280914"/>
                </a:lnTo>
                <a:lnTo>
                  <a:pt x="0" y="280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9179728" y="4974000"/>
            <a:ext cx="2452417" cy="646287"/>
            <a:chOff x="0" y="0"/>
            <a:chExt cx="645904" cy="170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5904" cy="170216"/>
            </a:xfrm>
            <a:custGeom>
              <a:avLst/>
              <a:gdLst/>
              <a:ahLst/>
              <a:cxnLst/>
              <a:rect r="r" b="b" t="t" l="l"/>
              <a:pathLst>
                <a:path h="170216" w="645904">
                  <a:moveTo>
                    <a:pt x="85108" y="0"/>
                  </a:moveTo>
                  <a:lnTo>
                    <a:pt x="560796" y="0"/>
                  </a:lnTo>
                  <a:cubicBezTo>
                    <a:pt x="583368" y="0"/>
                    <a:pt x="605016" y="8967"/>
                    <a:pt x="620977" y="24927"/>
                  </a:cubicBezTo>
                  <a:cubicBezTo>
                    <a:pt x="636937" y="40888"/>
                    <a:pt x="645904" y="62536"/>
                    <a:pt x="645904" y="85108"/>
                  </a:cubicBezTo>
                  <a:lnTo>
                    <a:pt x="645904" y="85108"/>
                  </a:lnTo>
                  <a:cubicBezTo>
                    <a:pt x="645904" y="132112"/>
                    <a:pt x="607800" y="170216"/>
                    <a:pt x="560796" y="170216"/>
                  </a:cubicBezTo>
                  <a:lnTo>
                    <a:pt x="85108" y="170216"/>
                  </a:lnTo>
                  <a:cubicBezTo>
                    <a:pt x="38104" y="170216"/>
                    <a:pt x="0" y="132112"/>
                    <a:pt x="0" y="85108"/>
                  </a:cubicBezTo>
                  <a:lnTo>
                    <a:pt x="0" y="85108"/>
                  </a:lnTo>
                  <a:cubicBezTo>
                    <a:pt x="0" y="38104"/>
                    <a:pt x="38104" y="0"/>
                    <a:pt x="85108" y="0"/>
                  </a:cubicBez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45904" cy="208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Message Del</a:t>
              </a: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ivery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11540793" y="5205185"/>
            <a:ext cx="214758" cy="183917"/>
            <a:chOff x="0" y="0"/>
            <a:chExt cx="354879" cy="30391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4879" cy="303914"/>
            </a:xfrm>
            <a:custGeom>
              <a:avLst/>
              <a:gdLst/>
              <a:ahLst/>
              <a:cxnLst/>
              <a:rect r="r" b="b" t="t" l="l"/>
              <a:pathLst>
                <a:path h="303914" w="354879">
                  <a:moveTo>
                    <a:pt x="177439" y="303914"/>
                  </a:moveTo>
                  <a:lnTo>
                    <a:pt x="354879" y="0"/>
                  </a:lnTo>
                  <a:lnTo>
                    <a:pt x="0" y="0"/>
                  </a:lnTo>
                  <a:lnTo>
                    <a:pt x="177439" y="303914"/>
                  </a:ln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55450" y="-35442"/>
              <a:ext cx="243979" cy="198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057801" y="4864970"/>
            <a:ext cx="5162320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consistent, simple communication to explain what the program is, why it matters, and how it benefits new members.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1531921" y="6956301"/>
            <a:ext cx="5718122" cy="654341"/>
          </a:xfrm>
          <a:custGeom>
            <a:avLst/>
            <a:gdLst/>
            <a:ahLst/>
            <a:cxnLst/>
            <a:rect r="r" b="b" t="t" l="l"/>
            <a:pathLst>
              <a:path h="654341" w="5718122">
                <a:moveTo>
                  <a:pt x="0" y="0"/>
                </a:moveTo>
                <a:lnTo>
                  <a:pt x="5718122" y="0"/>
                </a:lnTo>
                <a:lnTo>
                  <a:pt x="5718122" y="654342"/>
                </a:lnTo>
                <a:lnTo>
                  <a:pt x="0" y="65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9379" t="-105674" r="-9379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0189782" y="6247500"/>
            <a:ext cx="7145718" cy="1134671"/>
            <a:chOff x="0" y="0"/>
            <a:chExt cx="1882000" cy="29884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82000" cy="298843"/>
            </a:xfrm>
            <a:custGeom>
              <a:avLst/>
              <a:gdLst/>
              <a:ahLst/>
              <a:cxnLst/>
              <a:rect r="r" b="b" t="t" l="l"/>
              <a:pathLst>
                <a:path h="298843" w="1882000">
                  <a:moveTo>
                    <a:pt x="31420" y="0"/>
                  </a:moveTo>
                  <a:lnTo>
                    <a:pt x="1850580" y="0"/>
                  </a:lnTo>
                  <a:cubicBezTo>
                    <a:pt x="1867933" y="0"/>
                    <a:pt x="1882000" y="14067"/>
                    <a:pt x="1882000" y="31420"/>
                  </a:cubicBezTo>
                  <a:lnTo>
                    <a:pt x="1882000" y="267424"/>
                  </a:lnTo>
                  <a:cubicBezTo>
                    <a:pt x="1882000" y="275757"/>
                    <a:pt x="1878689" y="283748"/>
                    <a:pt x="1872797" y="289641"/>
                  </a:cubicBezTo>
                  <a:cubicBezTo>
                    <a:pt x="1866905" y="295533"/>
                    <a:pt x="1858913" y="298843"/>
                    <a:pt x="1850580" y="298843"/>
                  </a:cubicBezTo>
                  <a:lnTo>
                    <a:pt x="31420" y="298843"/>
                  </a:lnTo>
                  <a:cubicBezTo>
                    <a:pt x="23087" y="298843"/>
                    <a:pt x="15095" y="295533"/>
                    <a:pt x="9203" y="289641"/>
                  </a:cubicBezTo>
                  <a:cubicBezTo>
                    <a:pt x="3310" y="283748"/>
                    <a:pt x="0" y="275757"/>
                    <a:pt x="0" y="267424"/>
                  </a:cubicBezTo>
                  <a:lnTo>
                    <a:pt x="0" y="31420"/>
                  </a:lnTo>
                  <a:cubicBezTo>
                    <a:pt x="0" y="23087"/>
                    <a:pt x="3310" y="15095"/>
                    <a:pt x="9203" y="9203"/>
                  </a:cubicBezTo>
                  <a:cubicBezTo>
                    <a:pt x="15095" y="3310"/>
                    <a:pt x="23087" y="0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882000" cy="33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9179728" y="6997523"/>
            <a:ext cx="2452417" cy="280913"/>
          </a:xfrm>
          <a:custGeom>
            <a:avLst/>
            <a:gdLst/>
            <a:ahLst/>
            <a:cxnLst/>
            <a:rect r="r" b="b" t="t" l="l"/>
            <a:pathLst>
              <a:path h="280913" w="2452417">
                <a:moveTo>
                  <a:pt x="0" y="0"/>
                </a:moveTo>
                <a:lnTo>
                  <a:pt x="2452417" y="0"/>
                </a:lnTo>
                <a:lnTo>
                  <a:pt x="2452417" y="280913"/>
                </a:lnTo>
                <a:lnTo>
                  <a:pt x="0" y="280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9179728" y="6491692"/>
            <a:ext cx="2452417" cy="646287"/>
            <a:chOff x="0" y="0"/>
            <a:chExt cx="645904" cy="170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5904" cy="170216"/>
            </a:xfrm>
            <a:custGeom>
              <a:avLst/>
              <a:gdLst/>
              <a:ahLst/>
              <a:cxnLst/>
              <a:rect r="r" b="b" t="t" l="l"/>
              <a:pathLst>
                <a:path h="170216" w="645904">
                  <a:moveTo>
                    <a:pt x="85108" y="0"/>
                  </a:moveTo>
                  <a:lnTo>
                    <a:pt x="560796" y="0"/>
                  </a:lnTo>
                  <a:cubicBezTo>
                    <a:pt x="583368" y="0"/>
                    <a:pt x="605016" y="8967"/>
                    <a:pt x="620977" y="24927"/>
                  </a:cubicBezTo>
                  <a:cubicBezTo>
                    <a:pt x="636937" y="40888"/>
                    <a:pt x="645904" y="62536"/>
                    <a:pt x="645904" y="85108"/>
                  </a:cubicBezTo>
                  <a:lnTo>
                    <a:pt x="645904" y="85108"/>
                  </a:lnTo>
                  <a:cubicBezTo>
                    <a:pt x="645904" y="132112"/>
                    <a:pt x="607800" y="170216"/>
                    <a:pt x="560796" y="170216"/>
                  </a:cubicBezTo>
                  <a:lnTo>
                    <a:pt x="85108" y="170216"/>
                  </a:lnTo>
                  <a:cubicBezTo>
                    <a:pt x="38104" y="170216"/>
                    <a:pt x="0" y="132112"/>
                    <a:pt x="0" y="85108"/>
                  </a:cubicBezTo>
                  <a:lnTo>
                    <a:pt x="0" y="85108"/>
                  </a:lnTo>
                  <a:cubicBezTo>
                    <a:pt x="0" y="38104"/>
                    <a:pt x="38104" y="0"/>
                    <a:pt x="85108" y="0"/>
                  </a:cubicBezTo>
                  <a:close/>
                </a:path>
              </a:pathLst>
            </a:custGeom>
            <a:solidFill>
              <a:srgbClr val="00B4A5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45904" cy="208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</a:t>
              </a: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irst Interest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-5400000">
            <a:off x="11540793" y="6722877"/>
            <a:ext cx="214758" cy="183917"/>
            <a:chOff x="0" y="0"/>
            <a:chExt cx="354879" cy="30391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54879" cy="303914"/>
            </a:xfrm>
            <a:custGeom>
              <a:avLst/>
              <a:gdLst/>
              <a:ahLst/>
              <a:cxnLst/>
              <a:rect r="r" b="b" t="t" l="l"/>
              <a:pathLst>
                <a:path h="303914" w="354879">
                  <a:moveTo>
                    <a:pt x="177439" y="303914"/>
                  </a:moveTo>
                  <a:lnTo>
                    <a:pt x="354879" y="0"/>
                  </a:lnTo>
                  <a:lnTo>
                    <a:pt x="0" y="0"/>
                  </a:lnTo>
                  <a:lnTo>
                    <a:pt x="177439" y="303914"/>
                  </a:lnTo>
                  <a:close/>
                </a:path>
              </a:pathLst>
            </a:custGeom>
            <a:solidFill>
              <a:srgbClr val="00B4A5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55450" y="-35442"/>
              <a:ext cx="243979" cy="198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057801" y="6382662"/>
            <a:ext cx="5162320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Track responses such as sign-ups, clicks, or questions to measure the success of the awareness stage and adjust communication if needed.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11531921" y="8473994"/>
            <a:ext cx="5718122" cy="654341"/>
          </a:xfrm>
          <a:custGeom>
            <a:avLst/>
            <a:gdLst/>
            <a:ahLst/>
            <a:cxnLst/>
            <a:rect r="r" b="b" t="t" l="l"/>
            <a:pathLst>
              <a:path h="654341" w="5718122">
                <a:moveTo>
                  <a:pt x="0" y="0"/>
                </a:moveTo>
                <a:lnTo>
                  <a:pt x="5718122" y="0"/>
                </a:lnTo>
                <a:lnTo>
                  <a:pt x="5718122" y="654341"/>
                </a:lnTo>
                <a:lnTo>
                  <a:pt x="0" y="654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9379" t="-105674" r="-9379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0189782" y="7765193"/>
            <a:ext cx="7145718" cy="1134671"/>
            <a:chOff x="0" y="0"/>
            <a:chExt cx="1882000" cy="2988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82000" cy="298843"/>
            </a:xfrm>
            <a:custGeom>
              <a:avLst/>
              <a:gdLst/>
              <a:ahLst/>
              <a:cxnLst/>
              <a:rect r="r" b="b" t="t" l="l"/>
              <a:pathLst>
                <a:path h="298843" w="1882000">
                  <a:moveTo>
                    <a:pt x="31420" y="0"/>
                  </a:moveTo>
                  <a:lnTo>
                    <a:pt x="1850580" y="0"/>
                  </a:lnTo>
                  <a:cubicBezTo>
                    <a:pt x="1867933" y="0"/>
                    <a:pt x="1882000" y="14067"/>
                    <a:pt x="1882000" y="31420"/>
                  </a:cubicBezTo>
                  <a:lnTo>
                    <a:pt x="1882000" y="267424"/>
                  </a:lnTo>
                  <a:cubicBezTo>
                    <a:pt x="1882000" y="275757"/>
                    <a:pt x="1878689" y="283748"/>
                    <a:pt x="1872797" y="289641"/>
                  </a:cubicBezTo>
                  <a:cubicBezTo>
                    <a:pt x="1866905" y="295533"/>
                    <a:pt x="1858913" y="298843"/>
                    <a:pt x="1850580" y="298843"/>
                  </a:cubicBezTo>
                  <a:lnTo>
                    <a:pt x="31420" y="298843"/>
                  </a:lnTo>
                  <a:cubicBezTo>
                    <a:pt x="23087" y="298843"/>
                    <a:pt x="15095" y="295533"/>
                    <a:pt x="9203" y="289641"/>
                  </a:cubicBezTo>
                  <a:cubicBezTo>
                    <a:pt x="3310" y="283748"/>
                    <a:pt x="0" y="275757"/>
                    <a:pt x="0" y="267424"/>
                  </a:cubicBezTo>
                  <a:lnTo>
                    <a:pt x="0" y="31420"/>
                  </a:lnTo>
                  <a:cubicBezTo>
                    <a:pt x="0" y="23087"/>
                    <a:pt x="3310" y="15095"/>
                    <a:pt x="9203" y="9203"/>
                  </a:cubicBezTo>
                  <a:cubicBezTo>
                    <a:pt x="15095" y="3310"/>
                    <a:pt x="23087" y="0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882000" cy="336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179728" y="8515215"/>
            <a:ext cx="2452417" cy="280913"/>
          </a:xfrm>
          <a:custGeom>
            <a:avLst/>
            <a:gdLst/>
            <a:ahLst/>
            <a:cxnLst/>
            <a:rect r="r" b="b" t="t" l="l"/>
            <a:pathLst>
              <a:path h="280913" w="2452417">
                <a:moveTo>
                  <a:pt x="0" y="0"/>
                </a:moveTo>
                <a:lnTo>
                  <a:pt x="2452417" y="0"/>
                </a:lnTo>
                <a:lnTo>
                  <a:pt x="2452417" y="280913"/>
                </a:lnTo>
                <a:lnTo>
                  <a:pt x="0" y="280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9179728" y="8009384"/>
            <a:ext cx="2452417" cy="646287"/>
            <a:chOff x="0" y="0"/>
            <a:chExt cx="645904" cy="170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5904" cy="170216"/>
            </a:xfrm>
            <a:custGeom>
              <a:avLst/>
              <a:gdLst/>
              <a:ahLst/>
              <a:cxnLst/>
              <a:rect r="r" b="b" t="t" l="l"/>
              <a:pathLst>
                <a:path h="170216" w="645904">
                  <a:moveTo>
                    <a:pt x="85108" y="0"/>
                  </a:moveTo>
                  <a:lnTo>
                    <a:pt x="560796" y="0"/>
                  </a:lnTo>
                  <a:cubicBezTo>
                    <a:pt x="583368" y="0"/>
                    <a:pt x="605016" y="8967"/>
                    <a:pt x="620977" y="24927"/>
                  </a:cubicBezTo>
                  <a:cubicBezTo>
                    <a:pt x="636937" y="40888"/>
                    <a:pt x="645904" y="62536"/>
                    <a:pt x="645904" y="85108"/>
                  </a:cubicBezTo>
                  <a:lnTo>
                    <a:pt x="645904" y="85108"/>
                  </a:lnTo>
                  <a:cubicBezTo>
                    <a:pt x="645904" y="132112"/>
                    <a:pt x="607800" y="170216"/>
                    <a:pt x="560796" y="170216"/>
                  </a:cubicBezTo>
                  <a:lnTo>
                    <a:pt x="85108" y="170216"/>
                  </a:lnTo>
                  <a:cubicBezTo>
                    <a:pt x="38104" y="170216"/>
                    <a:pt x="0" y="132112"/>
                    <a:pt x="0" y="85108"/>
                  </a:cubicBezTo>
                  <a:lnTo>
                    <a:pt x="0" y="85108"/>
                  </a:lnTo>
                  <a:cubicBezTo>
                    <a:pt x="0" y="38104"/>
                    <a:pt x="38104" y="0"/>
                    <a:pt x="85108" y="0"/>
                  </a:cubicBezTo>
                  <a:close/>
                </a:path>
              </a:pathLst>
            </a:custGeom>
            <a:solidFill>
              <a:srgbClr val="5DDB79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45904" cy="208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Curio</a:t>
              </a: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sity Build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-5400000">
            <a:off x="11540793" y="8240570"/>
            <a:ext cx="214758" cy="183917"/>
            <a:chOff x="0" y="0"/>
            <a:chExt cx="354879" cy="30391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4879" cy="303914"/>
            </a:xfrm>
            <a:custGeom>
              <a:avLst/>
              <a:gdLst/>
              <a:ahLst/>
              <a:cxnLst/>
              <a:rect r="r" b="b" t="t" l="l"/>
              <a:pathLst>
                <a:path h="303914" w="354879">
                  <a:moveTo>
                    <a:pt x="177439" y="303914"/>
                  </a:moveTo>
                  <a:lnTo>
                    <a:pt x="354879" y="0"/>
                  </a:lnTo>
                  <a:lnTo>
                    <a:pt x="0" y="0"/>
                  </a:lnTo>
                  <a:lnTo>
                    <a:pt x="177439" y="303914"/>
                  </a:lnTo>
                  <a:close/>
                </a:path>
              </a:pathLst>
            </a:custGeom>
            <a:solidFill>
              <a:srgbClr val="5DDB79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55450" y="-35442"/>
              <a:ext cx="243979" cy="198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2057801" y="8038486"/>
            <a:ext cx="516232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engaging entry-level content that encourages people to learn more and move forward in the funnel.</a:t>
            </a:r>
          </a:p>
        </p:txBody>
      </p:sp>
      <p:sp>
        <p:nvSpPr>
          <p:cNvPr name="Freeform 80" id="80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3784466" y="3003796"/>
            <a:ext cx="4066644" cy="1143744"/>
          </a:xfrm>
          <a:custGeom>
            <a:avLst/>
            <a:gdLst/>
            <a:ahLst/>
            <a:cxnLst/>
            <a:rect r="r" b="b" t="t" l="l"/>
            <a:pathLst>
              <a:path h="1143744" w="4066644">
                <a:moveTo>
                  <a:pt x="0" y="0"/>
                </a:moveTo>
                <a:lnTo>
                  <a:pt x="4066644" y="0"/>
                </a:lnTo>
                <a:lnTo>
                  <a:pt x="4066644" y="1143743"/>
                </a:lnTo>
                <a:lnTo>
                  <a:pt x="0" y="11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3631" y="3059031"/>
            <a:ext cx="3347626" cy="1033273"/>
            <a:chOff x="0" y="0"/>
            <a:chExt cx="881679" cy="272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1679" cy="272138"/>
            </a:xfrm>
            <a:custGeom>
              <a:avLst/>
              <a:gdLst/>
              <a:ahLst/>
              <a:cxnLst/>
              <a:rect r="r" b="b" t="t" l="l"/>
              <a:pathLst>
                <a:path h="272138" w="881679">
                  <a:moveTo>
                    <a:pt x="136069" y="0"/>
                  </a:moveTo>
                  <a:lnTo>
                    <a:pt x="745610" y="0"/>
                  </a:lnTo>
                  <a:cubicBezTo>
                    <a:pt x="820759" y="0"/>
                    <a:pt x="881679" y="60920"/>
                    <a:pt x="881679" y="136069"/>
                  </a:cubicBezTo>
                  <a:lnTo>
                    <a:pt x="881679" y="136069"/>
                  </a:lnTo>
                  <a:cubicBezTo>
                    <a:pt x="881679" y="211218"/>
                    <a:pt x="820759" y="272138"/>
                    <a:pt x="745610" y="272138"/>
                  </a:cubicBezTo>
                  <a:lnTo>
                    <a:pt x="136069" y="272138"/>
                  </a:lnTo>
                  <a:cubicBezTo>
                    <a:pt x="60920" y="272138"/>
                    <a:pt x="0" y="211218"/>
                    <a:pt x="0" y="136069"/>
                  </a:cubicBezTo>
                  <a:lnTo>
                    <a:pt x="0" y="136069"/>
                  </a:lnTo>
                  <a:cubicBezTo>
                    <a:pt x="0" y="60920"/>
                    <a:pt x="60920" y="0"/>
                    <a:pt x="136069" y="0"/>
                  </a:cubicBezTo>
                  <a:close/>
                </a:path>
              </a:pathLst>
            </a:custGeom>
            <a:solidFill>
              <a:srgbClr val="7778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81679" cy="329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14343" y="3569940"/>
            <a:ext cx="5769270" cy="660844"/>
          </a:xfrm>
          <a:custGeom>
            <a:avLst/>
            <a:gdLst/>
            <a:ahLst/>
            <a:cxnLst/>
            <a:rect r="r" b="b" t="t" l="l"/>
            <a:pathLst>
              <a:path h="660844" w="5769270">
                <a:moveTo>
                  <a:pt x="0" y="0"/>
                </a:moveTo>
                <a:lnTo>
                  <a:pt x="5769270" y="0"/>
                </a:lnTo>
                <a:lnTo>
                  <a:pt x="5769270" y="660844"/>
                </a:lnTo>
                <a:lnTo>
                  <a:pt x="0" y="66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93587" y="3085057"/>
            <a:ext cx="7810782" cy="863958"/>
            <a:chOff x="0" y="0"/>
            <a:chExt cx="2057161" cy="227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161" cy="227545"/>
            </a:xfrm>
            <a:custGeom>
              <a:avLst/>
              <a:gdLst/>
              <a:ahLst/>
              <a:cxnLst/>
              <a:rect r="r" b="b" t="t" l="l"/>
              <a:pathLst>
                <a:path h="227545" w="2057161">
                  <a:moveTo>
                    <a:pt x="23788" y="0"/>
                  </a:moveTo>
                  <a:lnTo>
                    <a:pt x="2033372" y="0"/>
                  </a:lnTo>
                  <a:cubicBezTo>
                    <a:pt x="2046510" y="0"/>
                    <a:pt x="2057161" y="10650"/>
                    <a:pt x="2057161" y="23788"/>
                  </a:cubicBezTo>
                  <a:lnTo>
                    <a:pt x="2057161" y="203756"/>
                  </a:lnTo>
                  <a:cubicBezTo>
                    <a:pt x="2057161" y="210065"/>
                    <a:pt x="2054655" y="216116"/>
                    <a:pt x="2050193" y="220577"/>
                  </a:cubicBezTo>
                  <a:cubicBezTo>
                    <a:pt x="2045732" y="225038"/>
                    <a:pt x="2039682" y="227545"/>
                    <a:pt x="2033372" y="227545"/>
                  </a:cubicBezTo>
                  <a:lnTo>
                    <a:pt x="23788" y="227545"/>
                  </a:lnTo>
                  <a:cubicBezTo>
                    <a:pt x="17479" y="227545"/>
                    <a:pt x="11429" y="225038"/>
                    <a:pt x="6967" y="220577"/>
                  </a:cubicBezTo>
                  <a:cubicBezTo>
                    <a:pt x="2506" y="216116"/>
                    <a:pt x="0" y="210065"/>
                    <a:pt x="0" y="203756"/>
                  </a:cubicBezTo>
                  <a:lnTo>
                    <a:pt x="0" y="23788"/>
                  </a:lnTo>
                  <a:cubicBezTo>
                    <a:pt x="0" y="17479"/>
                    <a:pt x="2506" y="11429"/>
                    <a:pt x="6967" y="6967"/>
                  </a:cubicBezTo>
                  <a:cubicBezTo>
                    <a:pt x="11429" y="2506"/>
                    <a:pt x="17479" y="0"/>
                    <a:pt x="237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57161" cy="26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215609" y="2920551"/>
            <a:ext cx="1192969" cy="1192969"/>
          </a:xfrm>
          <a:custGeom>
            <a:avLst/>
            <a:gdLst/>
            <a:ahLst/>
            <a:cxnLst/>
            <a:rect r="r" b="b" t="t" l="l"/>
            <a:pathLst>
              <a:path h="1192969" w="1192969">
                <a:moveTo>
                  <a:pt x="0" y="0"/>
                </a:moveTo>
                <a:lnTo>
                  <a:pt x="1192969" y="0"/>
                </a:lnTo>
                <a:lnTo>
                  <a:pt x="1192969" y="1192969"/>
                </a:lnTo>
                <a:lnTo>
                  <a:pt x="0" y="119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13002" y="3017944"/>
            <a:ext cx="998183" cy="9981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778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3631" y="4342899"/>
            <a:ext cx="3347626" cy="1033273"/>
            <a:chOff x="0" y="0"/>
            <a:chExt cx="881679" cy="2721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1679" cy="272138"/>
            </a:xfrm>
            <a:custGeom>
              <a:avLst/>
              <a:gdLst/>
              <a:ahLst/>
              <a:cxnLst/>
              <a:rect r="r" b="b" t="t" l="l"/>
              <a:pathLst>
                <a:path h="272138" w="881679">
                  <a:moveTo>
                    <a:pt x="136069" y="0"/>
                  </a:moveTo>
                  <a:lnTo>
                    <a:pt x="745610" y="0"/>
                  </a:lnTo>
                  <a:cubicBezTo>
                    <a:pt x="820759" y="0"/>
                    <a:pt x="881679" y="60920"/>
                    <a:pt x="881679" y="136069"/>
                  </a:cubicBezTo>
                  <a:lnTo>
                    <a:pt x="881679" y="136069"/>
                  </a:lnTo>
                  <a:cubicBezTo>
                    <a:pt x="881679" y="211218"/>
                    <a:pt x="820759" y="272138"/>
                    <a:pt x="745610" y="272138"/>
                  </a:cubicBezTo>
                  <a:lnTo>
                    <a:pt x="136069" y="272138"/>
                  </a:lnTo>
                  <a:cubicBezTo>
                    <a:pt x="60920" y="272138"/>
                    <a:pt x="0" y="211218"/>
                    <a:pt x="0" y="136069"/>
                  </a:cubicBezTo>
                  <a:lnTo>
                    <a:pt x="0" y="136069"/>
                  </a:lnTo>
                  <a:cubicBezTo>
                    <a:pt x="0" y="60920"/>
                    <a:pt x="60920" y="0"/>
                    <a:pt x="136069" y="0"/>
                  </a:cubicBezTo>
                  <a:close/>
                </a:path>
              </a:pathLst>
            </a:custGeom>
            <a:solidFill>
              <a:srgbClr val="538EF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81679" cy="329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438093" y="4853808"/>
            <a:ext cx="5769270" cy="660844"/>
          </a:xfrm>
          <a:custGeom>
            <a:avLst/>
            <a:gdLst/>
            <a:ahLst/>
            <a:cxnLst/>
            <a:rect r="r" b="b" t="t" l="l"/>
            <a:pathLst>
              <a:path h="660844" w="5769270">
                <a:moveTo>
                  <a:pt x="0" y="0"/>
                </a:moveTo>
                <a:lnTo>
                  <a:pt x="5769270" y="0"/>
                </a:lnTo>
                <a:lnTo>
                  <a:pt x="5769270" y="660844"/>
                </a:lnTo>
                <a:lnTo>
                  <a:pt x="0" y="66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417337" y="4368925"/>
            <a:ext cx="7810782" cy="863958"/>
            <a:chOff x="0" y="0"/>
            <a:chExt cx="2057161" cy="2275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7161" cy="227545"/>
            </a:xfrm>
            <a:custGeom>
              <a:avLst/>
              <a:gdLst/>
              <a:ahLst/>
              <a:cxnLst/>
              <a:rect r="r" b="b" t="t" l="l"/>
              <a:pathLst>
                <a:path h="227545" w="2057161">
                  <a:moveTo>
                    <a:pt x="23788" y="0"/>
                  </a:moveTo>
                  <a:lnTo>
                    <a:pt x="2033372" y="0"/>
                  </a:lnTo>
                  <a:cubicBezTo>
                    <a:pt x="2046510" y="0"/>
                    <a:pt x="2057161" y="10650"/>
                    <a:pt x="2057161" y="23788"/>
                  </a:cubicBezTo>
                  <a:lnTo>
                    <a:pt x="2057161" y="203756"/>
                  </a:lnTo>
                  <a:cubicBezTo>
                    <a:pt x="2057161" y="210065"/>
                    <a:pt x="2054655" y="216116"/>
                    <a:pt x="2050193" y="220577"/>
                  </a:cubicBezTo>
                  <a:cubicBezTo>
                    <a:pt x="2045732" y="225038"/>
                    <a:pt x="2039682" y="227545"/>
                    <a:pt x="2033372" y="227545"/>
                  </a:cubicBezTo>
                  <a:lnTo>
                    <a:pt x="23788" y="227545"/>
                  </a:lnTo>
                  <a:cubicBezTo>
                    <a:pt x="17479" y="227545"/>
                    <a:pt x="11429" y="225038"/>
                    <a:pt x="6967" y="220577"/>
                  </a:cubicBezTo>
                  <a:cubicBezTo>
                    <a:pt x="2506" y="216116"/>
                    <a:pt x="0" y="210065"/>
                    <a:pt x="0" y="203756"/>
                  </a:cubicBezTo>
                  <a:lnTo>
                    <a:pt x="0" y="23788"/>
                  </a:lnTo>
                  <a:cubicBezTo>
                    <a:pt x="0" y="17479"/>
                    <a:pt x="2506" y="11429"/>
                    <a:pt x="6967" y="6967"/>
                  </a:cubicBezTo>
                  <a:cubicBezTo>
                    <a:pt x="11429" y="2506"/>
                    <a:pt x="17479" y="0"/>
                    <a:pt x="237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57161" cy="26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739359" y="4204419"/>
            <a:ext cx="1192969" cy="1192969"/>
          </a:xfrm>
          <a:custGeom>
            <a:avLst/>
            <a:gdLst/>
            <a:ahLst/>
            <a:cxnLst/>
            <a:rect r="r" b="b" t="t" l="l"/>
            <a:pathLst>
              <a:path h="1192969" w="1192969">
                <a:moveTo>
                  <a:pt x="0" y="0"/>
                </a:moveTo>
                <a:lnTo>
                  <a:pt x="1192969" y="0"/>
                </a:lnTo>
                <a:lnTo>
                  <a:pt x="1192969" y="1192969"/>
                </a:lnTo>
                <a:lnTo>
                  <a:pt x="0" y="119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836752" y="4301812"/>
            <a:ext cx="998183" cy="99818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EF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10800000">
            <a:off x="3308216" y="4287664"/>
            <a:ext cx="4066644" cy="1143744"/>
          </a:xfrm>
          <a:custGeom>
            <a:avLst/>
            <a:gdLst/>
            <a:ahLst/>
            <a:cxnLst/>
            <a:rect r="r" b="b" t="t" l="l"/>
            <a:pathLst>
              <a:path h="1143744" w="4066644">
                <a:moveTo>
                  <a:pt x="0" y="0"/>
                </a:moveTo>
                <a:lnTo>
                  <a:pt x="4066644" y="0"/>
                </a:lnTo>
                <a:lnTo>
                  <a:pt x="4066644" y="1143743"/>
                </a:lnTo>
                <a:lnTo>
                  <a:pt x="0" y="1143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61843" y="6137676"/>
            <a:ext cx="5769270" cy="660844"/>
          </a:xfrm>
          <a:custGeom>
            <a:avLst/>
            <a:gdLst/>
            <a:ahLst/>
            <a:cxnLst/>
            <a:rect r="r" b="b" t="t" l="l"/>
            <a:pathLst>
              <a:path h="660844" w="5769270">
                <a:moveTo>
                  <a:pt x="0" y="0"/>
                </a:moveTo>
                <a:lnTo>
                  <a:pt x="5769270" y="0"/>
                </a:lnTo>
                <a:lnTo>
                  <a:pt x="5769270" y="660844"/>
                </a:lnTo>
                <a:lnTo>
                  <a:pt x="0" y="66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941087" y="5652792"/>
            <a:ext cx="7810782" cy="863958"/>
            <a:chOff x="0" y="0"/>
            <a:chExt cx="2057161" cy="227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57161" cy="227545"/>
            </a:xfrm>
            <a:custGeom>
              <a:avLst/>
              <a:gdLst/>
              <a:ahLst/>
              <a:cxnLst/>
              <a:rect r="r" b="b" t="t" l="l"/>
              <a:pathLst>
                <a:path h="227545" w="2057161">
                  <a:moveTo>
                    <a:pt x="23788" y="0"/>
                  </a:moveTo>
                  <a:lnTo>
                    <a:pt x="2033372" y="0"/>
                  </a:lnTo>
                  <a:cubicBezTo>
                    <a:pt x="2046510" y="0"/>
                    <a:pt x="2057161" y="10650"/>
                    <a:pt x="2057161" y="23788"/>
                  </a:cubicBezTo>
                  <a:lnTo>
                    <a:pt x="2057161" y="203756"/>
                  </a:lnTo>
                  <a:cubicBezTo>
                    <a:pt x="2057161" y="210065"/>
                    <a:pt x="2054655" y="216116"/>
                    <a:pt x="2050193" y="220577"/>
                  </a:cubicBezTo>
                  <a:cubicBezTo>
                    <a:pt x="2045732" y="225038"/>
                    <a:pt x="2039682" y="227545"/>
                    <a:pt x="2033372" y="227545"/>
                  </a:cubicBezTo>
                  <a:lnTo>
                    <a:pt x="23788" y="227545"/>
                  </a:lnTo>
                  <a:cubicBezTo>
                    <a:pt x="17479" y="227545"/>
                    <a:pt x="11429" y="225038"/>
                    <a:pt x="6967" y="220577"/>
                  </a:cubicBezTo>
                  <a:cubicBezTo>
                    <a:pt x="2506" y="216116"/>
                    <a:pt x="0" y="210065"/>
                    <a:pt x="0" y="203756"/>
                  </a:cubicBezTo>
                  <a:lnTo>
                    <a:pt x="0" y="23788"/>
                  </a:lnTo>
                  <a:cubicBezTo>
                    <a:pt x="0" y="17479"/>
                    <a:pt x="2506" y="11429"/>
                    <a:pt x="6967" y="6967"/>
                  </a:cubicBezTo>
                  <a:cubicBezTo>
                    <a:pt x="11429" y="2506"/>
                    <a:pt x="17479" y="0"/>
                    <a:pt x="237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57161" cy="26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7263109" y="5488287"/>
            <a:ext cx="1192969" cy="1192969"/>
          </a:xfrm>
          <a:custGeom>
            <a:avLst/>
            <a:gdLst/>
            <a:ahLst/>
            <a:cxnLst/>
            <a:rect r="r" b="b" t="t" l="l"/>
            <a:pathLst>
              <a:path h="1192969" w="1192969">
                <a:moveTo>
                  <a:pt x="0" y="0"/>
                </a:moveTo>
                <a:lnTo>
                  <a:pt x="1192969" y="0"/>
                </a:lnTo>
                <a:lnTo>
                  <a:pt x="1192969" y="1192969"/>
                </a:lnTo>
                <a:lnTo>
                  <a:pt x="0" y="119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7360502" y="5585680"/>
            <a:ext cx="998183" cy="99818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83631" y="5626767"/>
            <a:ext cx="3347626" cy="1033273"/>
            <a:chOff x="0" y="0"/>
            <a:chExt cx="881679" cy="2721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1679" cy="272138"/>
            </a:xfrm>
            <a:custGeom>
              <a:avLst/>
              <a:gdLst/>
              <a:ahLst/>
              <a:cxnLst/>
              <a:rect r="r" b="b" t="t" l="l"/>
              <a:pathLst>
                <a:path h="272138" w="881679">
                  <a:moveTo>
                    <a:pt x="136069" y="0"/>
                  </a:moveTo>
                  <a:lnTo>
                    <a:pt x="745610" y="0"/>
                  </a:lnTo>
                  <a:cubicBezTo>
                    <a:pt x="820759" y="0"/>
                    <a:pt x="881679" y="60920"/>
                    <a:pt x="881679" y="136069"/>
                  </a:cubicBezTo>
                  <a:lnTo>
                    <a:pt x="881679" y="136069"/>
                  </a:lnTo>
                  <a:cubicBezTo>
                    <a:pt x="881679" y="211218"/>
                    <a:pt x="820759" y="272138"/>
                    <a:pt x="745610" y="272138"/>
                  </a:cubicBezTo>
                  <a:lnTo>
                    <a:pt x="136069" y="272138"/>
                  </a:lnTo>
                  <a:cubicBezTo>
                    <a:pt x="60920" y="272138"/>
                    <a:pt x="0" y="211218"/>
                    <a:pt x="0" y="136069"/>
                  </a:cubicBezTo>
                  <a:lnTo>
                    <a:pt x="0" y="136069"/>
                  </a:lnTo>
                  <a:cubicBezTo>
                    <a:pt x="0" y="60920"/>
                    <a:pt x="60920" y="0"/>
                    <a:pt x="136069" y="0"/>
                  </a:cubicBezTo>
                  <a:close/>
                </a:path>
              </a:pathLst>
            </a:custGeom>
            <a:solidFill>
              <a:srgbClr val="02B2E4"/>
            </a:solidFill>
            <a:ln cap="rnd">
              <a:noFill/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81679" cy="329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-10800000">
            <a:off x="2831966" y="5571532"/>
            <a:ext cx="4066644" cy="1143744"/>
          </a:xfrm>
          <a:custGeom>
            <a:avLst/>
            <a:gdLst/>
            <a:ahLst/>
            <a:cxnLst/>
            <a:rect r="r" b="b" t="t" l="l"/>
            <a:pathLst>
              <a:path h="1143744" w="4066644">
                <a:moveTo>
                  <a:pt x="0" y="0"/>
                </a:moveTo>
                <a:lnTo>
                  <a:pt x="4066644" y="0"/>
                </a:lnTo>
                <a:lnTo>
                  <a:pt x="4066644" y="1143743"/>
                </a:lnTo>
                <a:lnTo>
                  <a:pt x="0" y="114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485593" y="7421544"/>
            <a:ext cx="5769270" cy="660844"/>
          </a:xfrm>
          <a:custGeom>
            <a:avLst/>
            <a:gdLst/>
            <a:ahLst/>
            <a:cxnLst/>
            <a:rect r="r" b="b" t="t" l="l"/>
            <a:pathLst>
              <a:path h="660844" w="5769270">
                <a:moveTo>
                  <a:pt x="0" y="0"/>
                </a:moveTo>
                <a:lnTo>
                  <a:pt x="5769270" y="0"/>
                </a:lnTo>
                <a:lnTo>
                  <a:pt x="5769270" y="660844"/>
                </a:lnTo>
                <a:lnTo>
                  <a:pt x="0" y="66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7464837" y="6936660"/>
            <a:ext cx="7810782" cy="863958"/>
            <a:chOff x="0" y="0"/>
            <a:chExt cx="2057161" cy="2275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57161" cy="227545"/>
            </a:xfrm>
            <a:custGeom>
              <a:avLst/>
              <a:gdLst/>
              <a:ahLst/>
              <a:cxnLst/>
              <a:rect r="r" b="b" t="t" l="l"/>
              <a:pathLst>
                <a:path h="227545" w="2057161">
                  <a:moveTo>
                    <a:pt x="23788" y="0"/>
                  </a:moveTo>
                  <a:lnTo>
                    <a:pt x="2033372" y="0"/>
                  </a:lnTo>
                  <a:cubicBezTo>
                    <a:pt x="2046510" y="0"/>
                    <a:pt x="2057161" y="10650"/>
                    <a:pt x="2057161" y="23788"/>
                  </a:cubicBezTo>
                  <a:lnTo>
                    <a:pt x="2057161" y="203756"/>
                  </a:lnTo>
                  <a:cubicBezTo>
                    <a:pt x="2057161" y="210065"/>
                    <a:pt x="2054655" y="216116"/>
                    <a:pt x="2050193" y="220577"/>
                  </a:cubicBezTo>
                  <a:cubicBezTo>
                    <a:pt x="2045732" y="225038"/>
                    <a:pt x="2039682" y="227545"/>
                    <a:pt x="2033372" y="227545"/>
                  </a:cubicBezTo>
                  <a:lnTo>
                    <a:pt x="23788" y="227545"/>
                  </a:lnTo>
                  <a:cubicBezTo>
                    <a:pt x="17479" y="227545"/>
                    <a:pt x="11429" y="225038"/>
                    <a:pt x="6967" y="220577"/>
                  </a:cubicBezTo>
                  <a:cubicBezTo>
                    <a:pt x="2506" y="216116"/>
                    <a:pt x="0" y="210065"/>
                    <a:pt x="0" y="203756"/>
                  </a:cubicBezTo>
                  <a:lnTo>
                    <a:pt x="0" y="23788"/>
                  </a:lnTo>
                  <a:cubicBezTo>
                    <a:pt x="0" y="17479"/>
                    <a:pt x="2506" y="11429"/>
                    <a:pt x="6967" y="6967"/>
                  </a:cubicBezTo>
                  <a:cubicBezTo>
                    <a:pt x="11429" y="2506"/>
                    <a:pt x="17479" y="0"/>
                    <a:pt x="237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057161" cy="26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6786859" y="6772155"/>
            <a:ext cx="1192969" cy="1192969"/>
          </a:xfrm>
          <a:custGeom>
            <a:avLst/>
            <a:gdLst/>
            <a:ahLst/>
            <a:cxnLst/>
            <a:rect r="r" b="b" t="t" l="l"/>
            <a:pathLst>
              <a:path h="1192969" w="1192969">
                <a:moveTo>
                  <a:pt x="0" y="0"/>
                </a:moveTo>
                <a:lnTo>
                  <a:pt x="1192969" y="0"/>
                </a:lnTo>
                <a:lnTo>
                  <a:pt x="1192969" y="1192969"/>
                </a:lnTo>
                <a:lnTo>
                  <a:pt x="0" y="119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6884252" y="6869548"/>
            <a:ext cx="998183" cy="998183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CBC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83631" y="6910635"/>
            <a:ext cx="3347626" cy="1033273"/>
            <a:chOff x="0" y="0"/>
            <a:chExt cx="881679" cy="2721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81679" cy="272138"/>
            </a:xfrm>
            <a:custGeom>
              <a:avLst/>
              <a:gdLst/>
              <a:ahLst/>
              <a:cxnLst/>
              <a:rect r="r" b="b" t="t" l="l"/>
              <a:pathLst>
                <a:path h="272138" w="881679">
                  <a:moveTo>
                    <a:pt x="136069" y="0"/>
                  </a:moveTo>
                  <a:lnTo>
                    <a:pt x="745610" y="0"/>
                  </a:lnTo>
                  <a:cubicBezTo>
                    <a:pt x="820759" y="0"/>
                    <a:pt x="881679" y="60920"/>
                    <a:pt x="881679" y="136069"/>
                  </a:cubicBezTo>
                  <a:lnTo>
                    <a:pt x="881679" y="136069"/>
                  </a:lnTo>
                  <a:cubicBezTo>
                    <a:pt x="881679" y="211218"/>
                    <a:pt x="820759" y="272138"/>
                    <a:pt x="745610" y="272138"/>
                  </a:cubicBezTo>
                  <a:lnTo>
                    <a:pt x="136069" y="272138"/>
                  </a:lnTo>
                  <a:cubicBezTo>
                    <a:pt x="60920" y="272138"/>
                    <a:pt x="0" y="211218"/>
                    <a:pt x="0" y="136069"/>
                  </a:cubicBezTo>
                  <a:lnTo>
                    <a:pt x="0" y="136069"/>
                  </a:lnTo>
                  <a:cubicBezTo>
                    <a:pt x="0" y="60920"/>
                    <a:pt x="60920" y="0"/>
                    <a:pt x="136069" y="0"/>
                  </a:cubicBezTo>
                  <a:close/>
                </a:path>
              </a:pathLst>
            </a:custGeom>
            <a:solidFill>
              <a:srgbClr val="00CCB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881679" cy="329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-10800000">
            <a:off x="2355716" y="6855400"/>
            <a:ext cx="4066644" cy="1143744"/>
          </a:xfrm>
          <a:custGeom>
            <a:avLst/>
            <a:gdLst/>
            <a:ahLst/>
            <a:cxnLst/>
            <a:rect r="r" b="b" t="t" l="l"/>
            <a:pathLst>
              <a:path h="1143744" w="4066644">
                <a:moveTo>
                  <a:pt x="0" y="0"/>
                </a:moveTo>
                <a:lnTo>
                  <a:pt x="4066644" y="0"/>
                </a:lnTo>
                <a:lnTo>
                  <a:pt x="4066644" y="1143743"/>
                </a:lnTo>
                <a:lnTo>
                  <a:pt x="0" y="1143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009343" y="8705412"/>
            <a:ext cx="5769270" cy="660844"/>
          </a:xfrm>
          <a:custGeom>
            <a:avLst/>
            <a:gdLst/>
            <a:ahLst/>
            <a:cxnLst/>
            <a:rect r="r" b="b" t="t" l="l"/>
            <a:pathLst>
              <a:path h="660844" w="5769270">
                <a:moveTo>
                  <a:pt x="0" y="0"/>
                </a:moveTo>
                <a:lnTo>
                  <a:pt x="5769270" y="0"/>
                </a:lnTo>
                <a:lnTo>
                  <a:pt x="5769270" y="660844"/>
                </a:lnTo>
                <a:lnTo>
                  <a:pt x="0" y="6608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6988587" y="8220528"/>
            <a:ext cx="7810782" cy="863958"/>
            <a:chOff x="0" y="0"/>
            <a:chExt cx="2057161" cy="2275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57161" cy="227545"/>
            </a:xfrm>
            <a:custGeom>
              <a:avLst/>
              <a:gdLst/>
              <a:ahLst/>
              <a:cxnLst/>
              <a:rect r="r" b="b" t="t" l="l"/>
              <a:pathLst>
                <a:path h="227545" w="2057161">
                  <a:moveTo>
                    <a:pt x="23788" y="0"/>
                  </a:moveTo>
                  <a:lnTo>
                    <a:pt x="2033372" y="0"/>
                  </a:lnTo>
                  <a:cubicBezTo>
                    <a:pt x="2046510" y="0"/>
                    <a:pt x="2057161" y="10650"/>
                    <a:pt x="2057161" y="23788"/>
                  </a:cubicBezTo>
                  <a:lnTo>
                    <a:pt x="2057161" y="203756"/>
                  </a:lnTo>
                  <a:cubicBezTo>
                    <a:pt x="2057161" y="210065"/>
                    <a:pt x="2054655" y="216116"/>
                    <a:pt x="2050193" y="220577"/>
                  </a:cubicBezTo>
                  <a:cubicBezTo>
                    <a:pt x="2045732" y="225038"/>
                    <a:pt x="2039682" y="227545"/>
                    <a:pt x="2033372" y="227545"/>
                  </a:cubicBezTo>
                  <a:lnTo>
                    <a:pt x="23788" y="227545"/>
                  </a:lnTo>
                  <a:cubicBezTo>
                    <a:pt x="17479" y="227545"/>
                    <a:pt x="11429" y="225038"/>
                    <a:pt x="6967" y="220577"/>
                  </a:cubicBezTo>
                  <a:cubicBezTo>
                    <a:pt x="2506" y="216116"/>
                    <a:pt x="0" y="210065"/>
                    <a:pt x="0" y="203756"/>
                  </a:cubicBezTo>
                  <a:lnTo>
                    <a:pt x="0" y="23788"/>
                  </a:lnTo>
                  <a:cubicBezTo>
                    <a:pt x="0" y="17479"/>
                    <a:pt x="2506" y="11429"/>
                    <a:pt x="6967" y="6967"/>
                  </a:cubicBezTo>
                  <a:cubicBezTo>
                    <a:pt x="11429" y="2506"/>
                    <a:pt x="17479" y="0"/>
                    <a:pt x="237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057161" cy="26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6310609" y="8056023"/>
            <a:ext cx="1192969" cy="1192969"/>
          </a:xfrm>
          <a:custGeom>
            <a:avLst/>
            <a:gdLst/>
            <a:ahLst/>
            <a:cxnLst/>
            <a:rect r="r" b="b" t="t" l="l"/>
            <a:pathLst>
              <a:path h="1192969" w="1192969">
                <a:moveTo>
                  <a:pt x="0" y="0"/>
                </a:moveTo>
                <a:lnTo>
                  <a:pt x="1192969" y="0"/>
                </a:lnTo>
                <a:lnTo>
                  <a:pt x="1192969" y="1192969"/>
                </a:lnTo>
                <a:lnTo>
                  <a:pt x="0" y="119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6408002" y="8153416"/>
            <a:ext cx="998183" cy="998183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DB79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83631" y="8194503"/>
            <a:ext cx="3347626" cy="1033273"/>
            <a:chOff x="0" y="0"/>
            <a:chExt cx="881679" cy="27213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1679" cy="272138"/>
            </a:xfrm>
            <a:custGeom>
              <a:avLst/>
              <a:gdLst/>
              <a:ahLst/>
              <a:cxnLst/>
              <a:rect r="r" b="b" t="t" l="l"/>
              <a:pathLst>
                <a:path h="272138" w="881679">
                  <a:moveTo>
                    <a:pt x="136069" y="0"/>
                  </a:moveTo>
                  <a:lnTo>
                    <a:pt x="745610" y="0"/>
                  </a:lnTo>
                  <a:cubicBezTo>
                    <a:pt x="820759" y="0"/>
                    <a:pt x="881679" y="60920"/>
                    <a:pt x="881679" y="136069"/>
                  </a:cubicBezTo>
                  <a:lnTo>
                    <a:pt x="881679" y="136069"/>
                  </a:lnTo>
                  <a:cubicBezTo>
                    <a:pt x="881679" y="211218"/>
                    <a:pt x="820759" y="272138"/>
                    <a:pt x="745610" y="272138"/>
                  </a:cubicBezTo>
                  <a:lnTo>
                    <a:pt x="136069" y="272138"/>
                  </a:lnTo>
                  <a:cubicBezTo>
                    <a:pt x="60920" y="272138"/>
                    <a:pt x="0" y="211218"/>
                    <a:pt x="0" y="136069"/>
                  </a:cubicBezTo>
                  <a:lnTo>
                    <a:pt x="0" y="136069"/>
                  </a:lnTo>
                  <a:cubicBezTo>
                    <a:pt x="0" y="60920"/>
                    <a:pt x="60920" y="0"/>
                    <a:pt x="136069" y="0"/>
                  </a:cubicBezTo>
                  <a:close/>
                </a:path>
              </a:pathLst>
            </a:custGeom>
            <a:solidFill>
              <a:srgbClr val="5DDB78"/>
            </a:solidFill>
            <a:ln cap="rnd">
              <a:noFill/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881679" cy="329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-10800000">
            <a:off x="1879466" y="8139268"/>
            <a:ext cx="4066644" cy="1143744"/>
          </a:xfrm>
          <a:custGeom>
            <a:avLst/>
            <a:gdLst/>
            <a:ahLst/>
            <a:cxnLst/>
            <a:rect r="r" b="b" t="t" l="l"/>
            <a:pathLst>
              <a:path h="1143744" w="4066644">
                <a:moveTo>
                  <a:pt x="0" y="0"/>
                </a:moveTo>
                <a:lnTo>
                  <a:pt x="4066644" y="0"/>
                </a:lnTo>
                <a:lnTo>
                  <a:pt x="4066644" y="1143743"/>
                </a:lnTo>
                <a:lnTo>
                  <a:pt x="0" y="11437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8573969" y="3278911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8097719" y="4562779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621469" y="5846647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160101" y="7130515"/>
            <a:ext cx="446484" cy="476250"/>
          </a:xfrm>
          <a:custGeom>
            <a:avLst/>
            <a:gdLst/>
            <a:ahLst/>
            <a:cxnLst/>
            <a:rect r="r" b="b" t="t" l="l"/>
            <a:pathLst>
              <a:path h="476250" w="446484">
                <a:moveTo>
                  <a:pt x="0" y="0"/>
                </a:moveTo>
                <a:lnTo>
                  <a:pt x="446485" y="0"/>
                </a:lnTo>
                <a:lnTo>
                  <a:pt x="44648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6668969" y="8414383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9622616" y="3222994"/>
            <a:ext cx="649957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 clear information about features, value, and structure so potential members can easily compare options.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855357" y="3260408"/>
            <a:ext cx="681099" cy="5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7878ED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202407" y="3397547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Progr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am Details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46366" y="4506862"/>
            <a:ext cx="649957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 simple, everyday advantages members will receive, helping them picture real outcomes of joining.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79107" y="4544276"/>
            <a:ext cx="681099" cy="5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538EFE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128982" y="4687142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enefits Focus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670116" y="5790730"/>
            <a:ext cx="649957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Share transparent policies, FAQs, or testimonials to strengthen confidence in the program’s reliability and usefulness.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902857" y="5828144"/>
            <a:ext cx="681099" cy="5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72D2EC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28982" y="5971010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Trust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Signals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193866" y="7074598"/>
            <a:ext cx="649957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easy tools or content like guides and comparisons to help individuals evaluate quickly.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426607" y="7112012"/>
            <a:ext cx="681099" cy="5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00CCBC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128982" y="7254878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Deci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sion Support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717616" y="8358466"/>
            <a:ext cx="649957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follow-up communication to maintain contact and encourage steady interest without overwhelming the audience.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950357" y="8395880"/>
            <a:ext cx="681099" cy="56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5DDB79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128982" y="8538746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ollow Engagement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Consider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ation Funnel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 the stage where potential members evaluate the program’s benefits.</a:t>
            </a:r>
          </a:p>
        </p:txBody>
      </p:sp>
      <p:sp>
        <p:nvSpPr>
          <p:cNvPr name="Freeform 84" id="84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5431" y="2861003"/>
            <a:ext cx="4326808" cy="6469994"/>
          </a:xfrm>
          <a:custGeom>
            <a:avLst/>
            <a:gdLst/>
            <a:ahLst/>
            <a:cxnLst/>
            <a:rect r="r" b="b" t="t" l="l"/>
            <a:pathLst>
              <a:path h="6469994" w="4326808">
                <a:moveTo>
                  <a:pt x="0" y="0"/>
                </a:moveTo>
                <a:lnTo>
                  <a:pt x="4326809" y="0"/>
                </a:lnTo>
                <a:lnTo>
                  <a:pt x="4326809" y="6469994"/>
                </a:lnTo>
                <a:lnTo>
                  <a:pt x="0" y="6469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5139112" y="5439439"/>
            <a:ext cx="5023280" cy="452603"/>
            <a:chOff x="0" y="0"/>
            <a:chExt cx="451049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0491" cy="406400"/>
            </a:xfrm>
            <a:custGeom>
              <a:avLst/>
              <a:gdLst/>
              <a:ahLst/>
              <a:cxnLst/>
              <a:rect r="r" b="b" t="t" l="l"/>
              <a:pathLst>
                <a:path h="406400" w="4510491">
                  <a:moveTo>
                    <a:pt x="4307291" y="0"/>
                  </a:moveTo>
                  <a:cubicBezTo>
                    <a:pt x="4419515" y="0"/>
                    <a:pt x="4510491" y="90976"/>
                    <a:pt x="4510491" y="203200"/>
                  </a:cubicBezTo>
                  <a:cubicBezTo>
                    <a:pt x="4510491" y="315424"/>
                    <a:pt x="4419515" y="406400"/>
                    <a:pt x="43072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DE6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1049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1612711" y="4303499"/>
            <a:ext cx="2751400" cy="452603"/>
            <a:chOff x="0" y="0"/>
            <a:chExt cx="247053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0530" cy="406400"/>
            </a:xfrm>
            <a:custGeom>
              <a:avLst/>
              <a:gdLst/>
              <a:ahLst/>
              <a:cxnLst/>
              <a:rect r="r" b="b" t="t" l="l"/>
              <a:pathLst>
                <a:path h="406400" w="2470530">
                  <a:moveTo>
                    <a:pt x="2267330" y="0"/>
                  </a:moveTo>
                  <a:cubicBezTo>
                    <a:pt x="2379554" y="0"/>
                    <a:pt x="2470530" y="90976"/>
                    <a:pt x="2470530" y="203200"/>
                  </a:cubicBezTo>
                  <a:cubicBezTo>
                    <a:pt x="2470530" y="315424"/>
                    <a:pt x="2379554" y="406400"/>
                    <a:pt x="226733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DE6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7053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2443" y="3126591"/>
            <a:ext cx="1036618" cy="103661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78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70101" y="3126591"/>
            <a:ext cx="1036618" cy="103661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C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32443" y="5158214"/>
            <a:ext cx="1036618" cy="103661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38E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70101" y="5158214"/>
            <a:ext cx="1036618" cy="103661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DB7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32443" y="7189837"/>
            <a:ext cx="1036618" cy="103661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427509" y="5438398"/>
            <a:ext cx="446484" cy="476250"/>
          </a:xfrm>
          <a:custGeom>
            <a:avLst/>
            <a:gdLst/>
            <a:ahLst/>
            <a:cxnLst/>
            <a:rect r="r" b="b" t="t" l="l"/>
            <a:pathLst>
              <a:path h="476250" w="446484">
                <a:moveTo>
                  <a:pt x="0" y="0"/>
                </a:moveTo>
                <a:lnTo>
                  <a:pt x="446485" y="0"/>
                </a:lnTo>
                <a:lnTo>
                  <a:pt x="44648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7412627" y="3406775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7412627" y="7470020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2750285" y="3406775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2738462" y="543839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ignup Funnel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Map the process of turning interest into confirmed membership.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506156" y="3212727"/>
            <a:ext cx="341548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an easy, simple registration form with only necessary fields to avoid drop-offs.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3814" y="3212727"/>
            <a:ext cx="3415486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Confirm signups immediately with a welcoming message or email that reassures members of their successful registration.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06156" y="5244350"/>
            <a:ext cx="341548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 members the exact process for signing up, including clear instructions at every step.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43814" y="5244350"/>
            <a:ext cx="341548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Give new members immediate access to at least part of the program to deliver quick value.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82986" y="3849996"/>
            <a:ext cx="2271700" cy="3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Clear For</a:t>
            </a: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82986" y="5005566"/>
            <a:ext cx="2271700" cy="3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Guided Steps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2986" y="6161137"/>
            <a:ext cx="2271700" cy="36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Low Barriers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82986" y="7162161"/>
            <a:ext cx="2271700" cy="73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Confirmation Step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82986" y="8348942"/>
            <a:ext cx="2271700" cy="73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Instant 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Access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06156" y="7275972"/>
            <a:ext cx="341548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Minimize unnecessary obstacles, offering quick payment or free trial options to encourage faster signup.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Engageme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nt Funnel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Illustrate how members interact and remain active within the program.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432924" y="3043146"/>
            <a:ext cx="7422152" cy="8506765"/>
          </a:xfrm>
          <a:custGeom>
            <a:avLst/>
            <a:gdLst/>
            <a:ahLst/>
            <a:cxnLst/>
            <a:rect r="r" b="b" t="t" l="l"/>
            <a:pathLst>
              <a:path h="8506765" w="7422152">
                <a:moveTo>
                  <a:pt x="0" y="0"/>
                </a:moveTo>
                <a:lnTo>
                  <a:pt x="7422152" y="0"/>
                </a:lnTo>
                <a:lnTo>
                  <a:pt x="7422152" y="8506765"/>
                </a:lnTo>
                <a:lnTo>
                  <a:pt x="0" y="8506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7044" y="7608533"/>
            <a:ext cx="1833911" cy="73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Ongoing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Value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0323" y="6404629"/>
            <a:ext cx="2827355" cy="40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Feedback Loop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22098" y="4948509"/>
            <a:ext cx="4443805" cy="4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Regular Reminders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2253" y="3497133"/>
            <a:ext cx="5723494" cy="54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Activity Drive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6930" y="3447415"/>
            <a:ext cx="324369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Promote participation in activities, 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rewards, or discussions to keep members involved.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0809" y="4785585"/>
            <a:ext cx="324369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Send clear updates and n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otifications to encourage consistent use of the program.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2749" y="6199170"/>
            <a:ext cx="324369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Gather and a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 on member input to improve features and maintain satisfaction.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02654" y="7568827"/>
            <a:ext cx="324369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Continuously highl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ight benefits and results to reinforce the importance of staying active.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239406" y="3879588"/>
            <a:ext cx="947911" cy="0"/>
          </a:xfrm>
          <a:prstGeom prst="line">
            <a:avLst/>
          </a:prstGeom>
          <a:ln cap="flat" w="38100">
            <a:solidFill>
              <a:srgbClr val="7979EB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5895777" y="5217758"/>
            <a:ext cx="947911" cy="0"/>
          </a:xfrm>
          <a:prstGeom prst="line">
            <a:avLst/>
          </a:prstGeom>
          <a:ln cap="flat" w="38100">
            <a:solidFill>
              <a:srgbClr val="0EB3E4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646957" y="6631343"/>
            <a:ext cx="947911" cy="0"/>
          </a:xfrm>
          <a:prstGeom prst="line">
            <a:avLst/>
          </a:prstGeom>
          <a:ln cap="flat" w="38100">
            <a:solidFill>
              <a:srgbClr val="14CDBD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>
            <a:off x="7465320" y="8001000"/>
            <a:ext cx="947911" cy="0"/>
          </a:xfrm>
          <a:prstGeom prst="line">
            <a:avLst/>
          </a:prstGeom>
          <a:ln cap="flat" w="38100">
            <a:solidFill>
              <a:srgbClr val="61DB7B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9305" y="2291001"/>
            <a:ext cx="7198890" cy="7153897"/>
          </a:xfrm>
          <a:custGeom>
            <a:avLst/>
            <a:gdLst/>
            <a:ahLst/>
            <a:cxnLst/>
            <a:rect r="r" b="b" t="t" l="l"/>
            <a:pathLst>
              <a:path h="7153897" w="7198890">
                <a:moveTo>
                  <a:pt x="0" y="0"/>
                </a:moveTo>
                <a:lnTo>
                  <a:pt x="7198890" y="0"/>
                </a:lnTo>
                <a:lnTo>
                  <a:pt x="7198890" y="7153897"/>
                </a:lnTo>
                <a:lnTo>
                  <a:pt x="0" y="7153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1745" y="3297568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1745" y="6320627"/>
            <a:ext cx="392906" cy="571500"/>
          </a:xfrm>
          <a:custGeom>
            <a:avLst/>
            <a:gdLst/>
            <a:ahLst/>
            <a:cxnLst/>
            <a:rect r="r" b="b" t="t" l="l"/>
            <a:pathLst>
              <a:path h="571500" w="392906">
                <a:moveTo>
                  <a:pt x="0" y="0"/>
                </a:moveTo>
                <a:lnTo>
                  <a:pt x="392906" y="0"/>
                </a:lnTo>
                <a:lnTo>
                  <a:pt x="392906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93254" y="3357772"/>
            <a:ext cx="571500" cy="523637"/>
          </a:xfrm>
          <a:custGeom>
            <a:avLst/>
            <a:gdLst/>
            <a:ahLst/>
            <a:cxnLst/>
            <a:rect r="r" b="b" t="t" l="l"/>
            <a:pathLst>
              <a:path h="523637" w="571500">
                <a:moveTo>
                  <a:pt x="0" y="0"/>
                </a:moveTo>
                <a:lnTo>
                  <a:pt x="571500" y="0"/>
                </a:lnTo>
                <a:lnTo>
                  <a:pt x="571500" y="523636"/>
                </a:lnTo>
                <a:lnTo>
                  <a:pt x="0" y="5236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93254" y="6320627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2500" y="823581"/>
            <a:ext cx="4151491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Retentio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n Funnel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1670008"/>
            <a:ext cx="4151491" cy="62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 the steps that keep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members loyal over time.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745" y="4651786"/>
            <a:ext cx="414224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 the program delivers reliable and ongoing benefits that meet member expectations.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3254" y="4651786"/>
            <a:ext cx="4142246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Address member questions and challenges quickly to reduce churn.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745" y="7674845"/>
            <a:ext cx="414224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Recognize consistent participation with simple rewards that strengthen commitment.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93254" y="7674845"/>
            <a:ext cx="414224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Make renewal processes simple and predictable so members can continue without difficulty.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745" y="4107193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979EA"/>
                </a:solidFill>
                <a:latin typeface="DM Sans Bold"/>
                <a:ea typeface="DM Sans Bold"/>
                <a:cs typeface="DM Sans Bold"/>
                <a:sym typeface="DM Sans Bold"/>
              </a:rPr>
              <a:t>Consi</a:t>
            </a:r>
            <a:r>
              <a:rPr lang="en-US" b="true" sz="1800">
                <a:solidFill>
                  <a:srgbClr val="7979EA"/>
                </a:solidFill>
                <a:latin typeface="DM Sans Bold"/>
                <a:ea typeface="DM Sans Bold"/>
                <a:cs typeface="DM Sans Bold"/>
                <a:sym typeface="DM Sans Bold"/>
              </a:rPr>
              <a:t>stent Value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93254" y="4107193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4CDBD"/>
                </a:solidFill>
                <a:latin typeface="DM Sans Bold"/>
                <a:ea typeface="DM Sans Bold"/>
                <a:cs typeface="DM Sans Bold"/>
                <a:sym typeface="DM Sans Bold"/>
              </a:rPr>
              <a:t>Membe</a:t>
            </a:r>
            <a:r>
              <a:rPr lang="en-US" b="true" sz="1800">
                <a:solidFill>
                  <a:srgbClr val="14CDBD"/>
                </a:solidFill>
                <a:latin typeface="DM Sans Bold"/>
                <a:ea typeface="DM Sans Bold"/>
                <a:cs typeface="DM Sans Bold"/>
                <a:sym typeface="DM Sans Bold"/>
              </a:rPr>
              <a:t>r Care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1745" y="7130252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EB3E4"/>
                </a:solidFill>
                <a:latin typeface="DM Sans Bold"/>
                <a:ea typeface="DM Sans Bold"/>
                <a:cs typeface="DM Sans Bold"/>
                <a:sym typeface="DM Sans Bold"/>
              </a:rPr>
              <a:t>Rewa</a:t>
            </a:r>
            <a:r>
              <a:rPr lang="en-US" b="true" sz="1800">
                <a:solidFill>
                  <a:srgbClr val="0EB3E4"/>
                </a:solidFill>
                <a:latin typeface="DM Sans Bold"/>
                <a:ea typeface="DM Sans Bold"/>
                <a:cs typeface="DM Sans Bold"/>
                <a:sym typeface="DM Sans Bold"/>
              </a:rPr>
              <a:t>rd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93254" y="7130252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ED97A"/>
                </a:solidFill>
                <a:latin typeface="DM Sans Bold"/>
                <a:ea typeface="DM Sans Bold"/>
                <a:cs typeface="DM Sans Bold"/>
                <a:sym typeface="DM Sans Bold"/>
              </a:rPr>
              <a:t>Re</a:t>
            </a:r>
            <a:r>
              <a:rPr lang="en-US" b="true" sz="1800">
                <a:solidFill>
                  <a:srgbClr val="5ED97A"/>
                </a:solidFill>
                <a:latin typeface="DM Sans Bold"/>
                <a:ea typeface="DM Sans Bold"/>
                <a:cs typeface="DM Sans Bold"/>
                <a:sym typeface="DM Sans Bold"/>
              </a:rPr>
              <a:t>newal Path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1637310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2" y="0"/>
                </a:lnTo>
                <a:lnTo>
                  <a:pt x="1772392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370994" y="1708108"/>
            <a:ext cx="8888306" cy="7766157"/>
          </a:xfrm>
          <a:custGeom>
            <a:avLst/>
            <a:gdLst/>
            <a:ahLst/>
            <a:cxnLst/>
            <a:rect r="r" b="b" t="t" l="l"/>
            <a:pathLst>
              <a:path h="7766157" w="8888306">
                <a:moveTo>
                  <a:pt x="8888306" y="0"/>
                </a:moveTo>
                <a:lnTo>
                  <a:pt x="0" y="0"/>
                </a:lnTo>
                <a:lnTo>
                  <a:pt x="0" y="7766158"/>
                </a:lnTo>
                <a:lnTo>
                  <a:pt x="8888306" y="7766158"/>
                </a:lnTo>
                <a:lnTo>
                  <a:pt x="88883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7807" y="2842858"/>
            <a:ext cx="1364378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899">
                <a:solidFill>
                  <a:srgbClr val="7878ED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7807" y="4374605"/>
            <a:ext cx="1364378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899">
                <a:solidFill>
                  <a:srgbClr val="02B2E4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7807" y="5906352"/>
            <a:ext cx="1364378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899">
                <a:solidFill>
                  <a:srgbClr val="00CCBC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7807" y="7438100"/>
            <a:ext cx="1364378" cy="117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899">
                <a:solidFill>
                  <a:srgbClr val="5EDA78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-2490975" y="5457717"/>
            <a:ext cx="6876947" cy="722079"/>
          </a:xfrm>
          <a:custGeom>
            <a:avLst/>
            <a:gdLst/>
            <a:ahLst/>
            <a:cxnLst/>
            <a:rect r="r" b="b" t="t" l="l"/>
            <a:pathLst>
              <a:path h="722079" w="6876947">
                <a:moveTo>
                  <a:pt x="0" y="0"/>
                </a:moveTo>
                <a:lnTo>
                  <a:pt x="6876947" y="0"/>
                </a:lnTo>
                <a:lnTo>
                  <a:pt x="6876947" y="722080"/>
                </a:lnTo>
                <a:lnTo>
                  <a:pt x="0" y="72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5349" y="2430377"/>
            <a:ext cx="751461" cy="6776760"/>
            <a:chOff x="0" y="0"/>
            <a:chExt cx="197916" cy="17848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916" cy="1784826"/>
            </a:xfrm>
            <a:custGeom>
              <a:avLst/>
              <a:gdLst/>
              <a:ahLst/>
              <a:cxnLst/>
              <a:rect r="r" b="b" t="t" l="l"/>
              <a:pathLst>
                <a:path h="1784826" w="197916">
                  <a:moveTo>
                    <a:pt x="0" y="0"/>
                  </a:moveTo>
                  <a:lnTo>
                    <a:pt x="197916" y="0"/>
                  </a:lnTo>
                  <a:lnTo>
                    <a:pt x="197916" y="1784826"/>
                  </a:lnTo>
                  <a:lnTo>
                    <a:pt x="0" y="1784826"/>
                  </a:lnTo>
                  <a:close/>
                </a:path>
              </a:pathLst>
            </a:custGeom>
            <a:solidFill>
              <a:srgbClr val="EDF3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916" cy="1822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688994" y="5170995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07682" y="6197687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7600" y="7189902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2500" y="823581"/>
            <a:ext cx="4151491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Loyalty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 Funnel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1670008"/>
            <a:ext cx="5232799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 the stage where members feel deeply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7935" y="3577352"/>
            <a:ext cx="470476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Strengthen long-term trust by staying consistent and transparent in communication.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37935" y="3079359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979EA"/>
                </a:solidFill>
                <a:latin typeface="DM Sans Bold"/>
                <a:ea typeface="DM Sans Bold"/>
                <a:cs typeface="DM Sans Bold"/>
                <a:sym typeface="DM Sans Bold"/>
              </a:rPr>
              <a:t>Tru</a:t>
            </a:r>
            <a:r>
              <a:rPr lang="en-US" b="true" sz="1800">
                <a:solidFill>
                  <a:srgbClr val="7979EA"/>
                </a:solidFill>
                <a:latin typeface="DM Sans Bold"/>
                <a:ea typeface="DM Sans Bold"/>
                <a:cs typeface="DM Sans Bold"/>
                <a:sym typeface="DM Sans Bold"/>
              </a:rPr>
              <a:t>st Build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37935" y="5109099"/>
            <a:ext cx="470476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spaces for members to connect and share experiences with each other.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37935" y="4611106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2B2E4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Community Role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37935" y="6640846"/>
            <a:ext cx="470476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Offer members unique features or perks not available to non-members.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7935" y="6142853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CCBC"/>
                </a:solidFill>
                <a:latin typeface="DM Sans Bold"/>
                <a:ea typeface="DM Sans Bold"/>
                <a:cs typeface="DM Sans Bold"/>
                <a:sym typeface="DM Sans Bold"/>
              </a:rPr>
              <a:t>Exclu</a:t>
            </a:r>
            <a:r>
              <a:rPr lang="en-US" b="true" sz="1800">
                <a:solidFill>
                  <a:srgbClr val="00CCBC"/>
                </a:solidFill>
                <a:latin typeface="DM Sans Bold"/>
                <a:ea typeface="DM Sans Bold"/>
                <a:cs typeface="DM Sans Bold"/>
                <a:sym typeface="DM Sans Bold"/>
              </a:rPr>
              <a:t>sive Access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37935" y="8172593"/>
            <a:ext cx="470476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Publicly recognize and thank loyal members to deepen emotional connection.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37935" y="7674600"/>
            <a:ext cx="22717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5EDA78"/>
                </a:solidFill>
                <a:latin typeface="DM Sans Bold"/>
                <a:ea typeface="DM Sans Bold"/>
                <a:cs typeface="DM Sans Bold"/>
                <a:sym typeface="DM Sans Bold"/>
              </a:rPr>
              <a:t>Rec</a:t>
            </a:r>
            <a:r>
              <a:rPr lang="en-US" b="true" sz="1800">
                <a:solidFill>
                  <a:srgbClr val="5EDA78"/>
                </a:solidFill>
                <a:latin typeface="DM Sans Bold"/>
                <a:ea typeface="DM Sans Bold"/>
                <a:cs typeface="DM Sans Bold"/>
                <a:sym typeface="DM Sans Bold"/>
              </a:rPr>
              <a:t>ognition Show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596727" y="8341099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10800000">
            <a:off x="1637310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2" y="0"/>
                </a:lnTo>
                <a:lnTo>
                  <a:pt x="1772392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3262882" y="3142920"/>
            <a:ext cx="11695367" cy="5906160"/>
          </a:xfrm>
          <a:custGeom>
            <a:avLst/>
            <a:gdLst/>
            <a:ahLst/>
            <a:cxnLst/>
            <a:rect r="r" b="b" t="t" l="l"/>
            <a:pathLst>
              <a:path h="5906160" w="11695367">
                <a:moveTo>
                  <a:pt x="0" y="0"/>
                </a:moveTo>
                <a:lnTo>
                  <a:pt x="11695367" y="0"/>
                </a:lnTo>
                <a:lnTo>
                  <a:pt x="11695367" y="5906160"/>
                </a:lnTo>
                <a:lnTo>
                  <a:pt x="0" y="5906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48846" y="3142920"/>
            <a:ext cx="969288" cy="641970"/>
            <a:chOff x="0" y="0"/>
            <a:chExt cx="61360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3609" cy="406400"/>
            </a:xfrm>
            <a:custGeom>
              <a:avLst/>
              <a:gdLst/>
              <a:ahLst/>
              <a:cxnLst/>
              <a:rect r="r" b="b" t="t" l="l"/>
              <a:pathLst>
                <a:path h="406400" w="613609">
                  <a:moveTo>
                    <a:pt x="410409" y="0"/>
                  </a:moveTo>
                  <a:cubicBezTo>
                    <a:pt x="522633" y="0"/>
                    <a:pt x="613609" y="90976"/>
                    <a:pt x="613609" y="203200"/>
                  </a:cubicBezTo>
                  <a:cubicBezTo>
                    <a:pt x="613609" y="315424"/>
                    <a:pt x="522633" y="406400"/>
                    <a:pt x="410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878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13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97388" y="4663391"/>
            <a:ext cx="969288" cy="641970"/>
            <a:chOff x="0" y="0"/>
            <a:chExt cx="613609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3609" cy="406400"/>
            </a:xfrm>
            <a:custGeom>
              <a:avLst/>
              <a:gdLst/>
              <a:ahLst/>
              <a:cxnLst/>
              <a:rect r="r" b="b" t="t" l="l"/>
              <a:pathLst>
                <a:path h="406400" w="613609">
                  <a:moveTo>
                    <a:pt x="410409" y="0"/>
                  </a:moveTo>
                  <a:cubicBezTo>
                    <a:pt x="522633" y="0"/>
                    <a:pt x="613609" y="90976"/>
                    <a:pt x="613609" y="203200"/>
                  </a:cubicBezTo>
                  <a:cubicBezTo>
                    <a:pt x="613609" y="315424"/>
                    <a:pt x="522633" y="406400"/>
                    <a:pt x="410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13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44407" y="6142169"/>
            <a:ext cx="969288" cy="641970"/>
            <a:chOff x="0" y="0"/>
            <a:chExt cx="61360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3609" cy="406400"/>
            </a:xfrm>
            <a:custGeom>
              <a:avLst/>
              <a:gdLst/>
              <a:ahLst/>
              <a:cxnLst/>
              <a:rect r="r" b="b" t="t" l="l"/>
              <a:pathLst>
                <a:path h="406400" w="613609">
                  <a:moveTo>
                    <a:pt x="410409" y="0"/>
                  </a:moveTo>
                  <a:cubicBezTo>
                    <a:pt x="522633" y="0"/>
                    <a:pt x="613609" y="90976"/>
                    <a:pt x="613609" y="203200"/>
                  </a:cubicBezTo>
                  <a:cubicBezTo>
                    <a:pt x="613609" y="315424"/>
                    <a:pt x="522633" y="406400"/>
                    <a:pt x="410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CCB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13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08475" y="7620000"/>
            <a:ext cx="969288" cy="641970"/>
            <a:chOff x="0" y="0"/>
            <a:chExt cx="613609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3609" cy="406400"/>
            </a:xfrm>
            <a:custGeom>
              <a:avLst/>
              <a:gdLst/>
              <a:ahLst/>
              <a:cxnLst/>
              <a:rect r="r" b="b" t="t" l="l"/>
              <a:pathLst>
                <a:path h="406400" w="613609">
                  <a:moveTo>
                    <a:pt x="410409" y="0"/>
                  </a:moveTo>
                  <a:cubicBezTo>
                    <a:pt x="522633" y="0"/>
                    <a:pt x="613609" y="90976"/>
                    <a:pt x="613609" y="203200"/>
                  </a:cubicBezTo>
                  <a:cubicBezTo>
                    <a:pt x="613609" y="315424"/>
                    <a:pt x="522633" y="406400"/>
                    <a:pt x="410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DDB7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13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420895" y="3590321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20895" y="6549759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20895" y="7892882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20895" y="5143500"/>
            <a:ext cx="571500" cy="428625"/>
          </a:xfrm>
          <a:custGeom>
            <a:avLst/>
            <a:gdLst/>
            <a:ahLst/>
            <a:cxnLst/>
            <a:rect r="r" b="b" t="t" l="l"/>
            <a:pathLst>
              <a:path h="428625" w="571500">
                <a:moveTo>
                  <a:pt x="0" y="0"/>
                </a:moveTo>
                <a:lnTo>
                  <a:pt x="571500" y="0"/>
                </a:lnTo>
                <a:lnTo>
                  <a:pt x="5715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Expansio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n Funnel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 how members explore additional program options.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83204" y="3746790"/>
            <a:ext cx="4240306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</a:t>
            </a: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nt optional upgrades that add extra value to their experience.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83204" y="3355063"/>
            <a:ext cx="424030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Up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sell Options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1817" y="5221307"/>
            <a:ext cx="4240306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ntroduce related features or activities that align with member interests.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1817" y="4829579"/>
            <a:ext cx="424030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ross 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41497" y="6695823"/>
            <a:ext cx="4240306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Off</a:t>
            </a: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 flexible options that let members expand involvement based on preference.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41497" y="6304096"/>
            <a:ext cx="424030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Flex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Choice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99595" y="8170340"/>
            <a:ext cx="4240306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upport members who want to progress further by showing clear next steps.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99595" y="7778612"/>
            <a:ext cx="424030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rowth Track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5904" y="5659986"/>
            <a:ext cx="11940680" cy="4627014"/>
          </a:xfrm>
          <a:custGeom>
            <a:avLst/>
            <a:gdLst/>
            <a:ahLst/>
            <a:cxnLst/>
            <a:rect r="r" b="b" t="t" l="l"/>
            <a:pathLst>
              <a:path h="4627014" w="11940680">
                <a:moveTo>
                  <a:pt x="0" y="0"/>
                </a:moveTo>
                <a:lnTo>
                  <a:pt x="11940680" y="0"/>
                </a:lnTo>
                <a:lnTo>
                  <a:pt x="11940680" y="4627014"/>
                </a:lnTo>
                <a:lnTo>
                  <a:pt x="0" y="46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44124" y="4982526"/>
            <a:ext cx="3066164" cy="321947"/>
          </a:xfrm>
          <a:custGeom>
            <a:avLst/>
            <a:gdLst/>
            <a:ahLst/>
            <a:cxnLst/>
            <a:rect r="r" b="b" t="t" l="l"/>
            <a:pathLst>
              <a:path h="321947" w="3066164">
                <a:moveTo>
                  <a:pt x="0" y="0"/>
                </a:moveTo>
                <a:lnTo>
                  <a:pt x="3066164" y="0"/>
                </a:lnTo>
                <a:lnTo>
                  <a:pt x="3066164" y="321948"/>
                </a:lnTo>
                <a:lnTo>
                  <a:pt x="0" y="321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93136" y="3259651"/>
            <a:ext cx="3368141" cy="1722876"/>
            <a:chOff x="0" y="0"/>
            <a:chExt cx="887082" cy="4537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7082" cy="453761"/>
            </a:xfrm>
            <a:custGeom>
              <a:avLst/>
              <a:gdLst/>
              <a:ahLst/>
              <a:cxnLst/>
              <a:rect r="r" b="b" t="t" l="l"/>
              <a:pathLst>
                <a:path h="453761" w="887082">
                  <a:moveTo>
                    <a:pt x="71256" y="0"/>
                  </a:moveTo>
                  <a:lnTo>
                    <a:pt x="815826" y="0"/>
                  </a:lnTo>
                  <a:cubicBezTo>
                    <a:pt x="855180" y="0"/>
                    <a:pt x="887082" y="31902"/>
                    <a:pt x="887082" y="71256"/>
                  </a:cubicBezTo>
                  <a:lnTo>
                    <a:pt x="887082" y="382506"/>
                  </a:lnTo>
                  <a:cubicBezTo>
                    <a:pt x="887082" y="401404"/>
                    <a:pt x="879575" y="419528"/>
                    <a:pt x="866212" y="432891"/>
                  </a:cubicBezTo>
                  <a:cubicBezTo>
                    <a:pt x="852849" y="446254"/>
                    <a:pt x="834725" y="453761"/>
                    <a:pt x="815826" y="453761"/>
                  </a:cubicBezTo>
                  <a:lnTo>
                    <a:pt x="71256" y="453761"/>
                  </a:lnTo>
                  <a:cubicBezTo>
                    <a:pt x="31902" y="453761"/>
                    <a:pt x="0" y="421859"/>
                    <a:pt x="0" y="382506"/>
                  </a:cubicBezTo>
                  <a:lnTo>
                    <a:pt x="0" y="71256"/>
                  </a:lnTo>
                  <a:cubicBezTo>
                    <a:pt x="0" y="31902"/>
                    <a:pt x="31902" y="0"/>
                    <a:pt x="71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87082" cy="491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55273" y="2870784"/>
            <a:ext cx="2243867" cy="549112"/>
            <a:chOff x="0" y="0"/>
            <a:chExt cx="708937" cy="1734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8937" cy="173489"/>
            </a:xfrm>
            <a:custGeom>
              <a:avLst/>
              <a:gdLst/>
              <a:ahLst/>
              <a:cxnLst/>
              <a:rect r="r" b="b" t="t" l="l"/>
              <a:pathLst>
                <a:path h="173489" w="708937">
                  <a:moveTo>
                    <a:pt x="79356" y="0"/>
                  </a:moveTo>
                  <a:lnTo>
                    <a:pt x="629581" y="0"/>
                  </a:lnTo>
                  <a:cubicBezTo>
                    <a:pt x="650627" y="0"/>
                    <a:pt x="670812" y="8361"/>
                    <a:pt x="685694" y="23243"/>
                  </a:cubicBezTo>
                  <a:cubicBezTo>
                    <a:pt x="700576" y="38125"/>
                    <a:pt x="708937" y="58309"/>
                    <a:pt x="708937" y="79356"/>
                  </a:cubicBezTo>
                  <a:lnTo>
                    <a:pt x="708937" y="94133"/>
                  </a:lnTo>
                  <a:cubicBezTo>
                    <a:pt x="708937" y="115179"/>
                    <a:pt x="700576" y="135364"/>
                    <a:pt x="685694" y="150246"/>
                  </a:cubicBezTo>
                  <a:cubicBezTo>
                    <a:pt x="670812" y="165128"/>
                    <a:pt x="650627" y="173489"/>
                    <a:pt x="629581" y="173489"/>
                  </a:cubicBezTo>
                  <a:lnTo>
                    <a:pt x="79356" y="173489"/>
                  </a:lnTo>
                  <a:cubicBezTo>
                    <a:pt x="58309" y="173489"/>
                    <a:pt x="38125" y="165128"/>
                    <a:pt x="23243" y="150246"/>
                  </a:cubicBezTo>
                  <a:cubicBezTo>
                    <a:pt x="8361" y="135364"/>
                    <a:pt x="0" y="115179"/>
                    <a:pt x="0" y="94133"/>
                  </a:cubicBezTo>
                  <a:lnTo>
                    <a:pt x="0" y="79356"/>
                  </a:lnTo>
                  <a:cubicBezTo>
                    <a:pt x="0" y="58309"/>
                    <a:pt x="8361" y="38125"/>
                    <a:pt x="23243" y="23243"/>
                  </a:cubicBezTo>
                  <a:cubicBezTo>
                    <a:pt x="38125" y="8361"/>
                    <a:pt x="58309" y="0"/>
                    <a:pt x="79356" y="0"/>
                  </a:cubicBezTo>
                  <a:close/>
                </a:path>
              </a:pathLst>
            </a:custGeom>
            <a:solidFill>
              <a:srgbClr val="7878ED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8937" cy="211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Reminde</a:t>
              </a: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 Notice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79534" y="5458776"/>
            <a:ext cx="3066164" cy="321947"/>
          </a:xfrm>
          <a:custGeom>
            <a:avLst/>
            <a:gdLst/>
            <a:ahLst/>
            <a:cxnLst/>
            <a:rect r="r" b="b" t="t" l="l"/>
            <a:pathLst>
              <a:path h="321947" w="3066164">
                <a:moveTo>
                  <a:pt x="0" y="0"/>
                </a:moveTo>
                <a:lnTo>
                  <a:pt x="3066164" y="0"/>
                </a:lnTo>
                <a:lnTo>
                  <a:pt x="3066164" y="321948"/>
                </a:lnTo>
                <a:lnTo>
                  <a:pt x="0" y="321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928546" y="3735901"/>
            <a:ext cx="3368141" cy="1722876"/>
            <a:chOff x="0" y="0"/>
            <a:chExt cx="887082" cy="4537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7082" cy="453761"/>
            </a:xfrm>
            <a:custGeom>
              <a:avLst/>
              <a:gdLst/>
              <a:ahLst/>
              <a:cxnLst/>
              <a:rect r="r" b="b" t="t" l="l"/>
              <a:pathLst>
                <a:path h="453761" w="887082">
                  <a:moveTo>
                    <a:pt x="71256" y="0"/>
                  </a:moveTo>
                  <a:lnTo>
                    <a:pt x="815826" y="0"/>
                  </a:lnTo>
                  <a:cubicBezTo>
                    <a:pt x="855180" y="0"/>
                    <a:pt x="887082" y="31902"/>
                    <a:pt x="887082" y="71256"/>
                  </a:cubicBezTo>
                  <a:lnTo>
                    <a:pt x="887082" y="382506"/>
                  </a:lnTo>
                  <a:cubicBezTo>
                    <a:pt x="887082" y="401404"/>
                    <a:pt x="879575" y="419528"/>
                    <a:pt x="866212" y="432891"/>
                  </a:cubicBezTo>
                  <a:cubicBezTo>
                    <a:pt x="852849" y="446254"/>
                    <a:pt x="834725" y="453761"/>
                    <a:pt x="815826" y="453761"/>
                  </a:cubicBezTo>
                  <a:lnTo>
                    <a:pt x="71256" y="453761"/>
                  </a:lnTo>
                  <a:cubicBezTo>
                    <a:pt x="31902" y="453761"/>
                    <a:pt x="0" y="421859"/>
                    <a:pt x="0" y="382506"/>
                  </a:cubicBezTo>
                  <a:lnTo>
                    <a:pt x="0" y="71256"/>
                  </a:lnTo>
                  <a:cubicBezTo>
                    <a:pt x="0" y="31902"/>
                    <a:pt x="31902" y="0"/>
                    <a:pt x="71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87082" cy="491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90682" y="3347034"/>
            <a:ext cx="2243867" cy="549112"/>
            <a:chOff x="0" y="0"/>
            <a:chExt cx="708937" cy="1734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8937" cy="173489"/>
            </a:xfrm>
            <a:custGeom>
              <a:avLst/>
              <a:gdLst/>
              <a:ahLst/>
              <a:cxnLst/>
              <a:rect r="r" b="b" t="t" l="l"/>
              <a:pathLst>
                <a:path h="173489" w="708937">
                  <a:moveTo>
                    <a:pt x="79356" y="0"/>
                  </a:moveTo>
                  <a:lnTo>
                    <a:pt x="629581" y="0"/>
                  </a:lnTo>
                  <a:cubicBezTo>
                    <a:pt x="650627" y="0"/>
                    <a:pt x="670812" y="8361"/>
                    <a:pt x="685694" y="23243"/>
                  </a:cubicBezTo>
                  <a:cubicBezTo>
                    <a:pt x="700576" y="38125"/>
                    <a:pt x="708937" y="58309"/>
                    <a:pt x="708937" y="79356"/>
                  </a:cubicBezTo>
                  <a:lnTo>
                    <a:pt x="708937" y="94133"/>
                  </a:lnTo>
                  <a:cubicBezTo>
                    <a:pt x="708937" y="115179"/>
                    <a:pt x="700576" y="135364"/>
                    <a:pt x="685694" y="150246"/>
                  </a:cubicBezTo>
                  <a:cubicBezTo>
                    <a:pt x="670812" y="165128"/>
                    <a:pt x="650627" y="173489"/>
                    <a:pt x="629581" y="173489"/>
                  </a:cubicBezTo>
                  <a:lnTo>
                    <a:pt x="79356" y="173489"/>
                  </a:lnTo>
                  <a:cubicBezTo>
                    <a:pt x="58309" y="173489"/>
                    <a:pt x="38125" y="165128"/>
                    <a:pt x="23243" y="150246"/>
                  </a:cubicBezTo>
                  <a:cubicBezTo>
                    <a:pt x="8361" y="135364"/>
                    <a:pt x="0" y="115179"/>
                    <a:pt x="0" y="94133"/>
                  </a:cubicBezTo>
                  <a:lnTo>
                    <a:pt x="0" y="79356"/>
                  </a:lnTo>
                  <a:cubicBezTo>
                    <a:pt x="0" y="58309"/>
                    <a:pt x="8361" y="38125"/>
                    <a:pt x="23243" y="23243"/>
                  </a:cubicBezTo>
                  <a:cubicBezTo>
                    <a:pt x="38125" y="8361"/>
                    <a:pt x="58309" y="0"/>
                    <a:pt x="79356" y="0"/>
                  </a:cubicBezTo>
                  <a:close/>
                </a:path>
              </a:pathLst>
            </a:custGeom>
            <a:solidFill>
              <a:srgbClr val="06B1E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8937" cy="211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Simple Process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114944" y="5935026"/>
            <a:ext cx="3066164" cy="321947"/>
          </a:xfrm>
          <a:custGeom>
            <a:avLst/>
            <a:gdLst/>
            <a:ahLst/>
            <a:cxnLst/>
            <a:rect r="r" b="b" t="t" l="l"/>
            <a:pathLst>
              <a:path h="321947" w="3066164">
                <a:moveTo>
                  <a:pt x="0" y="0"/>
                </a:moveTo>
                <a:lnTo>
                  <a:pt x="3066164" y="0"/>
                </a:lnTo>
                <a:lnTo>
                  <a:pt x="3066164" y="321948"/>
                </a:lnTo>
                <a:lnTo>
                  <a:pt x="0" y="321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963955" y="4212151"/>
            <a:ext cx="3368141" cy="1722876"/>
            <a:chOff x="0" y="0"/>
            <a:chExt cx="887082" cy="4537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7082" cy="453761"/>
            </a:xfrm>
            <a:custGeom>
              <a:avLst/>
              <a:gdLst/>
              <a:ahLst/>
              <a:cxnLst/>
              <a:rect r="r" b="b" t="t" l="l"/>
              <a:pathLst>
                <a:path h="453761" w="887082">
                  <a:moveTo>
                    <a:pt x="71256" y="0"/>
                  </a:moveTo>
                  <a:lnTo>
                    <a:pt x="815826" y="0"/>
                  </a:lnTo>
                  <a:cubicBezTo>
                    <a:pt x="855180" y="0"/>
                    <a:pt x="887082" y="31902"/>
                    <a:pt x="887082" y="71256"/>
                  </a:cubicBezTo>
                  <a:lnTo>
                    <a:pt x="887082" y="382506"/>
                  </a:lnTo>
                  <a:cubicBezTo>
                    <a:pt x="887082" y="401404"/>
                    <a:pt x="879575" y="419528"/>
                    <a:pt x="866212" y="432891"/>
                  </a:cubicBezTo>
                  <a:cubicBezTo>
                    <a:pt x="852849" y="446254"/>
                    <a:pt x="834725" y="453761"/>
                    <a:pt x="815826" y="453761"/>
                  </a:cubicBezTo>
                  <a:lnTo>
                    <a:pt x="71256" y="453761"/>
                  </a:lnTo>
                  <a:cubicBezTo>
                    <a:pt x="31902" y="453761"/>
                    <a:pt x="0" y="421859"/>
                    <a:pt x="0" y="382506"/>
                  </a:cubicBezTo>
                  <a:lnTo>
                    <a:pt x="0" y="71256"/>
                  </a:lnTo>
                  <a:cubicBezTo>
                    <a:pt x="0" y="31902"/>
                    <a:pt x="31902" y="0"/>
                    <a:pt x="712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87082" cy="491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26092" y="3823284"/>
            <a:ext cx="2243867" cy="549112"/>
            <a:chOff x="0" y="0"/>
            <a:chExt cx="708937" cy="1734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8937" cy="173489"/>
            </a:xfrm>
            <a:custGeom>
              <a:avLst/>
              <a:gdLst/>
              <a:ahLst/>
              <a:cxnLst/>
              <a:rect r="r" b="b" t="t" l="l"/>
              <a:pathLst>
                <a:path h="173489" w="708937">
                  <a:moveTo>
                    <a:pt x="79356" y="0"/>
                  </a:moveTo>
                  <a:lnTo>
                    <a:pt x="629581" y="0"/>
                  </a:lnTo>
                  <a:cubicBezTo>
                    <a:pt x="650627" y="0"/>
                    <a:pt x="670812" y="8361"/>
                    <a:pt x="685694" y="23243"/>
                  </a:cubicBezTo>
                  <a:cubicBezTo>
                    <a:pt x="700576" y="38125"/>
                    <a:pt x="708937" y="58309"/>
                    <a:pt x="708937" y="79356"/>
                  </a:cubicBezTo>
                  <a:lnTo>
                    <a:pt x="708937" y="94133"/>
                  </a:lnTo>
                  <a:cubicBezTo>
                    <a:pt x="708937" y="115179"/>
                    <a:pt x="700576" y="135364"/>
                    <a:pt x="685694" y="150246"/>
                  </a:cubicBezTo>
                  <a:cubicBezTo>
                    <a:pt x="670812" y="165128"/>
                    <a:pt x="650627" y="173489"/>
                    <a:pt x="629581" y="173489"/>
                  </a:cubicBezTo>
                  <a:lnTo>
                    <a:pt x="79356" y="173489"/>
                  </a:lnTo>
                  <a:cubicBezTo>
                    <a:pt x="58309" y="173489"/>
                    <a:pt x="38125" y="165128"/>
                    <a:pt x="23243" y="150246"/>
                  </a:cubicBezTo>
                  <a:cubicBezTo>
                    <a:pt x="8361" y="135364"/>
                    <a:pt x="0" y="115179"/>
                    <a:pt x="0" y="94133"/>
                  </a:cubicBezTo>
                  <a:lnTo>
                    <a:pt x="0" y="79356"/>
                  </a:lnTo>
                  <a:cubicBezTo>
                    <a:pt x="0" y="58309"/>
                    <a:pt x="8361" y="38125"/>
                    <a:pt x="23243" y="23243"/>
                  </a:cubicBezTo>
                  <a:cubicBezTo>
                    <a:pt x="38125" y="8361"/>
                    <a:pt x="58309" y="0"/>
                    <a:pt x="79356" y="0"/>
                  </a:cubicBezTo>
                  <a:close/>
                </a:path>
              </a:pathLst>
            </a:custGeom>
            <a:solidFill>
              <a:srgbClr val="5EDA7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08937" cy="211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Value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759831" y="7057074"/>
            <a:ext cx="1047750" cy="1047750"/>
          </a:xfrm>
          <a:custGeom>
            <a:avLst/>
            <a:gdLst/>
            <a:ahLst/>
            <a:cxnLst/>
            <a:rect r="r" b="b" t="t" l="l"/>
            <a:pathLst>
              <a:path h="1047750" w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258175" y="7728521"/>
            <a:ext cx="1047750" cy="1047750"/>
          </a:xfrm>
          <a:custGeom>
            <a:avLst/>
            <a:gdLst/>
            <a:ahLst/>
            <a:cxnLst/>
            <a:rect r="r" b="b" t="t" l="l"/>
            <a:pathLst>
              <a:path h="1047750" w="1047750">
                <a:moveTo>
                  <a:pt x="0" y="0"/>
                </a:moveTo>
                <a:lnTo>
                  <a:pt x="1047750" y="0"/>
                </a:lnTo>
                <a:lnTo>
                  <a:pt x="10477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811000" y="8399969"/>
            <a:ext cx="851297" cy="1047750"/>
          </a:xfrm>
          <a:custGeom>
            <a:avLst/>
            <a:gdLst/>
            <a:ahLst/>
            <a:cxnLst/>
            <a:rect r="r" b="b" t="t" l="l"/>
            <a:pathLst>
              <a:path h="1047750" w="851297">
                <a:moveTo>
                  <a:pt x="0" y="0"/>
                </a:moveTo>
                <a:lnTo>
                  <a:pt x="851297" y="0"/>
                </a:lnTo>
                <a:lnTo>
                  <a:pt x="851297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110892" y="823581"/>
            <a:ext cx="10066216" cy="6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Renewal</a:t>
            </a:r>
            <a:r>
              <a:rPr lang="en-US" b="true" sz="3600">
                <a:solidFill>
                  <a:srgbClr val="2626D3"/>
                </a:solidFill>
                <a:latin typeface="DM Sans Bold"/>
                <a:ea typeface="DM Sans Bold"/>
                <a:cs typeface="DM Sans Bold"/>
                <a:sym typeface="DM Sans Bold"/>
              </a:rPr>
              <a:t> Funnel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0892" y="1670008"/>
            <a:ext cx="10066216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Explain the simplified process of renewing or continuing membership.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44124" y="3688915"/>
            <a:ext cx="3066164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Send timely reminders before renewal deadlines with clear instructions.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79534" y="4165165"/>
            <a:ext cx="3066164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 renewing membership is quick and free of unnecessary steps.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14944" y="4503284"/>
            <a:ext cx="3066164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Communicate upcoming benefits or updates to encourage continued commitment.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6808023" y="9147306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10800000">
            <a:off x="-299974" y="-87249"/>
            <a:ext cx="1772393" cy="1524258"/>
          </a:xfrm>
          <a:custGeom>
            <a:avLst/>
            <a:gdLst/>
            <a:ahLst/>
            <a:cxnLst/>
            <a:rect r="r" b="b" t="t" l="l"/>
            <a:pathLst>
              <a:path h="1524258" w="1772393">
                <a:moveTo>
                  <a:pt x="0" y="0"/>
                </a:moveTo>
                <a:lnTo>
                  <a:pt x="1772393" y="0"/>
                </a:lnTo>
                <a:lnTo>
                  <a:pt x="1772393" y="1524258"/>
                </a:lnTo>
                <a:lnTo>
                  <a:pt x="0" y="15242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DAHAGWIJvxY</dc:identifier>
  <dcterms:modified xsi:type="dcterms:W3CDTF">2011-08-01T06:04:30Z</dcterms:modified>
  <cp:revision>1</cp:revision>
  <dc:title>Professional Membership Program Funnel Infographic Presentation</dc:title>
</cp:coreProperties>
</file>