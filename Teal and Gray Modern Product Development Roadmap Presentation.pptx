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e Vietnam Ultra-Bold" charset="1" panose="00000900000000000000"/>
      <p:regular r:id="rId16"/>
    </p:embeddedFont>
    <p:embeddedFont>
      <p:font typeface="Open Sauce Bold" charset="1" panose="00000800000000000000"/>
      <p:regular r:id="rId17"/>
    </p:embeddedFont>
    <p:embeddedFont>
      <p:font typeface="Inter" charset="1" panose="020B050203000000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31.png" Type="http://schemas.openxmlformats.org/officeDocument/2006/relationships/image"/><Relationship Id="rId17" Target="../media/image32.svg" Type="http://schemas.openxmlformats.org/officeDocument/2006/relationships/image"/><Relationship Id="rId18" Target="../media/image33.png" Type="http://schemas.openxmlformats.org/officeDocument/2006/relationships/image"/><Relationship Id="rId19" Target="../media/image34.svg" Type="http://schemas.openxmlformats.org/officeDocument/2006/relationships/image"/><Relationship Id="rId2" Target="../media/image1.jpeg" Type="http://schemas.openxmlformats.org/officeDocument/2006/relationships/image"/><Relationship Id="rId20" Target="../media/image35.png" Type="http://schemas.openxmlformats.org/officeDocument/2006/relationships/image"/><Relationship Id="rId21" Target="../media/image36.svg" Type="http://schemas.openxmlformats.org/officeDocument/2006/relationships/image"/><Relationship Id="rId22" Target="../media/image37.png" Type="http://schemas.openxmlformats.org/officeDocument/2006/relationships/image"/><Relationship Id="rId23" Target="../media/image38.svg" Type="http://schemas.openxmlformats.org/officeDocument/2006/relationships/image"/><Relationship Id="rId24" Target="../media/image39.png" Type="http://schemas.openxmlformats.org/officeDocument/2006/relationships/image"/><Relationship Id="rId25" Target="../media/image40.svg" Type="http://schemas.openxmlformats.org/officeDocument/2006/relationships/image"/><Relationship Id="rId26" Target="../media/image41.png" Type="http://schemas.openxmlformats.org/officeDocument/2006/relationships/image"/><Relationship Id="rId27" Target="../media/image42.svg" Type="http://schemas.openxmlformats.org/officeDocument/2006/relationships/image"/><Relationship Id="rId28" Target="../media/image43.png" Type="http://schemas.openxmlformats.org/officeDocument/2006/relationships/image"/><Relationship Id="rId29" Target="../media/image44.svg" Type="http://schemas.openxmlformats.org/officeDocument/2006/relationships/image"/><Relationship Id="rId3" Target="../media/image18.png" Type="http://schemas.openxmlformats.org/officeDocument/2006/relationships/image"/><Relationship Id="rId30" Target="../media/image45.png" Type="http://schemas.openxmlformats.org/officeDocument/2006/relationships/image"/><Relationship Id="rId31" Target="../media/image46.svg" Type="http://schemas.openxmlformats.org/officeDocument/2006/relationships/image"/><Relationship Id="rId4" Target="../media/image19.svg" Type="http://schemas.openxmlformats.org/officeDocument/2006/relationships/image"/><Relationship Id="rId5" Target="../media/image20.svg" Type="http://schemas.openxmlformats.org/officeDocument/2006/relationships/image"/><Relationship Id="rId6" Target="../media/image21.sv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13" Target="../media/image57.png" Type="http://schemas.openxmlformats.org/officeDocument/2006/relationships/image"/><Relationship Id="rId14" Target="../media/image58.svg" Type="http://schemas.openxmlformats.org/officeDocument/2006/relationships/image"/><Relationship Id="rId15" Target="../media/image59.png" Type="http://schemas.openxmlformats.org/officeDocument/2006/relationships/image"/><Relationship Id="rId16" Target="../media/image60.svg" Type="http://schemas.openxmlformats.org/officeDocument/2006/relationships/image"/><Relationship Id="rId17" Target="../media/image61.png" Type="http://schemas.openxmlformats.org/officeDocument/2006/relationships/image"/><Relationship Id="rId18" Target="../media/image62.svg" Type="http://schemas.openxmlformats.org/officeDocument/2006/relationships/image"/><Relationship Id="rId2" Target="../media/image1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svg" Type="http://schemas.openxmlformats.org/officeDocument/2006/relationships/image"/><Relationship Id="rId11" Target="../media/image71.png" Type="http://schemas.openxmlformats.org/officeDocument/2006/relationships/image"/><Relationship Id="rId12" Target="../media/image72.svg" Type="http://schemas.openxmlformats.org/officeDocument/2006/relationships/image"/><Relationship Id="rId13" Target="../media/image73.png" Type="http://schemas.openxmlformats.org/officeDocument/2006/relationships/image"/><Relationship Id="rId14" Target="../media/image74.svg" Type="http://schemas.openxmlformats.org/officeDocument/2006/relationships/image"/><Relationship Id="rId15" Target="../media/image75.png" Type="http://schemas.openxmlformats.org/officeDocument/2006/relationships/image"/><Relationship Id="rId16" Target="../media/image76.svg" Type="http://schemas.openxmlformats.org/officeDocument/2006/relationships/image"/><Relationship Id="rId17" Target="../media/image77.png" Type="http://schemas.openxmlformats.org/officeDocument/2006/relationships/image"/><Relationship Id="rId18" Target="../media/image78.svg" Type="http://schemas.openxmlformats.org/officeDocument/2006/relationships/image"/><Relationship Id="rId19" Target="../media/image79.png" Type="http://schemas.openxmlformats.org/officeDocument/2006/relationships/image"/><Relationship Id="rId2" Target="../media/image1.jpeg" Type="http://schemas.openxmlformats.org/officeDocument/2006/relationships/image"/><Relationship Id="rId20" Target="../media/image80.svg" Type="http://schemas.openxmlformats.org/officeDocument/2006/relationships/image"/><Relationship Id="rId21" Target="../media/image81.png" Type="http://schemas.openxmlformats.org/officeDocument/2006/relationships/image"/><Relationship Id="rId22" Target="../media/image82.svg" Type="http://schemas.openxmlformats.org/officeDocument/2006/relationships/image"/><Relationship Id="rId23" Target="../media/image83.png" Type="http://schemas.openxmlformats.org/officeDocument/2006/relationships/image"/><Relationship Id="rId24" Target="../media/image84.svg" Type="http://schemas.openxmlformats.org/officeDocument/2006/relationships/image"/><Relationship Id="rId3" Target="../media/image63.png" Type="http://schemas.openxmlformats.org/officeDocument/2006/relationships/image"/><Relationship Id="rId4" Target="../media/image64.svg" Type="http://schemas.openxmlformats.org/officeDocument/2006/relationships/image"/><Relationship Id="rId5" Target="../media/image65.png" Type="http://schemas.openxmlformats.org/officeDocument/2006/relationships/image"/><Relationship Id="rId6" Target="../media/image66.svg" Type="http://schemas.openxmlformats.org/officeDocument/2006/relationships/image"/><Relationship Id="rId7" Target="../media/image67.png" Type="http://schemas.openxmlformats.org/officeDocument/2006/relationships/image"/><Relationship Id="rId8" Target="../media/image68.sv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svg" Type="http://schemas.openxmlformats.org/officeDocument/2006/relationships/image"/><Relationship Id="rId11" Target="../media/image93.png" Type="http://schemas.openxmlformats.org/officeDocument/2006/relationships/image"/><Relationship Id="rId12" Target="../media/image94.svg" Type="http://schemas.openxmlformats.org/officeDocument/2006/relationships/image"/><Relationship Id="rId13" Target="../media/image95.png" Type="http://schemas.openxmlformats.org/officeDocument/2006/relationships/image"/><Relationship Id="rId14" Target="../media/image96.svg" Type="http://schemas.openxmlformats.org/officeDocument/2006/relationships/image"/><Relationship Id="rId15" Target="../media/image97.png" Type="http://schemas.openxmlformats.org/officeDocument/2006/relationships/image"/><Relationship Id="rId16" Target="../media/image98.svg" Type="http://schemas.openxmlformats.org/officeDocument/2006/relationships/image"/><Relationship Id="rId17" Target="../media/image99.png" Type="http://schemas.openxmlformats.org/officeDocument/2006/relationships/image"/><Relationship Id="rId18" Target="../media/image100.svg" Type="http://schemas.openxmlformats.org/officeDocument/2006/relationships/image"/><Relationship Id="rId2" Target="../media/image1.jpeg" Type="http://schemas.openxmlformats.org/officeDocument/2006/relationships/image"/><Relationship Id="rId3" Target="../media/image85.png" Type="http://schemas.openxmlformats.org/officeDocument/2006/relationships/image"/><Relationship Id="rId4" Target="../media/image86.svg" Type="http://schemas.openxmlformats.org/officeDocument/2006/relationships/image"/><Relationship Id="rId5" Target="../media/image87.png" Type="http://schemas.openxmlformats.org/officeDocument/2006/relationships/image"/><Relationship Id="rId6" Target="../media/image88.svg" Type="http://schemas.openxmlformats.org/officeDocument/2006/relationships/image"/><Relationship Id="rId7" Target="../media/image89.png" Type="http://schemas.openxmlformats.org/officeDocument/2006/relationships/image"/><Relationship Id="rId8" Target="../media/image90.sv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svg" Type="http://schemas.openxmlformats.org/officeDocument/2006/relationships/image"/><Relationship Id="rId11" Target="../media/image107.png" Type="http://schemas.openxmlformats.org/officeDocument/2006/relationships/image"/><Relationship Id="rId12" Target="../media/image108.svg" Type="http://schemas.openxmlformats.org/officeDocument/2006/relationships/image"/><Relationship Id="rId13" Target="../media/image109.png" Type="http://schemas.openxmlformats.org/officeDocument/2006/relationships/image"/><Relationship Id="rId14" Target="../media/image110.svg" Type="http://schemas.openxmlformats.org/officeDocument/2006/relationships/image"/><Relationship Id="rId15" Target="../media/image111.png" Type="http://schemas.openxmlformats.org/officeDocument/2006/relationships/image"/><Relationship Id="rId16" Target="../media/image112.svg" Type="http://schemas.openxmlformats.org/officeDocument/2006/relationships/image"/><Relationship Id="rId17" Target="../media/image113.png" Type="http://schemas.openxmlformats.org/officeDocument/2006/relationships/image"/><Relationship Id="rId18" Target="../media/image114.svg" Type="http://schemas.openxmlformats.org/officeDocument/2006/relationships/image"/><Relationship Id="rId2" Target="../media/image1.jpeg" Type="http://schemas.openxmlformats.org/officeDocument/2006/relationships/image"/><Relationship Id="rId3" Target="../media/image101.png" Type="http://schemas.openxmlformats.org/officeDocument/2006/relationships/image"/><Relationship Id="rId4" Target="../media/image102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103.png" Type="http://schemas.openxmlformats.org/officeDocument/2006/relationships/image"/><Relationship Id="rId8" Target="../media/image104.sv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2.svg" Type="http://schemas.openxmlformats.org/officeDocument/2006/relationships/image"/><Relationship Id="rId11" Target="../media/image123.png" Type="http://schemas.openxmlformats.org/officeDocument/2006/relationships/image"/><Relationship Id="rId12" Target="../media/image124.svg" Type="http://schemas.openxmlformats.org/officeDocument/2006/relationships/image"/><Relationship Id="rId13" Target="../media/image6.png" Type="http://schemas.openxmlformats.org/officeDocument/2006/relationships/image"/><Relationship Id="rId14" Target="../media/image7.svg" Type="http://schemas.openxmlformats.org/officeDocument/2006/relationships/image"/><Relationship Id="rId15" Target="../media/image125.png" Type="http://schemas.openxmlformats.org/officeDocument/2006/relationships/image"/><Relationship Id="rId16" Target="../media/image126.svg" Type="http://schemas.openxmlformats.org/officeDocument/2006/relationships/image"/><Relationship Id="rId17" Target="../media/image127.png" Type="http://schemas.openxmlformats.org/officeDocument/2006/relationships/image"/><Relationship Id="rId18" Target="../media/image128.svg" Type="http://schemas.openxmlformats.org/officeDocument/2006/relationships/image"/><Relationship Id="rId19" Target="../media/image129.png" Type="http://schemas.openxmlformats.org/officeDocument/2006/relationships/image"/><Relationship Id="rId2" Target="../media/image1.jpeg" Type="http://schemas.openxmlformats.org/officeDocument/2006/relationships/image"/><Relationship Id="rId20" Target="../media/image130.svg" Type="http://schemas.openxmlformats.org/officeDocument/2006/relationships/image"/><Relationship Id="rId21" Target="../media/image131.png" Type="http://schemas.openxmlformats.org/officeDocument/2006/relationships/image"/><Relationship Id="rId22" Target="../media/image132.svg" Type="http://schemas.openxmlformats.org/officeDocument/2006/relationships/image"/><Relationship Id="rId23" Target="../media/image133.png" Type="http://schemas.openxmlformats.org/officeDocument/2006/relationships/image"/><Relationship Id="rId24" Target="../media/image134.svg" Type="http://schemas.openxmlformats.org/officeDocument/2006/relationships/image"/><Relationship Id="rId3" Target="../media/image115.png" Type="http://schemas.openxmlformats.org/officeDocument/2006/relationships/image"/><Relationship Id="rId4" Target="../media/image116.svg" Type="http://schemas.openxmlformats.org/officeDocument/2006/relationships/image"/><Relationship Id="rId5" Target="../media/image117.png" Type="http://schemas.openxmlformats.org/officeDocument/2006/relationships/image"/><Relationship Id="rId6" Target="../media/image118.svg" Type="http://schemas.openxmlformats.org/officeDocument/2006/relationships/image"/><Relationship Id="rId7" Target="../media/image119.png" Type="http://schemas.openxmlformats.org/officeDocument/2006/relationships/image"/><Relationship Id="rId8" Target="../media/image120.svg" Type="http://schemas.openxmlformats.org/officeDocument/2006/relationships/image"/><Relationship Id="rId9" Target="../media/image1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1.svg" Type="http://schemas.openxmlformats.org/officeDocument/2006/relationships/image"/><Relationship Id="rId11" Target="../media/image142.png" Type="http://schemas.openxmlformats.org/officeDocument/2006/relationships/image"/><Relationship Id="rId12" Target="../media/image143.svg" Type="http://schemas.openxmlformats.org/officeDocument/2006/relationships/image"/><Relationship Id="rId13" Target="../media/image144.png" Type="http://schemas.openxmlformats.org/officeDocument/2006/relationships/image"/><Relationship Id="rId14" Target="../media/image145.svg" Type="http://schemas.openxmlformats.org/officeDocument/2006/relationships/image"/><Relationship Id="rId15" Target="../media/image146.png" Type="http://schemas.openxmlformats.org/officeDocument/2006/relationships/image"/><Relationship Id="rId16" Target="../media/image147.svg" Type="http://schemas.openxmlformats.org/officeDocument/2006/relationships/image"/><Relationship Id="rId17" Target="../media/image125.png" Type="http://schemas.openxmlformats.org/officeDocument/2006/relationships/image"/><Relationship Id="rId18" Target="../media/image126.svg" Type="http://schemas.openxmlformats.org/officeDocument/2006/relationships/image"/><Relationship Id="rId19" Target="../media/image109.png" Type="http://schemas.openxmlformats.org/officeDocument/2006/relationships/image"/><Relationship Id="rId2" Target="../media/image1.jpeg" Type="http://schemas.openxmlformats.org/officeDocument/2006/relationships/image"/><Relationship Id="rId20" Target="../media/image110.svg" Type="http://schemas.openxmlformats.org/officeDocument/2006/relationships/image"/><Relationship Id="rId21" Target="../media/image95.png" Type="http://schemas.openxmlformats.org/officeDocument/2006/relationships/image"/><Relationship Id="rId22" Target="../media/image96.svg" Type="http://schemas.openxmlformats.org/officeDocument/2006/relationships/image"/><Relationship Id="rId23" Target="../media/image148.png" Type="http://schemas.openxmlformats.org/officeDocument/2006/relationships/image"/><Relationship Id="rId24" Target="../media/image149.svg" Type="http://schemas.openxmlformats.org/officeDocument/2006/relationships/image"/><Relationship Id="rId25" Target="../media/image12.png" Type="http://schemas.openxmlformats.org/officeDocument/2006/relationships/image"/><Relationship Id="rId26" Target="../media/image13.svg" Type="http://schemas.openxmlformats.org/officeDocument/2006/relationships/image"/><Relationship Id="rId27" Target="../media/image150.png" Type="http://schemas.openxmlformats.org/officeDocument/2006/relationships/image"/><Relationship Id="rId28" Target="../media/image151.svg" Type="http://schemas.openxmlformats.org/officeDocument/2006/relationships/image"/><Relationship Id="rId29" Target="../media/image99.png" Type="http://schemas.openxmlformats.org/officeDocument/2006/relationships/image"/><Relationship Id="rId3" Target="../media/image18.png" Type="http://schemas.openxmlformats.org/officeDocument/2006/relationships/image"/><Relationship Id="rId30" Target="../media/image100.svg" Type="http://schemas.openxmlformats.org/officeDocument/2006/relationships/image"/><Relationship Id="rId4" Target="../media/image135.svg" Type="http://schemas.openxmlformats.org/officeDocument/2006/relationships/image"/><Relationship Id="rId5" Target="../media/image136.png" Type="http://schemas.openxmlformats.org/officeDocument/2006/relationships/image"/><Relationship Id="rId6" Target="../media/image137.svg" Type="http://schemas.openxmlformats.org/officeDocument/2006/relationships/image"/><Relationship Id="rId7" Target="../media/image138.png" Type="http://schemas.openxmlformats.org/officeDocument/2006/relationships/image"/><Relationship Id="rId8" Target="../media/image139.svg" Type="http://schemas.openxmlformats.org/officeDocument/2006/relationships/image"/><Relationship Id="rId9" Target="../media/image14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9.svg" Type="http://schemas.openxmlformats.org/officeDocument/2006/relationships/image"/><Relationship Id="rId11" Target="../media/image160.png" Type="http://schemas.openxmlformats.org/officeDocument/2006/relationships/image"/><Relationship Id="rId12" Target="../media/image161.svg" Type="http://schemas.openxmlformats.org/officeDocument/2006/relationships/image"/><Relationship Id="rId13" Target="../media/image162.png" Type="http://schemas.openxmlformats.org/officeDocument/2006/relationships/image"/><Relationship Id="rId14" Target="../media/image163.svg" Type="http://schemas.openxmlformats.org/officeDocument/2006/relationships/image"/><Relationship Id="rId15" Target="../media/image164.png" Type="http://schemas.openxmlformats.org/officeDocument/2006/relationships/image"/><Relationship Id="rId16" Target="../media/image165.svg" Type="http://schemas.openxmlformats.org/officeDocument/2006/relationships/image"/><Relationship Id="rId17" Target="../media/image166.png" Type="http://schemas.openxmlformats.org/officeDocument/2006/relationships/image"/><Relationship Id="rId18" Target="../media/image167.svg" Type="http://schemas.openxmlformats.org/officeDocument/2006/relationships/image"/><Relationship Id="rId19" Target="../media/image168.png" Type="http://schemas.openxmlformats.org/officeDocument/2006/relationships/image"/><Relationship Id="rId2" Target="../media/image1.jpeg" Type="http://schemas.openxmlformats.org/officeDocument/2006/relationships/image"/><Relationship Id="rId20" Target="../media/image169.svg" Type="http://schemas.openxmlformats.org/officeDocument/2006/relationships/image"/><Relationship Id="rId21" Target="../media/image170.png" Type="http://schemas.openxmlformats.org/officeDocument/2006/relationships/image"/><Relationship Id="rId22" Target="../media/image171.svg" Type="http://schemas.openxmlformats.org/officeDocument/2006/relationships/image"/><Relationship Id="rId3" Target="../media/image152.png" Type="http://schemas.openxmlformats.org/officeDocument/2006/relationships/image"/><Relationship Id="rId4" Target="../media/image153.svg" Type="http://schemas.openxmlformats.org/officeDocument/2006/relationships/image"/><Relationship Id="rId5" Target="../media/image154.png" Type="http://schemas.openxmlformats.org/officeDocument/2006/relationships/image"/><Relationship Id="rId6" Target="../media/image155.svg" Type="http://schemas.openxmlformats.org/officeDocument/2006/relationships/image"/><Relationship Id="rId7" Target="../media/image156.png" Type="http://schemas.openxmlformats.org/officeDocument/2006/relationships/image"/><Relationship Id="rId8" Target="../media/image157.svg" Type="http://schemas.openxmlformats.org/officeDocument/2006/relationships/image"/><Relationship Id="rId9" Target="../media/image15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3.png" Type="http://schemas.openxmlformats.org/officeDocument/2006/relationships/image"/><Relationship Id="rId4" Target="../media/image114.svg" Type="http://schemas.openxmlformats.org/officeDocument/2006/relationships/image"/><Relationship Id="rId5" Target="../media/image172.png" Type="http://schemas.openxmlformats.org/officeDocument/2006/relationships/image"/><Relationship Id="rId6" Target="../media/image17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887392"/>
            <a:ext cx="2705100" cy="846175"/>
            <a:chOff x="0" y="0"/>
            <a:chExt cx="712454" cy="2228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2454" cy="222861"/>
            </a:xfrm>
            <a:custGeom>
              <a:avLst/>
              <a:gdLst/>
              <a:ahLst/>
              <a:cxnLst/>
              <a:rect r="r" b="b" t="t" l="l"/>
              <a:pathLst>
                <a:path h="222861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222861"/>
                  </a:lnTo>
                  <a:lnTo>
                    <a:pt x="0" y="222861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712454" cy="270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38900" y="3887392"/>
            <a:ext cx="2705100" cy="846175"/>
            <a:chOff x="0" y="0"/>
            <a:chExt cx="712454" cy="2228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2454" cy="222861"/>
            </a:xfrm>
            <a:custGeom>
              <a:avLst/>
              <a:gdLst/>
              <a:ahLst/>
              <a:cxnLst/>
              <a:rect r="r" b="b" t="t" l="l"/>
              <a:pathLst>
                <a:path h="222861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222861"/>
                  </a:lnTo>
                  <a:lnTo>
                    <a:pt x="0" y="222861"/>
                  </a:lnTo>
                  <a:close/>
                </a:path>
              </a:pathLst>
            </a:custGeom>
            <a:solidFill>
              <a:srgbClr val="5F888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712454" cy="270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733800" y="3887392"/>
            <a:ext cx="2705100" cy="846175"/>
            <a:chOff x="0" y="0"/>
            <a:chExt cx="712454" cy="2228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2454" cy="222861"/>
            </a:xfrm>
            <a:custGeom>
              <a:avLst/>
              <a:gdLst/>
              <a:ahLst/>
              <a:cxnLst/>
              <a:rect r="r" b="b" t="t" l="l"/>
              <a:pathLst>
                <a:path h="222861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222861"/>
                  </a:lnTo>
                  <a:lnTo>
                    <a:pt x="0" y="222861"/>
                  </a:lnTo>
                  <a:close/>
                </a:path>
              </a:pathLst>
            </a:custGeom>
            <a:solidFill>
              <a:srgbClr val="9AC4A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712454" cy="270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3887392"/>
            <a:ext cx="2705100" cy="846175"/>
            <a:chOff x="0" y="0"/>
            <a:chExt cx="712454" cy="2228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2454" cy="222861"/>
            </a:xfrm>
            <a:custGeom>
              <a:avLst/>
              <a:gdLst/>
              <a:ahLst/>
              <a:cxnLst/>
              <a:rect r="r" b="b" t="t" l="l"/>
              <a:pathLst>
                <a:path h="222861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222861"/>
                  </a:lnTo>
                  <a:lnTo>
                    <a:pt x="0" y="222861"/>
                  </a:lnTo>
                  <a:close/>
                </a:path>
              </a:pathLst>
            </a:custGeom>
            <a:solidFill>
              <a:srgbClr val="4E7C7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12454" cy="270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49100" y="3887392"/>
            <a:ext cx="2705100" cy="846175"/>
            <a:chOff x="0" y="0"/>
            <a:chExt cx="712454" cy="2228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2454" cy="222861"/>
            </a:xfrm>
            <a:custGeom>
              <a:avLst/>
              <a:gdLst/>
              <a:ahLst/>
              <a:cxnLst/>
              <a:rect r="r" b="b" t="t" l="l"/>
              <a:pathLst>
                <a:path h="222861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222861"/>
                  </a:lnTo>
                  <a:lnTo>
                    <a:pt x="0" y="222861"/>
                  </a:lnTo>
                  <a:close/>
                </a:path>
              </a:pathLst>
            </a:custGeom>
            <a:solidFill>
              <a:srgbClr val="3B5D5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12454" cy="270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554200" y="3887392"/>
            <a:ext cx="2705100" cy="846175"/>
            <a:chOff x="0" y="0"/>
            <a:chExt cx="712454" cy="2228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2454" cy="222861"/>
            </a:xfrm>
            <a:custGeom>
              <a:avLst/>
              <a:gdLst/>
              <a:ahLst/>
              <a:cxnLst/>
              <a:rect r="r" b="b" t="t" l="l"/>
              <a:pathLst>
                <a:path h="222861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222861"/>
                  </a:lnTo>
                  <a:lnTo>
                    <a:pt x="0" y="222861"/>
                  </a:lnTo>
                  <a:close/>
                </a:path>
              </a:pathLst>
            </a:custGeom>
            <a:solidFill>
              <a:srgbClr val="212D3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12454" cy="270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4733567"/>
            <a:ext cx="2705100" cy="4869519"/>
            <a:chOff x="0" y="0"/>
            <a:chExt cx="712454" cy="128250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2454" cy="1282507"/>
            </a:xfrm>
            <a:custGeom>
              <a:avLst/>
              <a:gdLst/>
              <a:ahLst/>
              <a:cxnLst/>
              <a:rect r="r" b="b" t="t" l="l"/>
              <a:pathLst>
                <a:path h="1282507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1282507"/>
                  </a:lnTo>
                  <a:lnTo>
                    <a:pt x="0" y="1282507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12454" cy="133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38900" y="4733567"/>
            <a:ext cx="2705100" cy="4869519"/>
            <a:chOff x="0" y="0"/>
            <a:chExt cx="712454" cy="128250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2454" cy="1282507"/>
            </a:xfrm>
            <a:custGeom>
              <a:avLst/>
              <a:gdLst/>
              <a:ahLst/>
              <a:cxnLst/>
              <a:rect r="r" b="b" t="t" l="l"/>
              <a:pathLst>
                <a:path h="1282507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1282507"/>
                  </a:lnTo>
                  <a:lnTo>
                    <a:pt x="0" y="1282507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12454" cy="133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733800" y="4733567"/>
            <a:ext cx="2705100" cy="4869519"/>
            <a:chOff x="0" y="0"/>
            <a:chExt cx="712454" cy="128250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2454" cy="1282507"/>
            </a:xfrm>
            <a:custGeom>
              <a:avLst/>
              <a:gdLst/>
              <a:ahLst/>
              <a:cxnLst/>
              <a:rect r="r" b="b" t="t" l="l"/>
              <a:pathLst>
                <a:path h="1282507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1282507"/>
                  </a:lnTo>
                  <a:lnTo>
                    <a:pt x="0" y="1282507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12454" cy="133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0" y="4733567"/>
            <a:ext cx="2705100" cy="4869519"/>
            <a:chOff x="0" y="0"/>
            <a:chExt cx="712454" cy="128250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2454" cy="1282507"/>
            </a:xfrm>
            <a:custGeom>
              <a:avLst/>
              <a:gdLst/>
              <a:ahLst/>
              <a:cxnLst/>
              <a:rect r="r" b="b" t="t" l="l"/>
              <a:pathLst>
                <a:path h="1282507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1282507"/>
                  </a:lnTo>
                  <a:lnTo>
                    <a:pt x="0" y="1282507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12454" cy="133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849100" y="4733567"/>
            <a:ext cx="2705100" cy="4869519"/>
            <a:chOff x="0" y="0"/>
            <a:chExt cx="712454" cy="12825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2454" cy="1282507"/>
            </a:xfrm>
            <a:custGeom>
              <a:avLst/>
              <a:gdLst/>
              <a:ahLst/>
              <a:cxnLst/>
              <a:rect r="r" b="b" t="t" l="l"/>
              <a:pathLst>
                <a:path h="1282507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1282507"/>
                  </a:lnTo>
                  <a:lnTo>
                    <a:pt x="0" y="1282507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712454" cy="133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554200" y="4733567"/>
            <a:ext cx="2705100" cy="4869519"/>
            <a:chOff x="0" y="0"/>
            <a:chExt cx="712454" cy="12825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2454" cy="1282507"/>
            </a:xfrm>
            <a:custGeom>
              <a:avLst/>
              <a:gdLst/>
              <a:ahLst/>
              <a:cxnLst/>
              <a:rect r="r" b="b" t="t" l="l"/>
              <a:pathLst>
                <a:path h="1282507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1282507"/>
                  </a:lnTo>
                  <a:lnTo>
                    <a:pt x="0" y="1282507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712454" cy="133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5400000">
            <a:off x="3536645" y="4164546"/>
            <a:ext cx="667128" cy="291868"/>
            <a:chOff x="0" y="0"/>
            <a:chExt cx="812800" cy="355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355600"/>
            </a:xfrm>
            <a:custGeom>
              <a:avLst/>
              <a:gdLst/>
              <a:ahLst/>
              <a:cxnLst/>
              <a:rect r="r" b="b" t="t" l="l"/>
              <a:pathLst>
                <a:path h="355600" w="812800">
                  <a:moveTo>
                    <a:pt x="406400" y="0"/>
                  </a:moveTo>
                  <a:lnTo>
                    <a:pt x="812800" y="355600"/>
                  </a:lnTo>
                  <a:lnTo>
                    <a:pt x="0" y="3556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27000" y="117475"/>
              <a:ext cx="558800" cy="212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5400000">
            <a:off x="6245648" y="4164546"/>
            <a:ext cx="667128" cy="291868"/>
            <a:chOff x="0" y="0"/>
            <a:chExt cx="812800" cy="355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355600"/>
            </a:xfrm>
            <a:custGeom>
              <a:avLst/>
              <a:gdLst/>
              <a:ahLst/>
              <a:cxnLst/>
              <a:rect r="r" b="b" t="t" l="l"/>
              <a:pathLst>
                <a:path h="355600" w="812800">
                  <a:moveTo>
                    <a:pt x="406400" y="0"/>
                  </a:moveTo>
                  <a:lnTo>
                    <a:pt x="812800" y="355600"/>
                  </a:lnTo>
                  <a:lnTo>
                    <a:pt x="0" y="3556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AC4A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27000" y="117475"/>
              <a:ext cx="558800" cy="212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5400000">
            <a:off x="8950748" y="4164546"/>
            <a:ext cx="667128" cy="291868"/>
            <a:chOff x="0" y="0"/>
            <a:chExt cx="812800" cy="355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355600"/>
            </a:xfrm>
            <a:custGeom>
              <a:avLst/>
              <a:gdLst/>
              <a:ahLst/>
              <a:cxnLst/>
              <a:rect r="r" b="b" t="t" l="l"/>
              <a:pathLst>
                <a:path h="355600" w="812800">
                  <a:moveTo>
                    <a:pt x="406400" y="0"/>
                  </a:moveTo>
                  <a:lnTo>
                    <a:pt x="812800" y="355600"/>
                  </a:lnTo>
                  <a:lnTo>
                    <a:pt x="0" y="3556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F8883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27000" y="117475"/>
              <a:ext cx="558800" cy="212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5400000">
            <a:off x="11655848" y="4164546"/>
            <a:ext cx="667128" cy="291868"/>
            <a:chOff x="0" y="0"/>
            <a:chExt cx="812800" cy="355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355600"/>
            </a:xfrm>
            <a:custGeom>
              <a:avLst/>
              <a:gdLst/>
              <a:ahLst/>
              <a:cxnLst/>
              <a:rect r="r" b="b" t="t" l="l"/>
              <a:pathLst>
                <a:path h="355600" w="812800">
                  <a:moveTo>
                    <a:pt x="406400" y="0"/>
                  </a:moveTo>
                  <a:lnTo>
                    <a:pt x="812800" y="355600"/>
                  </a:lnTo>
                  <a:lnTo>
                    <a:pt x="0" y="3556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E7C7D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27000" y="117475"/>
              <a:ext cx="558800" cy="212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5400000">
            <a:off x="14360948" y="4164546"/>
            <a:ext cx="667128" cy="291868"/>
            <a:chOff x="0" y="0"/>
            <a:chExt cx="812800" cy="355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355600"/>
            </a:xfrm>
            <a:custGeom>
              <a:avLst/>
              <a:gdLst/>
              <a:ahLst/>
              <a:cxnLst/>
              <a:rect r="r" b="b" t="t" l="l"/>
              <a:pathLst>
                <a:path h="355600" w="812800">
                  <a:moveTo>
                    <a:pt x="406400" y="0"/>
                  </a:moveTo>
                  <a:lnTo>
                    <a:pt x="812800" y="355600"/>
                  </a:lnTo>
                  <a:lnTo>
                    <a:pt x="0" y="3556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B5D5A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27000" y="117475"/>
              <a:ext cx="558800" cy="212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1975237" y="5365032"/>
            <a:ext cx="812026" cy="812026"/>
          </a:xfrm>
          <a:custGeom>
            <a:avLst/>
            <a:gdLst/>
            <a:ahLst/>
            <a:cxnLst/>
            <a:rect r="r" b="b" t="t" l="l"/>
            <a:pathLst>
              <a:path h="812026" w="812026">
                <a:moveTo>
                  <a:pt x="0" y="0"/>
                </a:moveTo>
                <a:lnTo>
                  <a:pt x="812026" y="0"/>
                </a:lnTo>
                <a:lnTo>
                  <a:pt x="812026" y="812026"/>
                </a:lnTo>
                <a:lnTo>
                  <a:pt x="0" y="812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4707235" y="5365032"/>
            <a:ext cx="758229" cy="812026"/>
          </a:xfrm>
          <a:custGeom>
            <a:avLst/>
            <a:gdLst/>
            <a:ahLst/>
            <a:cxnLst/>
            <a:rect r="r" b="b" t="t" l="l"/>
            <a:pathLst>
              <a:path h="812026" w="758229">
                <a:moveTo>
                  <a:pt x="0" y="0"/>
                </a:moveTo>
                <a:lnTo>
                  <a:pt x="758230" y="0"/>
                </a:lnTo>
                <a:lnTo>
                  <a:pt x="758230" y="812026"/>
                </a:lnTo>
                <a:lnTo>
                  <a:pt x="0" y="8120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7385437" y="5365032"/>
            <a:ext cx="812026" cy="812026"/>
          </a:xfrm>
          <a:custGeom>
            <a:avLst/>
            <a:gdLst/>
            <a:ahLst/>
            <a:cxnLst/>
            <a:rect r="r" b="b" t="t" l="l"/>
            <a:pathLst>
              <a:path h="812026" w="812026">
                <a:moveTo>
                  <a:pt x="0" y="0"/>
                </a:moveTo>
                <a:lnTo>
                  <a:pt x="812026" y="0"/>
                </a:lnTo>
                <a:lnTo>
                  <a:pt x="812026" y="812026"/>
                </a:lnTo>
                <a:lnTo>
                  <a:pt x="0" y="8120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0072935" y="5276005"/>
            <a:ext cx="847229" cy="847229"/>
          </a:xfrm>
          <a:custGeom>
            <a:avLst/>
            <a:gdLst/>
            <a:ahLst/>
            <a:cxnLst/>
            <a:rect r="r" b="b" t="t" l="l"/>
            <a:pathLst>
              <a:path h="847229" w="847229">
                <a:moveTo>
                  <a:pt x="0" y="0"/>
                </a:moveTo>
                <a:lnTo>
                  <a:pt x="847230" y="0"/>
                </a:lnTo>
                <a:lnTo>
                  <a:pt x="847230" y="847229"/>
                </a:lnTo>
                <a:lnTo>
                  <a:pt x="0" y="8472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2778035" y="5276005"/>
            <a:ext cx="847229" cy="847229"/>
          </a:xfrm>
          <a:custGeom>
            <a:avLst/>
            <a:gdLst/>
            <a:ahLst/>
            <a:cxnLst/>
            <a:rect r="r" b="b" t="t" l="l"/>
            <a:pathLst>
              <a:path h="847229" w="847229">
                <a:moveTo>
                  <a:pt x="0" y="0"/>
                </a:moveTo>
                <a:lnTo>
                  <a:pt x="847230" y="0"/>
                </a:lnTo>
                <a:lnTo>
                  <a:pt x="847230" y="847229"/>
                </a:lnTo>
                <a:lnTo>
                  <a:pt x="0" y="8472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5525750" y="5276005"/>
            <a:ext cx="793878" cy="793878"/>
          </a:xfrm>
          <a:custGeom>
            <a:avLst/>
            <a:gdLst/>
            <a:ahLst/>
            <a:cxnLst/>
            <a:rect r="r" b="b" t="t" l="l"/>
            <a:pathLst>
              <a:path h="793878" w="793878">
                <a:moveTo>
                  <a:pt x="0" y="0"/>
                </a:moveTo>
                <a:lnTo>
                  <a:pt x="793878" y="0"/>
                </a:lnTo>
                <a:lnTo>
                  <a:pt x="793878" y="793877"/>
                </a:lnTo>
                <a:lnTo>
                  <a:pt x="0" y="7938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-2533550">
            <a:off x="-1052943" y="-204433"/>
            <a:ext cx="3073233" cy="1052582"/>
          </a:xfrm>
          <a:custGeom>
            <a:avLst/>
            <a:gdLst/>
            <a:ahLst/>
            <a:cxnLst/>
            <a:rect r="r" b="b" t="t" l="l"/>
            <a:pathLst>
              <a:path h="1052582" w="3073233">
                <a:moveTo>
                  <a:pt x="0" y="0"/>
                </a:moveTo>
                <a:lnTo>
                  <a:pt x="3073233" y="0"/>
                </a:lnTo>
                <a:lnTo>
                  <a:pt x="3073233" y="1052582"/>
                </a:lnTo>
                <a:lnTo>
                  <a:pt x="0" y="105258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-3014424">
            <a:off x="17126738" y="9326463"/>
            <a:ext cx="2322524" cy="2281879"/>
          </a:xfrm>
          <a:custGeom>
            <a:avLst/>
            <a:gdLst/>
            <a:ahLst/>
            <a:cxnLst/>
            <a:rect r="r" b="b" t="t" l="l"/>
            <a:pathLst>
              <a:path h="2281879" w="2322524">
                <a:moveTo>
                  <a:pt x="0" y="0"/>
                </a:moveTo>
                <a:lnTo>
                  <a:pt x="2322524" y="0"/>
                </a:lnTo>
                <a:lnTo>
                  <a:pt x="2322524" y="2281879"/>
                </a:lnTo>
                <a:lnTo>
                  <a:pt x="0" y="228187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529622" y="4076620"/>
            <a:ext cx="170325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Step 1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234722" y="4076620"/>
            <a:ext cx="170325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Step 2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51324" y="942975"/>
            <a:ext cx="12585353" cy="87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b="true" sz="5200" spc="114">
                <a:solidFill>
                  <a:srgbClr val="212D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 DEVELOPMENT ROADMAP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529622" y="6579947"/>
            <a:ext cx="170325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Ideation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30724" y="7177257"/>
            <a:ext cx="2101053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Identify market needs and initial concepts for a new product.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234722" y="6579947"/>
            <a:ext cx="1703255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Product Design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035824" y="7595312"/>
            <a:ext cx="2101053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Develop the main design and features of the product before prototyping.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939822" y="6579947"/>
            <a:ext cx="1703255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Market Research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740924" y="7595312"/>
            <a:ext cx="2101053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Analyze trends and customer needs to validate the product idea.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448800" y="6579947"/>
            <a:ext cx="2095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Testing &amp; Prototyping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446024" y="7595312"/>
            <a:ext cx="2101053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Test the initial product to identify issues and improvements.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151124" y="6579947"/>
            <a:ext cx="2101053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Improvement &amp; Refinement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151124" y="7595312"/>
            <a:ext cx="2101053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Iterate based on feedback from product testing results.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5055122" y="6579947"/>
            <a:ext cx="170325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Launch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856224" y="7215357"/>
            <a:ext cx="2101053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The product is launched to the market with an integrated marketing strategy.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035824" y="2130430"/>
            <a:ext cx="1021635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Fusce tempor, velit sit amet porta efficitur, ex ipsum porta dui, quis accumsan lorem ante nec lacus. 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939822" y="4076620"/>
            <a:ext cx="170325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Step 3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644922" y="4076620"/>
            <a:ext cx="170325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Step 4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350022" y="4076620"/>
            <a:ext cx="170325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Step 5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5055122" y="4076620"/>
            <a:ext cx="170325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Step 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4873" y="4779311"/>
            <a:ext cx="3086100" cy="4193239"/>
            <a:chOff x="0" y="0"/>
            <a:chExt cx="812800" cy="11043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104392"/>
            </a:xfrm>
            <a:custGeom>
              <a:avLst/>
              <a:gdLst/>
              <a:ahLst/>
              <a:cxnLst/>
              <a:rect r="r" b="b" t="t" l="l"/>
              <a:pathLst>
                <a:path h="1104392" w="812800">
                  <a:moveTo>
                    <a:pt x="70242" y="0"/>
                  </a:moveTo>
                  <a:lnTo>
                    <a:pt x="742558" y="0"/>
                  </a:lnTo>
                  <a:cubicBezTo>
                    <a:pt x="781352" y="0"/>
                    <a:pt x="812800" y="31448"/>
                    <a:pt x="812800" y="70242"/>
                  </a:cubicBezTo>
                  <a:lnTo>
                    <a:pt x="812800" y="1034150"/>
                  </a:lnTo>
                  <a:cubicBezTo>
                    <a:pt x="812800" y="1072944"/>
                    <a:pt x="781352" y="1104392"/>
                    <a:pt x="742558" y="1104392"/>
                  </a:cubicBezTo>
                  <a:lnTo>
                    <a:pt x="70242" y="1104392"/>
                  </a:lnTo>
                  <a:cubicBezTo>
                    <a:pt x="31448" y="1104392"/>
                    <a:pt x="0" y="1072944"/>
                    <a:pt x="0" y="1034150"/>
                  </a:cubicBezTo>
                  <a:lnTo>
                    <a:pt x="0" y="70242"/>
                  </a:lnTo>
                  <a:cubicBezTo>
                    <a:pt x="0" y="31448"/>
                    <a:pt x="31448" y="0"/>
                    <a:pt x="70242" y="0"/>
                  </a:cubicBez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1152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182911" y="4779311"/>
            <a:ext cx="3086100" cy="4193239"/>
            <a:chOff x="0" y="0"/>
            <a:chExt cx="812800" cy="11043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104392"/>
            </a:xfrm>
            <a:custGeom>
              <a:avLst/>
              <a:gdLst/>
              <a:ahLst/>
              <a:cxnLst/>
              <a:rect r="r" b="b" t="t" l="l"/>
              <a:pathLst>
                <a:path h="1104392" w="812800">
                  <a:moveTo>
                    <a:pt x="70242" y="0"/>
                  </a:moveTo>
                  <a:lnTo>
                    <a:pt x="742558" y="0"/>
                  </a:lnTo>
                  <a:cubicBezTo>
                    <a:pt x="781352" y="0"/>
                    <a:pt x="812800" y="31448"/>
                    <a:pt x="812800" y="70242"/>
                  </a:cubicBezTo>
                  <a:lnTo>
                    <a:pt x="812800" y="1034150"/>
                  </a:lnTo>
                  <a:cubicBezTo>
                    <a:pt x="812800" y="1072944"/>
                    <a:pt x="781352" y="1104392"/>
                    <a:pt x="742558" y="1104392"/>
                  </a:cubicBezTo>
                  <a:lnTo>
                    <a:pt x="70242" y="1104392"/>
                  </a:lnTo>
                  <a:cubicBezTo>
                    <a:pt x="31448" y="1104392"/>
                    <a:pt x="0" y="1072944"/>
                    <a:pt x="0" y="1034150"/>
                  </a:cubicBezTo>
                  <a:lnTo>
                    <a:pt x="0" y="70242"/>
                  </a:lnTo>
                  <a:cubicBezTo>
                    <a:pt x="0" y="31448"/>
                    <a:pt x="31448" y="0"/>
                    <a:pt x="70242" y="0"/>
                  </a:cubicBezTo>
                  <a:close/>
                </a:path>
              </a:pathLst>
            </a:custGeom>
            <a:solidFill>
              <a:srgbClr val="9AC4A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1152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00950" y="4779311"/>
            <a:ext cx="3086100" cy="4193239"/>
            <a:chOff x="0" y="0"/>
            <a:chExt cx="812800" cy="11043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104392"/>
            </a:xfrm>
            <a:custGeom>
              <a:avLst/>
              <a:gdLst/>
              <a:ahLst/>
              <a:cxnLst/>
              <a:rect r="r" b="b" t="t" l="l"/>
              <a:pathLst>
                <a:path h="1104392" w="812800">
                  <a:moveTo>
                    <a:pt x="70242" y="0"/>
                  </a:moveTo>
                  <a:lnTo>
                    <a:pt x="742558" y="0"/>
                  </a:lnTo>
                  <a:cubicBezTo>
                    <a:pt x="781352" y="0"/>
                    <a:pt x="812800" y="31448"/>
                    <a:pt x="812800" y="70242"/>
                  </a:cubicBezTo>
                  <a:lnTo>
                    <a:pt x="812800" y="1034150"/>
                  </a:lnTo>
                  <a:cubicBezTo>
                    <a:pt x="812800" y="1072944"/>
                    <a:pt x="781352" y="1104392"/>
                    <a:pt x="742558" y="1104392"/>
                  </a:cubicBezTo>
                  <a:lnTo>
                    <a:pt x="70242" y="1104392"/>
                  </a:lnTo>
                  <a:cubicBezTo>
                    <a:pt x="31448" y="1104392"/>
                    <a:pt x="0" y="1072944"/>
                    <a:pt x="0" y="1034150"/>
                  </a:cubicBezTo>
                  <a:lnTo>
                    <a:pt x="0" y="70242"/>
                  </a:lnTo>
                  <a:cubicBezTo>
                    <a:pt x="0" y="31448"/>
                    <a:pt x="31448" y="0"/>
                    <a:pt x="70242" y="0"/>
                  </a:cubicBezTo>
                  <a:close/>
                </a:path>
              </a:pathLst>
            </a:custGeom>
            <a:solidFill>
              <a:srgbClr val="5F888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1152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018989" y="4779311"/>
            <a:ext cx="3086100" cy="4193239"/>
            <a:chOff x="0" y="0"/>
            <a:chExt cx="812800" cy="11043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1104392"/>
            </a:xfrm>
            <a:custGeom>
              <a:avLst/>
              <a:gdLst/>
              <a:ahLst/>
              <a:cxnLst/>
              <a:rect r="r" b="b" t="t" l="l"/>
              <a:pathLst>
                <a:path h="1104392" w="812800">
                  <a:moveTo>
                    <a:pt x="70242" y="0"/>
                  </a:moveTo>
                  <a:lnTo>
                    <a:pt x="742558" y="0"/>
                  </a:lnTo>
                  <a:cubicBezTo>
                    <a:pt x="781352" y="0"/>
                    <a:pt x="812800" y="31448"/>
                    <a:pt x="812800" y="70242"/>
                  </a:cubicBezTo>
                  <a:lnTo>
                    <a:pt x="812800" y="1034150"/>
                  </a:lnTo>
                  <a:cubicBezTo>
                    <a:pt x="812800" y="1072944"/>
                    <a:pt x="781352" y="1104392"/>
                    <a:pt x="742558" y="1104392"/>
                  </a:cubicBezTo>
                  <a:lnTo>
                    <a:pt x="70242" y="1104392"/>
                  </a:lnTo>
                  <a:cubicBezTo>
                    <a:pt x="31448" y="1104392"/>
                    <a:pt x="0" y="1072944"/>
                    <a:pt x="0" y="1034150"/>
                  </a:cubicBezTo>
                  <a:lnTo>
                    <a:pt x="0" y="70242"/>
                  </a:lnTo>
                  <a:cubicBezTo>
                    <a:pt x="0" y="31448"/>
                    <a:pt x="31448" y="0"/>
                    <a:pt x="70242" y="0"/>
                  </a:cubicBezTo>
                  <a:close/>
                </a:path>
              </a:pathLst>
            </a:custGeom>
            <a:solidFill>
              <a:srgbClr val="4E7C7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1152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762717" y="3882684"/>
            <a:ext cx="2024536" cy="2024536"/>
          </a:xfrm>
          <a:custGeom>
            <a:avLst/>
            <a:gdLst/>
            <a:ahLst/>
            <a:cxnLst/>
            <a:rect r="r" b="b" t="t" l="l"/>
            <a:pathLst>
              <a:path h="2024536" w="2024536">
                <a:moveTo>
                  <a:pt x="0" y="0"/>
                </a:moveTo>
                <a:lnTo>
                  <a:pt x="2024535" y="0"/>
                </a:lnTo>
                <a:lnTo>
                  <a:pt x="2024535" y="2024536"/>
                </a:lnTo>
                <a:lnTo>
                  <a:pt x="0" y="2024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14437027" y="4779311"/>
            <a:ext cx="3086100" cy="4193239"/>
            <a:chOff x="0" y="0"/>
            <a:chExt cx="812800" cy="11043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1104392"/>
            </a:xfrm>
            <a:custGeom>
              <a:avLst/>
              <a:gdLst/>
              <a:ahLst/>
              <a:cxnLst/>
              <a:rect r="r" b="b" t="t" l="l"/>
              <a:pathLst>
                <a:path h="1104392" w="812800">
                  <a:moveTo>
                    <a:pt x="70242" y="0"/>
                  </a:moveTo>
                  <a:lnTo>
                    <a:pt x="742558" y="0"/>
                  </a:lnTo>
                  <a:cubicBezTo>
                    <a:pt x="781352" y="0"/>
                    <a:pt x="812800" y="31448"/>
                    <a:pt x="812800" y="70242"/>
                  </a:cubicBezTo>
                  <a:lnTo>
                    <a:pt x="812800" y="1034150"/>
                  </a:lnTo>
                  <a:cubicBezTo>
                    <a:pt x="812800" y="1072944"/>
                    <a:pt x="781352" y="1104392"/>
                    <a:pt x="742558" y="1104392"/>
                  </a:cubicBezTo>
                  <a:lnTo>
                    <a:pt x="70242" y="1104392"/>
                  </a:lnTo>
                  <a:cubicBezTo>
                    <a:pt x="31448" y="1104392"/>
                    <a:pt x="0" y="1072944"/>
                    <a:pt x="0" y="1034150"/>
                  </a:cubicBezTo>
                  <a:lnTo>
                    <a:pt x="0" y="70242"/>
                  </a:lnTo>
                  <a:cubicBezTo>
                    <a:pt x="0" y="31448"/>
                    <a:pt x="31448" y="0"/>
                    <a:pt x="70242" y="0"/>
                  </a:cubicBezTo>
                  <a:close/>
                </a:path>
              </a:pathLst>
            </a:custGeom>
            <a:solidFill>
              <a:srgbClr val="3B5D5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12800" cy="1152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181414" y="3882684"/>
            <a:ext cx="2024536" cy="2024536"/>
          </a:xfrm>
          <a:custGeom>
            <a:avLst/>
            <a:gdLst/>
            <a:ahLst/>
            <a:cxnLst/>
            <a:rect r="r" b="b" t="t" l="l"/>
            <a:pathLst>
              <a:path h="2024536" w="2024536">
                <a:moveTo>
                  <a:pt x="0" y="0"/>
                </a:moveTo>
                <a:lnTo>
                  <a:pt x="2024535" y="0"/>
                </a:lnTo>
                <a:lnTo>
                  <a:pt x="2024535" y="2024536"/>
                </a:lnTo>
                <a:lnTo>
                  <a:pt x="0" y="2024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8344678" y="3882684"/>
            <a:ext cx="2024062" cy="2024062"/>
          </a:xfrm>
          <a:custGeom>
            <a:avLst/>
            <a:gdLst/>
            <a:ahLst/>
            <a:cxnLst/>
            <a:rect r="r" b="b" t="t" l="l"/>
            <a:pathLst>
              <a:path h="2024062" w="2024062">
                <a:moveTo>
                  <a:pt x="0" y="0"/>
                </a:moveTo>
                <a:lnTo>
                  <a:pt x="2024062" y="0"/>
                </a:lnTo>
                <a:lnTo>
                  <a:pt x="2024062" y="2024063"/>
                </a:lnTo>
                <a:lnTo>
                  <a:pt x="0" y="20240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4926639" y="3882684"/>
            <a:ext cx="2024063" cy="2024062"/>
          </a:xfrm>
          <a:custGeom>
            <a:avLst/>
            <a:gdLst/>
            <a:ahLst/>
            <a:cxnLst/>
            <a:rect r="r" b="b" t="t" l="l"/>
            <a:pathLst>
              <a:path h="2024062" w="2024063">
                <a:moveTo>
                  <a:pt x="0" y="0"/>
                </a:moveTo>
                <a:lnTo>
                  <a:pt x="2024063" y="0"/>
                </a:lnTo>
                <a:lnTo>
                  <a:pt x="2024063" y="2024063"/>
                </a:lnTo>
                <a:lnTo>
                  <a:pt x="0" y="20240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508601" y="3882684"/>
            <a:ext cx="2024062" cy="2024062"/>
          </a:xfrm>
          <a:custGeom>
            <a:avLst/>
            <a:gdLst/>
            <a:ahLst/>
            <a:cxnLst/>
            <a:rect r="r" b="b" t="t" l="l"/>
            <a:pathLst>
              <a:path h="2024062" w="2024062">
                <a:moveTo>
                  <a:pt x="0" y="0"/>
                </a:moveTo>
                <a:lnTo>
                  <a:pt x="2024062" y="0"/>
                </a:lnTo>
                <a:lnTo>
                  <a:pt x="2024062" y="2024063"/>
                </a:lnTo>
                <a:lnTo>
                  <a:pt x="0" y="20240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185007" y="3559091"/>
            <a:ext cx="2245831" cy="1122915"/>
          </a:xfrm>
          <a:custGeom>
            <a:avLst/>
            <a:gdLst/>
            <a:ahLst/>
            <a:cxnLst/>
            <a:rect r="r" b="b" t="t" l="l"/>
            <a:pathLst>
              <a:path h="1122915" w="2245831">
                <a:moveTo>
                  <a:pt x="0" y="0"/>
                </a:moveTo>
                <a:lnTo>
                  <a:pt x="2245831" y="0"/>
                </a:lnTo>
                <a:lnTo>
                  <a:pt x="2245831" y="1122915"/>
                </a:lnTo>
                <a:lnTo>
                  <a:pt x="0" y="11229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603046" y="3559091"/>
            <a:ext cx="2245831" cy="1122915"/>
          </a:xfrm>
          <a:custGeom>
            <a:avLst/>
            <a:gdLst/>
            <a:ahLst/>
            <a:cxnLst/>
            <a:rect r="r" b="b" t="t" l="l"/>
            <a:pathLst>
              <a:path h="1122915" w="2245831">
                <a:moveTo>
                  <a:pt x="0" y="0"/>
                </a:moveTo>
                <a:lnTo>
                  <a:pt x="2245831" y="0"/>
                </a:lnTo>
                <a:lnTo>
                  <a:pt x="2245831" y="1122915"/>
                </a:lnTo>
                <a:lnTo>
                  <a:pt x="0" y="11229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508601" y="3882684"/>
            <a:ext cx="1598644" cy="159864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>
            <a:off x="-366742" y="9472612"/>
            <a:ext cx="19026077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4926639" y="3882684"/>
            <a:ext cx="1598644" cy="159864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021085" y="3559091"/>
            <a:ext cx="2245831" cy="1122915"/>
          </a:xfrm>
          <a:custGeom>
            <a:avLst/>
            <a:gdLst/>
            <a:ahLst/>
            <a:cxnLst/>
            <a:rect r="r" b="b" t="t" l="l"/>
            <a:pathLst>
              <a:path h="1122915" w="2245831">
                <a:moveTo>
                  <a:pt x="0" y="0"/>
                </a:moveTo>
                <a:lnTo>
                  <a:pt x="2245830" y="0"/>
                </a:lnTo>
                <a:lnTo>
                  <a:pt x="2245830" y="1122915"/>
                </a:lnTo>
                <a:lnTo>
                  <a:pt x="0" y="11229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8344678" y="3882684"/>
            <a:ext cx="1598644" cy="1598644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1439123" y="3559091"/>
            <a:ext cx="2245831" cy="1122915"/>
          </a:xfrm>
          <a:custGeom>
            <a:avLst/>
            <a:gdLst/>
            <a:ahLst/>
            <a:cxnLst/>
            <a:rect r="r" b="b" t="t" l="l"/>
            <a:pathLst>
              <a:path h="1122915" w="2245831">
                <a:moveTo>
                  <a:pt x="0" y="0"/>
                </a:moveTo>
                <a:lnTo>
                  <a:pt x="2245831" y="0"/>
                </a:lnTo>
                <a:lnTo>
                  <a:pt x="2245831" y="1122915"/>
                </a:lnTo>
                <a:lnTo>
                  <a:pt x="0" y="11229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1762717" y="3882684"/>
            <a:ext cx="1598644" cy="1598644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4857162" y="3559091"/>
            <a:ext cx="2245831" cy="1122915"/>
          </a:xfrm>
          <a:custGeom>
            <a:avLst/>
            <a:gdLst/>
            <a:ahLst/>
            <a:cxnLst/>
            <a:rect r="r" b="b" t="t" l="l"/>
            <a:pathLst>
              <a:path h="1122915" w="2245831">
                <a:moveTo>
                  <a:pt x="0" y="0"/>
                </a:moveTo>
                <a:lnTo>
                  <a:pt x="2245831" y="0"/>
                </a:lnTo>
                <a:lnTo>
                  <a:pt x="2245831" y="1122915"/>
                </a:lnTo>
                <a:lnTo>
                  <a:pt x="0" y="112291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5180755" y="3882684"/>
            <a:ext cx="1598644" cy="1598644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877781" y="4205709"/>
            <a:ext cx="809705" cy="952594"/>
          </a:xfrm>
          <a:custGeom>
            <a:avLst/>
            <a:gdLst/>
            <a:ahLst/>
            <a:cxnLst/>
            <a:rect r="r" b="b" t="t" l="l"/>
            <a:pathLst>
              <a:path h="952594" w="809705">
                <a:moveTo>
                  <a:pt x="0" y="0"/>
                </a:moveTo>
                <a:lnTo>
                  <a:pt x="809705" y="0"/>
                </a:lnTo>
                <a:lnTo>
                  <a:pt x="809705" y="952594"/>
                </a:lnTo>
                <a:lnTo>
                  <a:pt x="0" y="95259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5320221" y="4247478"/>
            <a:ext cx="811481" cy="869056"/>
          </a:xfrm>
          <a:custGeom>
            <a:avLst/>
            <a:gdLst/>
            <a:ahLst/>
            <a:cxnLst/>
            <a:rect r="r" b="b" t="t" l="l"/>
            <a:pathLst>
              <a:path h="869056" w="811481">
                <a:moveTo>
                  <a:pt x="0" y="0"/>
                </a:moveTo>
                <a:lnTo>
                  <a:pt x="811481" y="0"/>
                </a:lnTo>
                <a:lnTo>
                  <a:pt x="811481" y="869056"/>
                </a:lnTo>
                <a:lnTo>
                  <a:pt x="0" y="86905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8693677" y="4205709"/>
            <a:ext cx="900646" cy="886010"/>
          </a:xfrm>
          <a:custGeom>
            <a:avLst/>
            <a:gdLst/>
            <a:ahLst/>
            <a:cxnLst/>
            <a:rect r="r" b="b" t="t" l="l"/>
            <a:pathLst>
              <a:path h="886010" w="900646">
                <a:moveTo>
                  <a:pt x="0" y="0"/>
                </a:moveTo>
                <a:lnTo>
                  <a:pt x="900646" y="0"/>
                </a:lnTo>
                <a:lnTo>
                  <a:pt x="900646" y="886010"/>
                </a:lnTo>
                <a:lnTo>
                  <a:pt x="0" y="88601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2182475" y="4263707"/>
            <a:ext cx="855572" cy="770015"/>
          </a:xfrm>
          <a:custGeom>
            <a:avLst/>
            <a:gdLst/>
            <a:ahLst/>
            <a:cxnLst/>
            <a:rect r="r" b="b" t="t" l="l"/>
            <a:pathLst>
              <a:path h="770015" w="855572">
                <a:moveTo>
                  <a:pt x="0" y="0"/>
                </a:moveTo>
                <a:lnTo>
                  <a:pt x="855572" y="0"/>
                </a:lnTo>
                <a:lnTo>
                  <a:pt x="855572" y="770015"/>
                </a:lnTo>
                <a:lnTo>
                  <a:pt x="0" y="77001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5544004" y="4244388"/>
            <a:ext cx="872146" cy="872146"/>
          </a:xfrm>
          <a:custGeom>
            <a:avLst/>
            <a:gdLst/>
            <a:ahLst/>
            <a:cxnLst/>
            <a:rect r="r" b="b" t="t" l="l"/>
            <a:pathLst>
              <a:path h="872146" w="872146">
                <a:moveTo>
                  <a:pt x="0" y="0"/>
                </a:moveTo>
                <a:lnTo>
                  <a:pt x="872146" y="0"/>
                </a:lnTo>
                <a:lnTo>
                  <a:pt x="872146" y="872146"/>
                </a:lnTo>
                <a:lnTo>
                  <a:pt x="0" y="87214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10068688">
            <a:off x="-949906" y="-129163"/>
            <a:ext cx="2747356" cy="1054298"/>
          </a:xfrm>
          <a:custGeom>
            <a:avLst/>
            <a:gdLst/>
            <a:ahLst/>
            <a:cxnLst/>
            <a:rect r="r" b="b" t="t" l="l"/>
            <a:pathLst>
              <a:path h="1054298" w="2747356">
                <a:moveTo>
                  <a:pt x="0" y="0"/>
                </a:moveTo>
                <a:lnTo>
                  <a:pt x="2747356" y="0"/>
                </a:lnTo>
                <a:lnTo>
                  <a:pt x="2747356" y="1054298"/>
                </a:lnTo>
                <a:lnTo>
                  <a:pt x="0" y="105429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7259300" y="8972550"/>
            <a:ext cx="2762542" cy="3090956"/>
          </a:xfrm>
          <a:custGeom>
            <a:avLst/>
            <a:gdLst/>
            <a:ahLst/>
            <a:cxnLst/>
            <a:rect r="r" b="b" t="t" l="l"/>
            <a:pathLst>
              <a:path h="3090956" w="2762542">
                <a:moveTo>
                  <a:pt x="0" y="0"/>
                </a:moveTo>
                <a:lnTo>
                  <a:pt x="2762542" y="0"/>
                </a:lnTo>
                <a:lnTo>
                  <a:pt x="2762542" y="3090956"/>
                </a:lnTo>
                <a:lnTo>
                  <a:pt x="0" y="3090956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495265" y="6088195"/>
            <a:ext cx="1714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Project Planning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913304" y="6088195"/>
            <a:ext cx="1714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Team Allocation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96366" y="7103560"/>
            <a:ext cx="209550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Define the goals, budget, and project schedule before starting.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714405" y="7103560"/>
            <a:ext cx="209550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Allocate resources and the team that will work on the project.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059981" y="942975"/>
            <a:ext cx="12168039" cy="87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b="true" sz="5200" spc="114">
                <a:solidFill>
                  <a:srgbClr val="212D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MANAGEMENT ROADMAP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035824" y="2035180"/>
            <a:ext cx="1021635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Fusce tempor, velit sit amet porta efficitur, ex ipsum porta dui, quis accumsan lorem ante nec lacus. 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331342" y="6088195"/>
            <a:ext cx="1714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Execution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132444" y="6685506"/>
            <a:ext cx="209550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Execute the project according to the plan and monitor progress.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749381" y="6088195"/>
            <a:ext cx="1714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Monitoring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550482" y="6685506"/>
            <a:ext cx="209550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Regularly track project progress to ensure goals are met.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979766" y="6088195"/>
            <a:ext cx="208980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Completion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968521" y="6685506"/>
            <a:ext cx="209550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Complete all deliverables and conduct project evaluation.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50102" y="3518990"/>
            <a:ext cx="4605506" cy="4628649"/>
          </a:xfrm>
          <a:custGeom>
            <a:avLst/>
            <a:gdLst/>
            <a:ahLst/>
            <a:cxnLst/>
            <a:rect r="r" b="b" t="t" l="l"/>
            <a:pathLst>
              <a:path h="4628649" w="4605506">
                <a:moveTo>
                  <a:pt x="0" y="0"/>
                </a:moveTo>
                <a:lnTo>
                  <a:pt x="4605506" y="0"/>
                </a:lnTo>
                <a:lnTo>
                  <a:pt x="4605506" y="4628649"/>
                </a:lnTo>
                <a:lnTo>
                  <a:pt x="0" y="46286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652851" y="3991957"/>
            <a:ext cx="1098686" cy="109868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139932" y="5872229"/>
            <a:ext cx="1098686" cy="109868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95428" y="6955349"/>
            <a:ext cx="1098686" cy="109868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61357" y="5684550"/>
            <a:ext cx="1098686" cy="109868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08768" y="3851784"/>
            <a:ext cx="1098686" cy="109868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910940" y="4053956"/>
            <a:ext cx="694341" cy="694341"/>
          </a:xfrm>
          <a:custGeom>
            <a:avLst/>
            <a:gdLst/>
            <a:ahLst/>
            <a:cxnLst/>
            <a:rect r="r" b="b" t="t" l="l"/>
            <a:pathLst>
              <a:path h="694341" w="694341">
                <a:moveTo>
                  <a:pt x="0" y="0"/>
                </a:moveTo>
                <a:lnTo>
                  <a:pt x="694341" y="0"/>
                </a:lnTo>
                <a:lnTo>
                  <a:pt x="694341" y="694341"/>
                </a:lnTo>
                <a:lnTo>
                  <a:pt x="0" y="694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856692" y="4177614"/>
            <a:ext cx="691004" cy="727373"/>
          </a:xfrm>
          <a:custGeom>
            <a:avLst/>
            <a:gdLst/>
            <a:ahLst/>
            <a:cxnLst/>
            <a:rect r="r" b="b" t="t" l="l"/>
            <a:pathLst>
              <a:path h="727373" w="691004">
                <a:moveTo>
                  <a:pt x="0" y="0"/>
                </a:moveTo>
                <a:lnTo>
                  <a:pt x="691004" y="0"/>
                </a:lnTo>
                <a:lnTo>
                  <a:pt x="691004" y="727372"/>
                </a:lnTo>
                <a:lnTo>
                  <a:pt x="0" y="7273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338249" y="6081183"/>
            <a:ext cx="702052" cy="702052"/>
          </a:xfrm>
          <a:custGeom>
            <a:avLst/>
            <a:gdLst/>
            <a:ahLst/>
            <a:cxnLst/>
            <a:rect r="r" b="b" t="t" l="l"/>
            <a:pathLst>
              <a:path h="702052" w="702052">
                <a:moveTo>
                  <a:pt x="0" y="0"/>
                </a:moveTo>
                <a:lnTo>
                  <a:pt x="702052" y="0"/>
                </a:lnTo>
                <a:lnTo>
                  <a:pt x="702052" y="702053"/>
                </a:lnTo>
                <a:lnTo>
                  <a:pt x="0" y="7020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807453" y="7195465"/>
            <a:ext cx="575491" cy="628952"/>
          </a:xfrm>
          <a:custGeom>
            <a:avLst/>
            <a:gdLst/>
            <a:ahLst/>
            <a:cxnLst/>
            <a:rect r="r" b="b" t="t" l="l"/>
            <a:pathLst>
              <a:path h="628952" w="575491">
                <a:moveTo>
                  <a:pt x="0" y="0"/>
                </a:moveTo>
                <a:lnTo>
                  <a:pt x="575491" y="0"/>
                </a:lnTo>
                <a:lnTo>
                  <a:pt x="575491" y="628951"/>
                </a:lnTo>
                <a:lnTo>
                  <a:pt x="0" y="6289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208036" y="5958998"/>
            <a:ext cx="605328" cy="514529"/>
          </a:xfrm>
          <a:custGeom>
            <a:avLst/>
            <a:gdLst/>
            <a:ahLst/>
            <a:cxnLst/>
            <a:rect r="r" b="b" t="t" l="l"/>
            <a:pathLst>
              <a:path h="514529" w="605328">
                <a:moveTo>
                  <a:pt x="0" y="0"/>
                </a:moveTo>
                <a:lnTo>
                  <a:pt x="605328" y="0"/>
                </a:lnTo>
                <a:lnTo>
                  <a:pt x="605328" y="514529"/>
                </a:lnTo>
                <a:lnTo>
                  <a:pt x="0" y="5145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2562789">
            <a:off x="17233254" y="-776390"/>
            <a:ext cx="2109491" cy="2169142"/>
          </a:xfrm>
          <a:custGeom>
            <a:avLst/>
            <a:gdLst/>
            <a:ahLst/>
            <a:cxnLst/>
            <a:rect r="r" b="b" t="t" l="l"/>
            <a:pathLst>
              <a:path h="2169142" w="2109491">
                <a:moveTo>
                  <a:pt x="0" y="0"/>
                </a:moveTo>
                <a:lnTo>
                  <a:pt x="2109492" y="0"/>
                </a:lnTo>
                <a:lnTo>
                  <a:pt x="2109492" y="2169143"/>
                </a:lnTo>
                <a:lnTo>
                  <a:pt x="0" y="216914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1268939" y="8738189"/>
            <a:ext cx="2537879" cy="2815954"/>
          </a:xfrm>
          <a:custGeom>
            <a:avLst/>
            <a:gdLst/>
            <a:ahLst/>
            <a:cxnLst/>
            <a:rect r="r" b="b" t="t" l="l"/>
            <a:pathLst>
              <a:path h="2815954" w="2537879">
                <a:moveTo>
                  <a:pt x="0" y="0"/>
                </a:moveTo>
                <a:lnTo>
                  <a:pt x="2537878" y="0"/>
                </a:lnTo>
                <a:lnTo>
                  <a:pt x="2537878" y="2815955"/>
                </a:lnTo>
                <a:lnTo>
                  <a:pt x="0" y="28159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214539" y="942975"/>
            <a:ext cx="11858923" cy="87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b="true" sz="5200" spc="114">
                <a:solidFill>
                  <a:srgbClr val="212D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MARKETING STRATEGY ROADMAP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35824" y="2038805"/>
            <a:ext cx="1021635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Fusce tempor, velit sit amet porta efficitur, ex ipsum porta dui, quis accumsan lorem ante nec lacus.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06817" y="3626323"/>
            <a:ext cx="329131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Audience Targeting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06241" y="3626323"/>
            <a:ext cx="329131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Market Research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85432" y="8690564"/>
            <a:ext cx="39383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Campaign Execution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06817" y="6425902"/>
            <a:ext cx="3291311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Campaign Development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88394" y="6425902"/>
            <a:ext cx="330041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Performance Analysis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89108" y="4223633"/>
            <a:ext cx="330027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Identify key audience segments for a more effective marketing campaign.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88531" y="4223633"/>
            <a:ext cx="330027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Collect data to understand the target market and consumer preferences.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64241" y="9287875"/>
            <a:ext cx="3949054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Launch the campaign through the most relevant marketing channels.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789108" y="7441267"/>
            <a:ext cx="330027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Design a marketing strategy based on research insights.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188394" y="7023213"/>
            <a:ext cx="3300412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Evaluate the campaign to measure success and make adjustments.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6540638" y="3750381"/>
            <a:ext cx="2822226" cy="2810415"/>
          </a:xfrm>
          <a:custGeom>
            <a:avLst/>
            <a:gdLst/>
            <a:ahLst/>
            <a:cxnLst/>
            <a:rect r="r" b="b" t="t" l="l"/>
            <a:pathLst>
              <a:path h="2810415" w="2822226">
                <a:moveTo>
                  <a:pt x="0" y="0"/>
                </a:moveTo>
                <a:lnTo>
                  <a:pt x="2822226" y="0"/>
                </a:lnTo>
                <a:lnTo>
                  <a:pt x="2822226" y="2810415"/>
                </a:lnTo>
                <a:lnTo>
                  <a:pt x="0" y="2810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4322" r="-101048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6114721" y="6572607"/>
            <a:ext cx="2822226" cy="2810415"/>
          </a:xfrm>
          <a:custGeom>
            <a:avLst/>
            <a:gdLst/>
            <a:ahLst/>
            <a:cxnLst/>
            <a:rect r="r" b="b" t="t" l="l"/>
            <a:pathLst>
              <a:path h="2810415" w="2822226">
                <a:moveTo>
                  <a:pt x="2822226" y="0"/>
                </a:moveTo>
                <a:lnTo>
                  <a:pt x="0" y="0"/>
                </a:lnTo>
                <a:lnTo>
                  <a:pt x="0" y="2810415"/>
                </a:lnTo>
                <a:lnTo>
                  <a:pt x="2822226" y="2810415"/>
                </a:lnTo>
                <a:lnTo>
                  <a:pt x="282222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94322" r="-10104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9351053" y="4251460"/>
            <a:ext cx="2822226" cy="2810415"/>
          </a:xfrm>
          <a:custGeom>
            <a:avLst/>
            <a:gdLst/>
            <a:ahLst/>
            <a:cxnLst/>
            <a:rect r="r" b="b" t="t" l="l"/>
            <a:pathLst>
              <a:path h="2810415" w="2822226">
                <a:moveTo>
                  <a:pt x="0" y="2810414"/>
                </a:moveTo>
                <a:lnTo>
                  <a:pt x="2822226" y="2810414"/>
                </a:lnTo>
                <a:lnTo>
                  <a:pt x="2822226" y="0"/>
                </a:lnTo>
                <a:lnTo>
                  <a:pt x="0" y="0"/>
                </a:lnTo>
                <a:lnTo>
                  <a:pt x="0" y="281041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94322" r="-101048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8925136" y="7073686"/>
            <a:ext cx="2822226" cy="2810415"/>
          </a:xfrm>
          <a:custGeom>
            <a:avLst/>
            <a:gdLst/>
            <a:ahLst/>
            <a:cxnLst/>
            <a:rect r="r" b="b" t="t" l="l"/>
            <a:pathLst>
              <a:path h="2810415" w="2822226">
                <a:moveTo>
                  <a:pt x="2822226" y="2810415"/>
                </a:moveTo>
                <a:lnTo>
                  <a:pt x="0" y="2810415"/>
                </a:lnTo>
                <a:lnTo>
                  <a:pt x="0" y="0"/>
                </a:lnTo>
                <a:lnTo>
                  <a:pt x="2822226" y="0"/>
                </a:lnTo>
                <a:lnTo>
                  <a:pt x="2822226" y="2810415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94322" r="-10104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20185" y="5656667"/>
            <a:ext cx="2768281" cy="2768281"/>
          </a:xfrm>
          <a:custGeom>
            <a:avLst/>
            <a:gdLst/>
            <a:ahLst/>
            <a:cxnLst/>
            <a:rect r="r" b="b" t="t" l="l"/>
            <a:pathLst>
              <a:path h="2768281" w="2768281">
                <a:moveTo>
                  <a:pt x="0" y="0"/>
                </a:moveTo>
                <a:lnTo>
                  <a:pt x="2768281" y="0"/>
                </a:lnTo>
                <a:lnTo>
                  <a:pt x="2768281" y="2768281"/>
                </a:lnTo>
                <a:lnTo>
                  <a:pt x="0" y="27682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3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167160" y="5814585"/>
            <a:ext cx="1953679" cy="195367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716231" y="4495935"/>
            <a:ext cx="352546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2" id="12"/>
          <p:cNvSpPr/>
          <p:nvPr/>
        </p:nvSpPr>
        <p:spPr>
          <a:xfrm>
            <a:off x="1716231" y="8097010"/>
            <a:ext cx="352546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>
            <a:off x="13038213" y="4495935"/>
            <a:ext cx="352546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3038213" y="8097010"/>
            <a:ext cx="352546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6984932" y="5564063"/>
            <a:ext cx="735254" cy="735254"/>
          </a:xfrm>
          <a:custGeom>
            <a:avLst/>
            <a:gdLst/>
            <a:ahLst/>
            <a:cxnLst/>
            <a:rect r="r" b="b" t="t" l="l"/>
            <a:pathLst>
              <a:path h="735254" w="735254">
                <a:moveTo>
                  <a:pt x="0" y="0"/>
                </a:moveTo>
                <a:lnTo>
                  <a:pt x="735253" y="0"/>
                </a:lnTo>
                <a:lnTo>
                  <a:pt x="735253" y="735253"/>
                </a:lnTo>
                <a:lnTo>
                  <a:pt x="0" y="7352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813155" y="4747114"/>
            <a:ext cx="612711" cy="816949"/>
          </a:xfrm>
          <a:custGeom>
            <a:avLst/>
            <a:gdLst/>
            <a:ahLst/>
            <a:cxnLst/>
            <a:rect r="r" b="b" t="t" l="l"/>
            <a:pathLst>
              <a:path h="816949" w="612711">
                <a:moveTo>
                  <a:pt x="0" y="0"/>
                </a:moveTo>
                <a:lnTo>
                  <a:pt x="612712" y="0"/>
                </a:lnTo>
                <a:lnTo>
                  <a:pt x="612712" y="816949"/>
                </a:lnTo>
                <a:lnTo>
                  <a:pt x="0" y="81694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518997" y="7448569"/>
            <a:ext cx="704723" cy="704723"/>
          </a:xfrm>
          <a:custGeom>
            <a:avLst/>
            <a:gdLst/>
            <a:ahLst/>
            <a:cxnLst/>
            <a:rect r="r" b="b" t="t" l="l"/>
            <a:pathLst>
              <a:path h="704723" w="704723">
                <a:moveTo>
                  <a:pt x="0" y="0"/>
                </a:moveTo>
                <a:lnTo>
                  <a:pt x="704723" y="0"/>
                </a:lnTo>
                <a:lnTo>
                  <a:pt x="704723" y="704724"/>
                </a:lnTo>
                <a:lnTo>
                  <a:pt x="0" y="70472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727346" y="8000979"/>
            <a:ext cx="879629" cy="879629"/>
          </a:xfrm>
          <a:custGeom>
            <a:avLst/>
            <a:gdLst/>
            <a:ahLst/>
            <a:cxnLst/>
            <a:rect r="r" b="b" t="t" l="l"/>
            <a:pathLst>
              <a:path h="879629" w="879629">
                <a:moveTo>
                  <a:pt x="0" y="0"/>
                </a:moveTo>
                <a:lnTo>
                  <a:pt x="879629" y="0"/>
                </a:lnTo>
                <a:lnTo>
                  <a:pt x="879629" y="879629"/>
                </a:lnTo>
                <a:lnTo>
                  <a:pt x="0" y="87962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563682" y="-963294"/>
            <a:ext cx="2543719" cy="2387916"/>
          </a:xfrm>
          <a:custGeom>
            <a:avLst/>
            <a:gdLst/>
            <a:ahLst/>
            <a:cxnLst/>
            <a:rect r="r" b="b" t="t" l="l"/>
            <a:pathLst>
              <a:path h="2387916" w="2543719">
                <a:moveTo>
                  <a:pt x="0" y="0"/>
                </a:moveTo>
                <a:lnTo>
                  <a:pt x="2543718" y="0"/>
                </a:lnTo>
                <a:lnTo>
                  <a:pt x="2543718" y="2387916"/>
                </a:lnTo>
                <a:lnTo>
                  <a:pt x="0" y="238791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9281885">
            <a:off x="-870728" y="8880608"/>
            <a:ext cx="1309360" cy="2099175"/>
          </a:xfrm>
          <a:custGeom>
            <a:avLst/>
            <a:gdLst/>
            <a:ahLst/>
            <a:cxnLst/>
            <a:rect r="r" b="b" t="t" l="l"/>
            <a:pathLst>
              <a:path h="2099175" w="1309360">
                <a:moveTo>
                  <a:pt x="0" y="0"/>
                </a:moveTo>
                <a:lnTo>
                  <a:pt x="1309360" y="0"/>
                </a:lnTo>
                <a:lnTo>
                  <a:pt x="1309360" y="2099174"/>
                </a:lnTo>
                <a:lnTo>
                  <a:pt x="0" y="209917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909901" y="942975"/>
            <a:ext cx="10468198" cy="87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b="true" sz="5200" spc="114">
                <a:solidFill>
                  <a:srgbClr val="212D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STARTUP GROWTH ROADMAP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035824" y="2038805"/>
            <a:ext cx="1021635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Fusce tempor, velit sit amet porta efficitur, ex ipsum porta dui, quis accumsan lorem ante nec lacus.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81116" y="3937248"/>
            <a:ext cx="329131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Funding Search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23720" y="6160936"/>
            <a:ext cx="6437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9031605"/>
            <a:ext cx="6437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41150" y="6841085"/>
            <a:ext cx="6437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00219" y="4116318"/>
            <a:ext cx="6437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33941" y="3937248"/>
            <a:ext cx="329131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Idea Validation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81116" y="7534083"/>
            <a:ext cx="329131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Launch &amp; Scaling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33941" y="7534083"/>
            <a:ext cx="329131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Product Development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63406" y="4614998"/>
            <a:ext cx="330027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Secure funding sources to support early development.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16231" y="4614998"/>
            <a:ext cx="330027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Test product or service concepts to ensure market demand.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263406" y="8216073"/>
            <a:ext cx="330027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Launch products on a large scale and plan for growth.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16231" y="8216073"/>
            <a:ext cx="330027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Build products that meet validated market needs.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70086" y="6270474"/>
            <a:ext cx="8347827" cy="5123626"/>
          </a:xfrm>
          <a:custGeom>
            <a:avLst/>
            <a:gdLst/>
            <a:ahLst/>
            <a:cxnLst/>
            <a:rect r="r" b="b" t="t" l="l"/>
            <a:pathLst>
              <a:path h="5123626" w="8347827">
                <a:moveTo>
                  <a:pt x="0" y="0"/>
                </a:moveTo>
                <a:lnTo>
                  <a:pt x="8347828" y="0"/>
                </a:lnTo>
                <a:lnTo>
                  <a:pt x="8347828" y="5123625"/>
                </a:lnTo>
                <a:lnTo>
                  <a:pt x="0" y="5123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6292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7060557" y="8229600"/>
            <a:ext cx="4166886" cy="4114800"/>
          </a:xfrm>
          <a:custGeom>
            <a:avLst/>
            <a:gdLst/>
            <a:ahLst/>
            <a:cxnLst/>
            <a:rect r="r" b="b" t="t" l="l"/>
            <a:pathLst>
              <a:path h="4114800" w="4166886">
                <a:moveTo>
                  <a:pt x="0" y="4114800"/>
                </a:moveTo>
                <a:lnTo>
                  <a:pt x="4166886" y="4114800"/>
                </a:lnTo>
                <a:lnTo>
                  <a:pt x="416688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08764" y="6460974"/>
            <a:ext cx="938075" cy="970841"/>
          </a:xfrm>
          <a:custGeom>
            <a:avLst/>
            <a:gdLst/>
            <a:ahLst/>
            <a:cxnLst/>
            <a:rect r="r" b="b" t="t" l="l"/>
            <a:pathLst>
              <a:path h="970841" w="938075">
                <a:moveTo>
                  <a:pt x="0" y="0"/>
                </a:moveTo>
                <a:lnTo>
                  <a:pt x="938075" y="0"/>
                </a:lnTo>
                <a:lnTo>
                  <a:pt x="938075" y="970841"/>
                </a:lnTo>
                <a:lnTo>
                  <a:pt x="0" y="97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6410" y="6460974"/>
            <a:ext cx="930426" cy="930426"/>
          </a:xfrm>
          <a:custGeom>
            <a:avLst/>
            <a:gdLst/>
            <a:ahLst/>
            <a:cxnLst/>
            <a:rect r="r" b="b" t="t" l="l"/>
            <a:pathLst>
              <a:path h="930426" w="930426">
                <a:moveTo>
                  <a:pt x="0" y="0"/>
                </a:moveTo>
                <a:lnTo>
                  <a:pt x="930426" y="0"/>
                </a:lnTo>
                <a:lnTo>
                  <a:pt x="930426" y="930426"/>
                </a:lnTo>
                <a:lnTo>
                  <a:pt x="0" y="9304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51373" y="3718769"/>
            <a:ext cx="872335" cy="858160"/>
          </a:xfrm>
          <a:custGeom>
            <a:avLst/>
            <a:gdLst/>
            <a:ahLst/>
            <a:cxnLst/>
            <a:rect r="r" b="b" t="t" l="l"/>
            <a:pathLst>
              <a:path h="858160" w="872335">
                <a:moveTo>
                  <a:pt x="0" y="0"/>
                </a:moveTo>
                <a:lnTo>
                  <a:pt x="872335" y="0"/>
                </a:lnTo>
                <a:lnTo>
                  <a:pt x="872335" y="858160"/>
                </a:lnTo>
                <a:lnTo>
                  <a:pt x="0" y="8581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15594" y="3758338"/>
            <a:ext cx="1178020" cy="942416"/>
          </a:xfrm>
          <a:custGeom>
            <a:avLst/>
            <a:gdLst/>
            <a:ahLst/>
            <a:cxnLst/>
            <a:rect r="r" b="b" t="t" l="l"/>
            <a:pathLst>
              <a:path h="942416" w="1178020">
                <a:moveTo>
                  <a:pt x="0" y="0"/>
                </a:moveTo>
                <a:lnTo>
                  <a:pt x="1178020" y="0"/>
                </a:lnTo>
                <a:lnTo>
                  <a:pt x="1178020" y="942416"/>
                </a:lnTo>
                <a:lnTo>
                  <a:pt x="0" y="94241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65213" y="-330904"/>
            <a:ext cx="1511623" cy="1969541"/>
          </a:xfrm>
          <a:custGeom>
            <a:avLst/>
            <a:gdLst/>
            <a:ahLst/>
            <a:cxnLst/>
            <a:rect r="r" b="b" t="t" l="l"/>
            <a:pathLst>
              <a:path h="1969541" w="1511623">
                <a:moveTo>
                  <a:pt x="0" y="0"/>
                </a:moveTo>
                <a:lnTo>
                  <a:pt x="1511623" y="0"/>
                </a:lnTo>
                <a:lnTo>
                  <a:pt x="1511623" y="1969541"/>
                </a:lnTo>
                <a:lnTo>
                  <a:pt x="0" y="196954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490286" y="3078971"/>
            <a:ext cx="1595428" cy="1621782"/>
          </a:xfrm>
          <a:custGeom>
            <a:avLst/>
            <a:gdLst/>
            <a:ahLst/>
            <a:cxnLst/>
            <a:rect r="r" b="b" t="t" l="l"/>
            <a:pathLst>
              <a:path h="1621782" w="1595428">
                <a:moveTo>
                  <a:pt x="0" y="0"/>
                </a:moveTo>
                <a:lnTo>
                  <a:pt x="1595428" y="0"/>
                </a:lnTo>
                <a:lnTo>
                  <a:pt x="1595428" y="1621783"/>
                </a:lnTo>
                <a:lnTo>
                  <a:pt x="0" y="162178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46410" y="7599631"/>
            <a:ext cx="329131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Planning &amp; Approval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26616" y="9210675"/>
            <a:ext cx="41152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46643" y="9210675"/>
            <a:ext cx="41152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96851" y="7148195"/>
            <a:ext cx="41152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15915" y="7148195"/>
            <a:ext cx="41152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64273" y="7599631"/>
            <a:ext cx="329131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Go-Live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14286" y="4843629"/>
            <a:ext cx="329131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System Development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02303" y="4843629"/>
            <a:ext cx="329131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Testing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8157796"/>
            <a:ext cx="330027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Determine system needs and get budget approval.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46564" y="8157796"/>
            <a:ext cx="330027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Fully implement the system in daily operations.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96576" y="5401794"/>
            <a:ext cx="330027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Build the system based on the specified technical requirements.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84593" y="5401794"/>
            <a:ext cx="330027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Conduct system tests to ensure everything functions correctly.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22340" y="942975"/>
            <a:ext cx="10843320" cy="87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b="true" sz="5200" spc="114">
                <a:solidFill>
                  <a:srgbClr val="212D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 IMPLEMENTATION ROADMAP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970086" y="2038805"/>
            <a:ext cx="8347827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Fusce tempor, velit sit amet porta efficitur, ex ipsum porta dui, quis accumsan lorem ante nec lacus.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26927" y="4923533"/>
            <a:ext cx="3037693" cy="3842527"/>
            <a:chOff x="0" y="0"/>
            <a:chExt cx="812800" cy="10281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028151"/>
            </a:xfrm>
            <a:custGeom>
              <a:avLst/>
              <a:gdLst/>
              <a:ahLst/>
              <a:cxnLst/>
              <a:rect r="r" b="b" t="t" l="l"/>
              <a:pathLst>
                <a:path h="10281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28151"/>
                  </a:lnTo>
                  <a:lnTo>
                    <a:pt x="0" y="1028151"/>
                  </a:lnTo>
                  <a:close/>
                </a:path>
              </a:pathLst>
            </a:custGeom>
            <a:solidFill>
              <a:srgbClr val="9AC4A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1075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4786336" y="7247214"/>
            <a:ext cx="2118874" cy="3037693"/>
            <a:chOff x="0" y="0"/>
            <a:chExt cx="56695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6950" cy="812800"/>
            </a:xfrm>
            <a:custGeom>
              <a:avLst/>
              <a:gdLst/>
              <a:ahLst/>
              <a:cxnLst/>
              <a:rect r="r" b="b" t="t" l="l"/>
              <a:pathLst>
                <a:path h="812800" w="566950">
                  <a:moveTo>
                    <a:pt x="283475" y="0"/>
                  </a:moveTo>
                  <a:lnTo>
                    <a:pt x="566950" y="812800"/>
                  </a:lnTo>
                  <a:lnTo>
                    <a:pt x="0" y="812800"/>
                  </a:lnTo>
                  <a:lnTo>
                    <a:pt x="283475" y="0"/>
                  </a:lnTo>
                  <a:close/>
                </a:path>
              </a:pathLst>
            </a:custGeom>
            <a:solidFill>
              <a:srgbClr val="9AC4A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88586" y="329746"/>
              <a:ext cx="389778" cy="424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25153" y="4923533"/>
            <a:ext cx="3037693" cy="3842527"/>
            <a:chOff x="0" y="0"/>
            <a:chExt cx="812800" cy="10281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28151"/>
            </a:xfrm>
            <a:custGeom>
              <a:avLst/>
              <a:gdLst/>
              <a:ahLst/>
              <a:cxnLst/>
              <a:rect r="r" b="b" t="t" l="l"/>
              <a:pathLst>
                <a:path h="10281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28151"/>
                  </a:lnTo>
                  <a:lnTo>
                    <a:pt x="0" y="1028151"/>
                  </a:lnTo>
                  <a:close/>
                </a:path>
              </a:pathLst>
            </a:custGeom>
            <a:solidFill>
              <a:srgbClr val="5F888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1075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8084563" y="7247214"/>
            <a:ext cx="2118874" cy="3037693"/>
            <a:chOff x="0" y="0"/>
            <a:chExt cx="56695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6950" cy="812800"/>
            </a:xfrm>
            <a:custGeom>
              <a:avLst/>
              <a:gdLst/>
              <a:ahLst/>
              <a:cxnLst/>
              <a:rect r="r" b="b" t="t" l="l"/>
              <a:pathLst>
                <a:path h="812800" w="566950">
                  <a:moveTo>
                    <a:pt x="283475" y="0"/>
                  </a:moveTo>
                  <a:lnTo>
                    <a:pt x="566950" y="812800"/>
                  </a:lnTo>
                  <a:lnTo>
                    <a:pt x="0" y="812800"/>
                  </a:lnTo>
                  <a:lnTo>
                    <a:pt x="283475" y="0"/>
                  </a:lnTo>
                  <a:close/>
                </a:path>
              </a:pathLst>
            </a:custGeom>
            <a:solidFill>
              <a:srgbClr val="5F888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88586" y="329746"/>
              <a:ext cx="389778" cy="424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23380" y="4923533"/>
            <a:ext cx="3037693" cy="3842527"/>
            <a:chOff x="0" y="0"/>
            <a:chExt cx="812800" cy="10281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1028151"/>
            </a:xfrm>
            <a:custGeom>
              <a:avLst/>
              <a:gdLst/>
              <a:ahLst/>
              <a:cxnLst/>
              <a:rect r="r" b="b" t="t" l="l"/>
              <a:pathLst>
                <a:path h="10281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28151"/>
                  </a:lnTo>
                  <a:lnTo>
                    <a:pt x="0" y="1028151"/>
                  </a:lnTo>
                  <a:close/>
                </a:path>
              </a:pathLst>
            </a:custGeom>
            <a:solidFill>
              <a:srgbClr val="4E7C7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1075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1382789" y="7247214"/>
            <a:ext cx="2118874" cy="3037693"/>
            <a:chOff x="0" y="0"/>
            <a:chExt cx="56695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6950" cy="812800"/>
            </a:xfrm>
            <a:custGeom>
              <a:avLst/>
              <a:gdLst/>
              <a:ahLst/>
              <a:cxnLst/>
              <a:rect r="r" b="b" t="t" l="l"/>
              <a:pathLst>
                <a:path h="812800" w="566950">
                  <a:moveTo>
                    <a:pt x="283475" y="0"/>
                  </a:moveTo>
                  <a:lnTo>
                    <a:pt x="566950" y="812800"/>
                  </a:lnTo>
                  <a:lnTo>
                    <a:pt x="0" y="812800"/>
                  </a:lnTo>
                  <a:lnTo>
                    <a:pt x="283475" y="0"/>
                  </a:lnTo>
                  <a:close/>
                </a:path>
              </a:pathLst>
            </a:custGeom>
            <a:solidFill>
              <a:srgbClr val="4E7C7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88586" y="329746"/>
              <a:ext cx="389778" cy="424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221607" y="4923533"/>
            <a:ext cx="3037693" cy="3842527"/>
            <a:chOff x="0" y="0"/>
            <a:chExt cx="812800" cy="10281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1028151"/>
            </a:xfrm>
            <a:custGeom>
              <a:avLst/>
              <a:gdLst/>
              <a:ahLst/>
              <a:cxnLst/>
              <a:rect r="r" b="b" t="t" l="l"/>
              <a:pathLst>
                <a:path h="10281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28151"/>
                  </a:lnTo>
                  <a:lnTo>
                    <a:pt x="0" y="1028151"/>
                  </a:lnTo>
                  <a:close/>
                </a:path>
              </a:pathLst>
            </a:custGeom>
            <a:solidFill>
              <a:srgbClr val="3B5D5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12800" cy="1075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5400000">
            <a:off x="14681016" y="7247214"/>
            <a:ext cx="2118874" cy="3037693"/>
            <a:chOff x="0" y="0"/>
            <a:chExt cx="56695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6950" cy="812800"/>
            </a:xfrm>
            <a:custGeom>
              <a:avLst/>
              <a:gdLst/>
              <a:ahLst/>
              <a:cxnLst/>
              <a:rect r="r" b="b" t="t" l="l"/>
              <a:pathLst>
                <a:path h="812800" w="566950">
                  <a:moveTo>
                    <a:pt x="283475" y="0"/>
                  </a:moveTo>
                  <a:lnTo>
                    <a:pt x="566950" y="812800"/>
                  </a:lnTo>
                  <a:lnTo>
                    <a:pt x="0" y="812800"/>
                  </a:lnTo>
                  <a:lnTo>
                    <a:pt x="283475" y="0"/>
                  </a:lnTo>
                  <a:close/>
                </a:path>
              </a:pathLst>
            </a:custGeom>
            <a:solidFill>
              <a:srgbClr val="3B5D5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88586" y="329746"/>
              <a:ext cx="389778" cy="424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4923533"/>
            <a:ext cx="3037693" cy="3842527"/>
            <a:chOff x="0" y="0"/>
            <a:chExt cx="812800" cy="10281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1028151"/>
            </a:xfrm>
            <a:custGeom>
              <a:avLst/>
              <a:gdLst/>
              <a:ahLst/>
              <a:cxnLst/>
              <a:rect r="r" b="b" t="t" l="l"/>
              <a:pathLst>
                <a:path h="10281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28151"/>
                  </a:lnTo>
                  <a:lnTo>
                    <a:pt x="0" y="1028151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12800" cy="1075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5400000">
            <a:off x="1427367" y="3784850"/>
            <a:ext cx="2240359" cy="2277367"/>
          </a:xfrm>
          <a:custGeom>
            <a:avLst/>
            <a:gdLst/>
            <a:ahLst/>
            <a:cxnLst/>
            <a:rect r="r" b="b" t="t" l="l"/>
            <a:pathLst>
              <a:path h="2277367" w="2240359">
                <a:moveTo>
                  <a:pt x="0" y="0"/>
                </a:moveTo>
                <a:lnTo>
                  <a:pt x="2240359" y="0"/>
                </a:lnTo>
                <a:lnTo>
                  <a:pt x="2240359" y="2277367"/>
                </a:lnTo>
                <a:lnTo>
                  <a:pt x="0" y="2277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5400000">
            <a:off x="4725594" y="3784850"/>
            <a:ext cx="2240359" cy="2277367"/>
          </a:xfrm>
          <a:custGeom>
            <a:avLst/>
            <a:gdLst/>
            <a:ahLst/>
            <a:cxnLst/>
            <a:rect r="r" b="b" t="t" l="l"/>
            <a:pathLst>
              <a:path h="2277367" w="2240359">
                <a:moveTo>
                  <a:pt x="0" y="0"/>
                </a:moveTo>
                <a:lnTo>
                  <a:pt x="2240359" y="0"/>
                </a:lnTo>
                <a:lnTo>
                  <a:pt x="2240359" y="2277367"/>
                </a:lnTo>
                <a:lnTo>
                  <a:pt x="0" y="2277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-5400000">
            <a:off x="1488109" y="7247214"/>
            <a:ext cx="2118874" cy="3037693"/>
            <a:chOff x="0" y="0"/>
            <a:chExt cx="56695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6950" cy="812800"/>
            </a:xfrm>
            <a:custGeom>
              <a:avLst/>
              <a:gdLst/>
              <a:ahLst/>
              <a:cxnLst/>
              <a:rect r="r" b="b" t="t" l="l"/>
              <a:pathLst>
                <a:path h="812800" w="566950">
                  <a:moveTo>
                    <a:pt x="283475" y="0"/>
                  </a:moveTo>
                  <a:lnTo>
                    <a:pt x="566950" y="812800"/>
                  </a:lnTo>
                  <a:lnTo>
                    <a:pt x="0" y="812800"/>
                  </a:lnTo>
                  <a:lnTo>
                    <a:pt x="283475" y="0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88586" y="329746"/>
              <a:ext cx="389778" cy="424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5400000">
            <a:off x="8023820" y="3784850"/>
            <a:ext cx="2240359" cy="2277367"/>
          </a:xfrm>
          <a:custGeom>
            <a:avLst/>
            <a:gdLst/>
            <a:ahLst/>
            <a:cxnLst/>
            <a:rect r="r" b="b" t="t" l="l"/>
            <a:pathLst>
              <a:path h="2277367" w="2240359">
                <a:moveTo>
                  <a:pt x="0" y="0"/>
                </a:moveTo>
                <a:lnTo>
                  <a:pt x="2240360" y="0"/>
                </a:lnTo>
                <a:lnTo>
                  <a:pt x="2240360" y="2277367"/>
                </a:lnTo>
                <a:lnTo>
                  <a:pt x="0" y="2277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5400000">
            <a:off x="11322047" y="3784850"/>
            <a:ext cx="2240359" cy="2277367"/>
          </a:xfrm>
          <a:custGeom>
            <a:avLst/>
            <a:gdLst/>
            <a:ahLst/>
            <a:cxnLst/>
            <a:rect r="r" b="b" t="t" l="l"/>
            <a:pathLst>
              <a:path h="2277367" w="2240359">
                <a:moveTo>
                  <a:pt x="0" y="0"/>
                </a:moveTo>
                <a:lnTo>
                  <a:pt x="2240359" y="0"/>
                </a:lnTo>
                <a:lnTo>
                  <a:pt x="2240359" y="2277367"/>
                </a:lnTo>
                <a:lnTo>
                  <a:pt x="0" y="2277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5400000">
            <a:off x="14620274" y="3784850"/>
            <a:ext cx="2240359" cy="2277367"/>
          </a:xfrm>
          <a:custGeom>
            <a:avLst/>
            <a:gdLst/>
            <a:ahLst/>
            <a:cxnLst/>
            <a:rect r="r" b="b" t="t" l="l"/>
            <a:pathLst>
              <a:path h="2277367" w="2240359">
                <a:moveTo>
                  <a:pt x="0" y="0"/>
                </a:moveTo>
                <a:lnTo>
                  <a:pt x="2240359" y="0"/>
                </a:lnTo>
                <a:lnTo>
                  <a:pt x="2240359" y="2277367"/>
                </a:lnTo>
                <a:lnTo>
                  <a:pt x="0" y="2277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2127010" y="4480863"/>
            <a:ext cx="841074" cy="885341"/>
          </a:xfrm>
          <a:custGeom>
            <a:avLst/>
            <a:gdLst/>
            <a:ahLst/>
            <a:cxnLst/>
            <a:rect r="r" b="b" t="t" l="l"/>
            <a:pathLst>
              <a:path h="885341" w="841074">
                <a:moveTo>
                  <a:pt x="0" y="0"/>
                </a:moveTo>
                <a:lnTo>
                  <a:pt x="841074" y="0"/>
                </a:lnTo>
                <a:lnTo>
                  <a:pt x="841074" y="885341"/>
                </a:lnTo>
                <a:lnTo>
                  <a:pt x="0" y="885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5374196" y="4480863"/>
            <a:ext cx="943155" cy="943155"/>
          </a:xfrm>
          <a:custGeom>
            <a:avLst/>
            <a:gdLst/>
            <a:ahLst/>
            <a:cxnLst/>
            <a:rect r="r" b="b" t="t" l="l"/>
            <a:pathLst>
              <a:path h="943155" w="943155">
                <a:moveTo>
                  <a:pt x="0" y="0"/>
                </a:moveTo>
                <a:lnTo>
                  <a:pt x="943155" y="0"/>
                </a:lnTo>
                <a:lnTo>
                  <a:pt x="943155" y="943155"/>
                </a:lnTo>
                <a:lnTo>
                  <a:pt x="0" y="9431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8680885" y="4504956"/>
            <a:ext cx="926230" cy="894970"/>
          </a:xfrm>
          <a:custGeom>
            <a:avLst/>
            <a:gdLst/>
            <a:ahLst/>
            <a:cxnLst/>
            <a:rect r="r" b="b" t="t" l="l"/>
            <a:pathLst>
              <a:path h="894970" w="926230">
                <a:moveTo>
                  <a:pt x="0" y="0"/>
                </a:moveTo>
                <a:lnTo>
                  <a:pt x="926230" y="0"/>
                </a:lnTo>
                <a:lnTo>
                  <a:pt x="926230" y="894970"/>
                </a:lnTo>
                <a:lnTo>
                  <a:pt x="0" y="8949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030547" y="4542845"/>
            <a:ext cx="823359" cy="823359"/>
          </a:xfrm>
          <a:custGeom>
            <a:avLst/>
            <a:gdLst/>
            <a:ahLst/>
            <a:cxnLst/>
            <a:rect r="r" b="b" t="t" l="l"/>
            <a:pathLst>
              <a:path h="823359" w="823359">
                <a:moveTo>
                  <a:pt x="0" y="0"/>
                </a:moveTo>
                <a:lnTo>
                  <a:pt x="823359" y="0"/>
                </a:lnTo>
                <a:lnTo>
                  <a:pt x="823359" y="823359"/>
                </a:lnTo>
                <a:lnTo>
                  <a:pt x="0" y="82335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5332673" y="4569818"/>
            <a:ext cx="865908" cy="765246"/>
          </a:xfrm>
          <a:custGeom>
            <a:avLst/>
            <a:gdLst/>
            <a:ahLst/>
            <a:cxnLst/>
            <a:rect r="r" b="b" t="t" l="l"/>
            <a:pathLst>
              <a:path h="765246" w="865908">
                <a:moveTo>
                  <a:pt x="0" y="0"/>
                </a:moveTo>
                <a:lnTo>
                  <a:pt x="865909" y="0"/>
                </a:lnTo>
                <a:lnTo>
                  <a:pt x="865909" y="765246"/>
                </a:lnTo>
                <a:lnTo>
                  <a:pt x="0" y="7652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6423689" y="-855032"/>
            <a:ext cx="2280085" cy="1710064"/>
          </a:xfrm>
          <a:custGeom>
            <a:avLst/>
            <a:gdLst/>
            <a:ahLst/>
            <a:cxnLst/>
            <a:rect r="r" b="b" t="t" l="l"/>
            <a:pathLst>
              <a:path h="1710064" w="2280085">
                <a:moveTo>
                  <a:pt x="0" y="0"/>
                </a:moveTo>
                <a:lnTo>
                  <a:pt x="2280085" y="0"/>
                </a:lnTo>
                <a:lnTo>
                  <a:pt x="2280085" y="1710064"/>
                </a:lnTo>
                <a:lnTo>
                  <a:pt x="0" y="171006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-983462" y="9258300"/>
            <a:ext cx="2392326" cy="2057400"/>
          </a:xfrm>
          <a:custGeom>
            <a:avLst/>
            <a:gdLst/>
            <a:ahLst/>
            <a:cxnLst/>
            <a:rect r="r" b="b" t="t" l="l"/>
            <a:pathLst>
              <a:path h="2057400" w="2392326">
                <a:moveTo>
                  <a:pt x="0" y="0"/>
                </a:moveTo>
                <a:lnTo>
                  <a:pt x="2392325" y="0"/>
                </a:lnTo>
                <a:lnTo>
                  <a:pt x="2392325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3909901" y="942975"/>
            <a:ext cx="10468198" cy="87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b="true" sz="5200" spc="114">
                <a:solidFill>
                  <a:srgbClr val="212D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STARTUP GROWTH ROADMAP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035824" y="2038805"/>
            <a:ext cx="1021635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Fusce tempor, velit sit amet porta efficitur, ex ipsum porta dui, quis accumsan lorem ante nec lacus.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97020" y="6443866"/>
            <a:ext cx="2101053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First Day Orientation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795247" y="6443866"/>
            <a:ext cx="2101053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Training &amp; Development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97020" y="7459231"/>
            <a:ext cx="2101053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Introduce new employees to the team and company culture.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795247" y="7459231"/>
            <a:ext cx="2101053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Train employees with a structured development program.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093474" y="6443866"/>
            <a:ext cx="2101053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Team Integration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093474" y="7459231"/>
            <a:ext cx="2101053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Encourage collaboration and relationship building with the team.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391700" y="6443866"/>
            <a:ext cx="2101053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Tool &amp; Access Preparation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391700" y="7459231"/>
            <a:ext cx="2101053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Ensure employees have access to necessary tools and systems.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689927" y="6443866"/>
            <a:ext cx="2101053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Feedback &amp; Evaluation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689927" y="7459231"/>
            <a:ext cx="2101053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Provide initial feedback and performance evaluation.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2041845" y="4097901"/>
            <a:ext cx="6532890" cy="2155854"/>
          </a:xfrm>
          <a:custGeom>
            <a:avLst/>
            <a:gdLst/>
            <a:ahLst/>
            <a:cxnLst/>
            <a:rect r="r" b="b" t="t" l="l"/>
            <a:pathLst>
              <a:path h="2155854" w="6532890">
                <a:moveTo>
                  <a:pt x="0" y="0"/>
                </a:moveTo>
                <a:lnTo>
                  <a:pt x="6532890" y="0"/>
                </a:lnTo>
                <a:lnTo>
                  <a:pt x="6532890" y="2155854"/>
                </a:lnTo>
                <a:lnTo>
                  <a:pt x="0" y="21558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2041845" y="7139032"/>
            <a:ext cx="6532890" cy="2155854"/>
          </a:xfrm>
          <a:custGeom>
            <a:avLst/>
            <a:gdLst/>
            <a:ahLst/>
            <a:cxnLst/>
            <a:rect r="r" b="b" t="t" l="l"/>
            <a:pathLst>
              <a:path h="2155854" w="6532890">
                <a:moveTo>
                  <a:pt x="0" y="0"/>
                </a:moveTo>
                <a:lnTo>
                  <a:pt x="6532890" y="0"/>
                </a:lnTo>
                <a:lnTo>
                  <a:pt x="6532890" y="2155853"/>
                </a:lnTo>
                <a:lnTo>
                  <a:pt x="0" y="21558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9732315" y="4097901"/>
            <a:ext cx="6532890" cy="2155854"/>
          </a:xfrm>
          <a:custGeom>
            <a:avLst/>
            <a:gdLst/>
            <a:ahLst/>
            <a:cxnLst/>
            <a:rect r="r" b="b" t="t" l="l"/>
            <a:pathLst>
              <a:path h="2155854" w="6532890">
                <a:moveTo>
                  <a:pt x="0" y="0"/>
                </a:moveTo>
                <a:lnTo>
                  <a:pt x="6532890" y="0"/>
                </a:lnTo>
                <a:lnTo>
                  <a:pt x="6532890" y="2155854"/>
                </a:lnTo>
                <a:lnTo>
                  <a:pt x="0" y="21558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9732315" y="7139032"/>
            <a:ext cx="6532890" cy="2155854"/>
          </a:xfrm>
          <a:custGeom>
            <a:avLst/>
            <a:gdLst/>
            <a:ahLst/>
            <a:cxnLst/>
            <a:rect r="r" b="b" t="t" l="l"/>
            <a:pathLst>
              <a:path h="2155854" w="6532890">
                <a:moveTo>
                  <a:pt x="0" y="0"/>
                </a:moveTo>
                <a:lnTo>
                  <a:pt x="6532890" y="0"/>
                </a:lnTo>
                <a:lnTo>
                  <a:pt x="6532890" y="2155853"/>
                </a:lnTo>
                <a:lnTo>
                  <a:pt x="0" y="21558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839789" y="3897912"/>
            <a:ext cx="6532890" cy="2155854"/>
          </a:xfrm>
          <a:custGeom>
            <a:avLst/>
            <a:gdLst/>
            <a:ahLst/>
            <a:cxnLst/>
            <a:rect r="r" b="b" t="t" l="l"/>
            <a:pathLst>
              <a:path h="2155854" w="6532890">
                <a:moveTo>
                  <a:pt x="0" y="0"/>
                </a:moveTo>
                <a:lnTo>
                  <a:pt x="6532890" y="0"/>
                </a:lnTo>
                <a:lnTo>
                  <a:pt x="6532890" y="2155853"/>
                </a:lnTo>
                <a:lnTo>
                  <a:pt x="0" y="21558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839789" y="6939042"/>
            <a:ext cx="6532890" cy="2155854"/>
          </a:xfrm>
          <a:custGeom>
            <a:avLst/>
            <a:gdLst/>
            <a:ahLst/>
            <a:cxnLst/>
            <a:rect r="r" b="b" t="t" l="l"/>
            <a:pathLst>
              <a:path h="2155854" w="6532890">
                <a:moveTo>
                  <a:pt x="0" y="0"/>
                </a:moveTo>
                <a:lnTo>
                  <a:pt x="6532890" y="0"/>
                </a:lnTo>
                <a:lnTo>
                  <a:pt x="6532890" y="2155854"/>
                </a:lnTo>
                <a:lnTo>
                  <a:pt x="0" y="21558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9530260" y="3897912"/>
            <a:ext cx="6532890" cy="2155854"/>
          </a:xfrm>
          <a:custGeom>
            <a:avLst/>
            <a:gdLst/>
            <a:ahLst/>
            <a:cxnLst/>
            <a:rect r="r" b="b" t="t" l="l"/>
            <a:pathLst>
              <a:path h="2155854" w="6532890">
                <a:moveTo>
                  <a:pt x="0" y="0"/>
                </a:moveTo>
                <a:lnTo>
                  <a:pt x="6532889" y="0"/>
                </a:lnTo>
                <a:lnTo>
                  <a:pt x="6532889" y="2155853"/>
                </a:lnTo>
                <a:lnTo>
                  <a:pt x="0" y="21558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9530260" y="6939042"/>
            <a:ext cx="6532890" cy="2155854"/>
          </a:xfrm>
          <a:custGeom>
            <a:avLst/>
            <a:gdLst/>
            <a:ahLst/>
            <a:cxnLst/>
            <a:rect r="r" b="b" t="t" l="l"/>
            <a:pathLst>
              <a:path h="2155854" w="6532890">
                <a:moveTo>
                  <a:pt x="0" y="0"/>
                </a:moveTo>
                <a:lnTo>
                  <a:pt x="6532889" y="0"/>
                </a:lnTo>
                <a:lnTo>
                  <a:pt x="6532889" y="2155854"/>
                </a:lnTo>
                <a:lnTo>
                  <a:pt x="0" y="21558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41001" y="4183626"/>
            <a:ext cx="1843694" cy="1584424"/>
            <a:chOff x="0" y="0"/>
            <a:chExt cx="8128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41001" y="7224757"/>
            <a:ext cx="1843694" cy="1584424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20071" y="4183626"/>
            <a:ext cx="1843694" cy="1584424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20071" y="7224757"/>
            <a:ext cx="1843694" cy="1584424"/>
            <a:chOff x="0" y="0"/>
            <a:chExt cx="812800" cy="698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596643" y="4509634"/>
            <a:ext cx="932410" cy="932410"/>
          </a:xfrm>
          <a:custGeom>
            <a:avLst/>
            <a:gdLst/>
            <a:ahLst/>
            <a:cxnLst/>
            <a:rect r="r" b="b" t="t" l="l"/>
            <a:pathLst>
              <a:path h="932410" w="932410">
                <a:moveTo>
                  <a:pt x="0" y="0"/>
                </a:moveTo>
                <a:lnTo>
                  <a:pt x="932410" y="0"/>
                </a:lnTo>
                <a:lnTo>
                  <a:pt x="932410" y="932409"/>
                </a:lnTo>
                <a:lnTo>
                  <a:pt x="0" y="93240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243737" y="4460464"/>
            <a:ext cx="996361" cy="996361"/>
          </a:xfrm>
          <a:custGeom>
            <a:avLst/>
            <a:gdLst/>
            <a:ahLst/>
            <a:cxnLst/>
            <a:rect r="r" b="b" t="t" l="l"/>
            <a:pathLst>
              <a:path h="996361" w="996361">
                <a:moveTo>
                  <a:pt x="0" y="0"/>
                </a:moveTo>
                <a:lnTo>
                  <a:pt x="996361" y="0"/>
                </a:lnTo>
                <a:lnTo>
                  <a:pt x="996361" y="996361"/>
                </a:lnTo>
                <a:lnTo>
                  <a:pt x="0" y="99636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694340" y="7648460"/>
            <a:ext cx="737017" cy="737017"/>
          </a:xfrm>
          <a:custGeom>
            <a:avLst/>
            <a:gdLst/>
            <a:ahLst/>
            <a:cxnLst/>
            <a:rect r="r" b="b" t="t" l="l"/>
            <a:pathLst>
              <a:path h="737017" w="737017">
                <a:moveTo>
                  <a:pt x="0" y="0"/>
                </a:moveTo>
                <a:lnTo>
                  <a:pt x="737017" y="0"/>
                </a:lnTo>
                <a:lnTo>
                  <a:pt x="737017" y="737017"/>
                </a:lnTo>
                <a:lnTo>
                  <a:pt x="0" y="73701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325016" y="7809373"/>
            <a:ext cx="915082" cy="549049"/>
          </a:xfrm>
          <a:custGeom>
            <a:avLst/>
            <a:gdLst/>
            <a:ahLst/>
            <a:cxnLst/>
            <a:rect r="r" b="b" t="t" l="l"/>
            <a:pathLst>
              <a:path h="549049" w="915082">
                <a:moveTo>
                  <a:pt x="0" y="0"/>
                </a:moveTo>
                <a:lnTo>
                  <a:pt x="915082" y="0"/>
                </a:lnTo>
                <a:lnTo>
                  <a:pt x="915082" y="549050"/>
                </a:lnTo>
                <a:lnTo>
                  <a:pt x="0" y="5490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7384836" y="9258300"/>
            <a:ext cx="1806328" cy="1682143"/>
          </a:xfrm>
          <a:custGeom>
            <a:avLst/>
            <a:gdLst/>
            <a:ahLst/>
            <a:cxnLst/>
            <a:rect r="r" b="b" t="t" l="l"/>
            <a:pathLst>
              <a:path h="1682143" w="1806328">
                <a:moveTo>
                  <a:pt x="0" y="0"/>
                </a:moveTo>
                <a:lnTo>
                  <a:pt x="1806328" y="0"/>
                </a:lnTo>
                <a:lnTo>
                  <a:pt x="1806328" y="1682143"/>
                </a:lnTo>
                <a:lnTo>
                  <a:pt x="0" y="168214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1174315">
            <a:off x="-412247" y="-364888"/>
            <a:ext cx="1274206" cy="1215274"/>
          </a:xfrm>
          <a:custGeom>
            <a:avLst/>
            <a:gdLst/>
            <a:ahLst/>
            <a:cxnLst/>
            <a:rect r="r" b="b" t="t" l="l"/>
            <a:pathLst>
              <a:path h="1215274" w="1274206">
                <a:moveTo>
                  <a:pt x="0" y="0"/>
                </a:moveTo>
                <a:lnTo>
                  <a:pt x="1274206" y="0"/>
                </a:lnTo>
                <a:lnTo>
                  <a:pt x="1274206" y="1215273"/>
                </a:lnTo>
                <a:lnTo>
                  <a:pt x="0" y="121527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344280" y="942975"/>
            <a:ext cx="11599441" cy="87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b="true" sz="5200" spc="114">
                <a:solidFill>
                  <a:srgbClr val="212D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BUSINESS EXPANSION ROADMAP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035824" y="2038805"/>
            <a:ext cx="1021635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Fusce tempor, velit sit amet porta efficitur, ex ipsum porta dui, quis accumsan lorem ante nec lacus.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25616" y="4362478"/>
            <a:ext cx="3910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Market Research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25616" y="7403608"/>
            <a:ext cx="3910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New Market Launch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20178" y="4362478"/>
            <a:ext cx="3910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Product Adjustment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20178" y="7403608"/>
            <a:ext cx="3910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Evaluation &amp; Scaling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25616" y="4920544"/>
            <a:ext cx="391057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Evaluate potential markets before expanding the business.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225616" y="7961674"/>
            <a:ext cx="391057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Execute the launch strategy to enter new markets.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920178" y="4920544"/>
            <a:ext cx="391057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Adapt products or services to fit the new market's needs.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20178" y="7961674"/>
            <a:ext cx="391057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Review expansion results and plan continued growth.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6006" y="4269058"/>
            <a:ext cx="3122798" cy="4322492"/>
            <a:chOff x="0" y="0"/>
            <a:chExt cx="822465" cy="11384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2465" cy="1138434"/>
            </a:xfrm>
            <a:custGeom>
              <a:avLst/>
              <a:gdLst/>
              <a:ahLst/>
              <a:cxnLst/>
              <a:rect r="r" b="b" t="t" l="l"/>
              <a:pathLst>
                <a:path h="1138434" w="822465">
                  <a:moveTo>
                    <a:pt x="0" y="0"/>
                  </a:moveTo>
                  <a:lnTo>
                    <a:pt x="822465" y="0"/>
                  </a:lnTo>
                  <a:lnTo>
                    <a:pt x="822465" y="1138434"/>
                  </a:lnTo>
                  <a:lnTo>
                    <a:pt x="0" y="1138434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22465" cy="1186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269304" y="4269058"/>
            <a:ext cx="3122798" cy="4322492"/>
            <a:chOff x="0" y="0"/>
            <a:chExt cx="822465" cy="11384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465" cy="1138434"/>
            </a:xfrm>
            <a:custGeom>
              <a:avLst/>
              <a:gdLst/>
              <a:ahLst/>
              <a:cxnLst/>
              <a:rect r="r" b="b" t="t" l="l"/>
              <a:pathLst>
                <a:path h="1138434" w="822465">
                  <a:moveTo>
                    <a:pt x="0" y="0"/>
                  </a:moveTo>
                  <a:lnTo>
                    <a:pt x="822465" y="0"/>
                  </a:lnTo>
                  <a:lnTo>
                    <a:pt x="822465" y="1138434"/>
                  </a:lnTo>
                  <a:lnTo>
                    <a:pt x="0" y="1138434"/>
                  </a:lnTo>
                  <a:close/>
                </a:path>
              </a:pathLst>
            </a:custGeom>
            <a:solidFill>
              <a:srgbClr val="9AC4A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465" cy="1186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97785" y="4223881"/>
            <a:ext cx="1839239" cy="1839239"/>
          </a:xfrm>
          <a:custGeom>
            <a:avLst/>
            <a:gdLst/>
            <a:ahLst/>
            <a:cxnLst/>
            <a:rect r="r" b="b" t="t" l="l"/>
            <a:pathLst>
              <a:path h="1839239" w="1839239">
                <a:moveTo>
                  <a:pt x="0" y="0"/>
                </a:moveTo>
                <a:lnTo>
                  <a:pt x="1839239" y="0"/>
                </a:lnTo>
                <a:lnTo>
                  <a:pt x="1839239" y="1839238"/>
                </a:lnTo>
                <a:lnTo>
                  <a:pt x="0" y="1839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911083" y="4223881"/>
            <a:ext cx="1839239" cy="1839239"/>
          </a:xfrm>
          <a:custGeom>
            <a:avLst/>
            <a:gdLst/>
            <a:ahLst/>
            <a:cxnLst/>
            <a:rect r="r" b="b" t="t" l="l"/>
            <a:pathLst>
              <a:path h="1839239" w="1839239">
                <a:moveTo>
                  <a:pt x="0" y="0"/>
                </a:moveTo>
                <a:lnTo>
                  <a:pt x="1839239" y="0"/>
                </a:lnTo>
                <a:lnTo>
                  <a:pt x="1839239" y="1839238"/>
                </a:lnTo>
                <a:lnTo>
                  <a:pt x="0" y="1839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545781" y="3735320"/>
            <a:ext cx="1943249" cy="1846086"/>
          </a:xfrm>
          <a:custGeom>
            <a:avLst/>
            <a:gdLst/>
            <a:ahLst/>
            <a:cxnLst/>
            <a:rect r="r" b="b" t="t" l="l"/>
            <a:pathLst>
              <a:path h="1846086" w="1943249">
                <a:moveTo>
                  <a:pt x="0" y="0"/>
                </a:moveTo>
                <a:lnTo>
                  <a:pt x="1943248" y="0"/>
                </a:lnTo>
                <a:lnTo>
                  <a:pt x="1943248" y="1846086"/>
                </a:lnTo>
                <a:lnTo>
                  <a:pt x="0" y="18460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4859078" y="3735320"/>
            <a:ext cx="1943249" cy="1846086"/>
          </a:xfrm>
          <a:custGeom>
            <a:avLst/>
            <a:gdLst/>
            <a:ahLst/>
            <a:cxnLst/>
            <a:rect r="r" b="b" t="t" l="l"/>
            <a:pathLst>
              <a:path h="1846086" w="1943249">
                <a:moveTo>
                  <a:pt x="0" y="0"/>
                </a:moveTo>
                <a:lnTo>
                  <a:pt x="1943249" y="0"/>
                </a:lnTo>
                <a:lnTo>
                  <a:pt x="1943249" y="1846086"/>
                </a:lnTo>
                <a:lnTo>
                  <a:pt x="0" y="18460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582601" y="4269058"/>
            <a:ext cx="3122798" cy="4322492"/>
            <a:chOff x="0" y="0"/>
            <a:chExt cx="822465" cy="11384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2465" cy="1138434"/>
            </a:xfrm>
            <a:custGeom>
              <a:avLst/>
              <a:gdLst/>
              <a:ahLst/>
              <a:cxnLst/>
              <a:rect r="r" b="b" t="t" l="l"/>
              <a:pathLst>
                <a:path h="1138434" w="822465">
                  <a:moveTo>
                    <a:pt x="0" y="0"/>
                  </a:moveTo>
                  <a:lnTo>
                    <a:pt x="822465" y="0"/>
                  </a:lnTo>
                  <a:lnTo>
                    <a:pt x="822465" y="1138434"/>
                  </a:lnTo>
                  <a:lnTo>
                    <a:pt x="0" y="1138434"/>
                  </a:lnTo>
                  <a:close/>
                </a:path>
              </a:pathLst>
            </a:custGeom>
            <a:solidFill>
              <a:srgbClr val="5F888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22465" cy="1186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224381" y="4223881"/>
            <a:ext cx="1839239" cy="1839239"/>
          </a:xfrm>
          <a:custGeom>
            <a:avLst/>
            <a:gdLst/>
            <a:ahLst/>
            <a:cxnLst/>
            <a:rect r="r" b="b" t="t" l="l"/>
            <a:pathLst>
              <a:path h="1839239" w="1839239">
                <a:moveTo>
                  <a:pt x="0" y="0"/>
                </a:moveTo>
                <a:lnTo>
                  <a:pt x="1839238" y="0"/>
                </a:lnTo>
                <a:lnTo>
                  <a:pt x="1839238" y="1839238"/>
                </a:lnTo>
                <a:lnTo>
                  <a:pt x="0" y="1839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10800000">
            <a:off x="8172376" y="3735320"/>
            <a:ext cx="1943249" cy="1846086"/>
          </a:xfrm>
          <a:custGeom>
            <a:avLst/>
            <a:gdLst/>
            <a:ahLst/>
            <a:cxnLst/>
            <a:rect r="r" b="b" t="t" l="l"/>
            <a:pathLst>
              <a:path h="1846086" w="1943249">
                <a:moveTo>
                  <a:pt x="0" y="0"/>
                </a:moveTo>
                <a:lnTo>
                  <a:pt x="1943248" y="0"/>
                </a:lnTo>
                <a:lnTo>
                  <a:pt x="1943248" y="1846086"/>
                </a:lnTo>
                <a:lnTo>
                  <a:pt x="0" y="18460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895899" y="4269058"/>
            <a:ext cx="3122798" cy="4322492"/>
            <a:chOff x="0" y="0"/>
            <a:chExt cx="822465" cy="11384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2465" cy="1138434"/>
            </a:xfrm>
            <a:custGeom>
              <a:avLst/>
              <a:gdLst/>
              <a:ahLst/>
              <a:cxnLst/>
              <a:rect r="r" b="b" t="t" l="l"/>
              <a:pathLst>
                <a:path h="1138434" w="822465">
                  <a:moveTo>
                    <a:pt x="0" y="0"/>
                  </a:moveTo>
                  <a:lnTo>
                    <a:pt x="822465" y="0"/>
                  </a:lnTo>
                  <a:lnTo>
                    <a:pt x="822465" y="1138434"/>
                  </a:lnTo>
                  <a:lnTo>
                    <a:pt x="0" y="1138434"/>
                  </a:lnTo>
                  <a:close/>
                </a:path>
              </a:pathLst>
            </a:custGeom>
            <a:solidFill>
              <a:srgbClr val="4E7C7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822465" cy="1186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537678" y="4223881"/>
            <a:ext cx="1839239" cy="1839239"/>
          </a:xfrm>
          <a:custGeom>
            <a:avLst/>
            <a:gdLst/>
            <a:ahLst/>
            <a:cxnLst/>
            <a:rect r="r" b="b" t="t" l="l"/>
            <a:pathLst>
              <a:path h="1839239" w="1839239">
                <a:moveTo>
                  <a:pt x="0" y="0"/>
                </a:moveTo>
                <a:lnTo>
                  <a:pt x="1839239" y="0"/>
                </a:lnTo>
                <a:lnTo>
                  <a:pt x="1839239" y="1839238"/>
                </a:lnTo>
                <a:lnTo>
                  <a:pt x="0" y="1839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-10800000">
            <a:off x="11485673" y="3735320"/>
            <a:ext cx="1943249" cy="1846086"/>
          </a:xfrm>
          <a:custGeom>
            <a:avLst/>
            <a:gdLst/>
            <a:ahLst/>
            <a:cxnLst/>
            <a:rect r="r" b="b" t="t" l="l"/>
            <a:pathLst>
              <a:path h="1846086" w="1943249">
                <a:moveTo>
                  <a:pt x="0" y="0"/>
                </a:moveTo>
                <a:lnTo>
                  <a:pt x="1943249" y="0"/>
                </a:lnTo>
                <a:lnTo>
                  <a:pt x="1943249" y="1846086"/>
                </a:lnTo>
                <a:lnTo>
                  <a:pt x="0" y="18460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4209196" y="4269058"/>
            <a:ext cx="3122798" cy="4322492"/>
            <a:chOff x="0" y="0"/>
            <a:chExt cx="822465" cy="11384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465" cy="1138434"/>
            </a:xfrm>
            <a:custGeom>
              <a:avLst/>
              <a:gdLst/>
              <a:ahLst/>
              <a:cxnLst/>
              <a:rect r="r" b="b" t="t" l="l"/>
              <a:pathLst>
                <a:path h="1138434" w="822465">
                  <a:moveTo>
                    <a:pt x="0" y="0"/>
                  </a:moveTo>
                  <a:lnTo>
                    <a:pt x="822465" y="0"/>
                  </a:lnTo>
                  <a:lnTo>
                    <a:pt x="822465" y="1138434"/>
                  </a:lnTo>
                  <a:lnTo>
                    <a:pt x="0" y="1138434"/>
                  </a:lnTo>
                  <a:close/>
                </a:path>
              </a:pathLst>
            </a:custGeom>
            <a:solidFill>
              <a:srgbClr val="3B5D5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22465" cy="1186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4850976" y="4223881"/>
            <a:ext cx="1839239" cy="1839239"/>
          </a:xfrm>
          <a:custGeom>
            <a:avLst/>
            <a:gdLst/>
            <a:ahLst/>
            <a:cxnLst/>
            <a:rect r="r" b="b" t="t" l="l"/>
            <a:pathLst>
              <a:path h="1839239" w="1839239">
                <a:moveTo>
                  <a:pt x="0" y="0"/>
                </a:moveTo>
                <a:lnTo>
                  <a:pt x="1839239" y="0"/>
                </a:lnTo>
                <a:lnTo>
                  <a:pt x="1839239" y="1839238"/>
                </a:lnTo>
                <a:lnTo>
                  <a:pt x="0" y="1839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-10800000">
            <a:off x="14798971" y="3735320"/>
            <a:ext cx="1943249" cy="1846086"/>
          </a:xfrm>
          <a:custGeom>
            <a:avLst/>
            <a:gdLst/>
            <a:ahLst/>
            <a:cxnLst/>
            <a:rect r="r" b="b" t="t" l="l"/>
            <a:pathLst>
              <a:path h="1846086" w="1943249">
                <a:moveTo>
                  <a:pt x="0" y="0"/>
                </a:moveTo>
                <a:lnTo>
                  <a:pt x="1943248" y="0"/>
                </a:lnTo>
                <a:lnTo>
                  <a:pt x="1943248" y="1846086"/>
                </a:lnTo>
                <a:lnTo>
                  <a:pt x="0" y="18460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785066" y="9021676"/>
            <a:ext cx="6546927" cy="284535"/>
          </a:xfrm>
          <a:custGeom>
            <a:avLst/>
            <a:gdLst/>
            <a:ahLst/>
            <a:cxnLst/>
            <a:rect r="r" b="b" t="t" l="l"/>
            <a:pathLst>
              <a:path h="284535" w="6546927">
                <a:moveTo>
                  <a:pt x="0" y="0"/>
                </a:moveTo>
                <a:lnTo>
                  <a:pt x="6546928" y="0"/>
                </a:lnTo>
                <a:lnTo>
                  <a:pt x="6546928" y="284535"/>
                </a:lnTo>
                <a:lnTo>
                  <a:pt x="0" y="2845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5359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427312" y="9021676"/>
            <a:ext cx="6267134" cy="284535"/>
          </a:xfrm>
          <a:custGeom>
            <a:avLst/>
            <a:gdLst/>
            <a:ahLst/>
            <a:cxnLst/>
            <a:rect r="r" b="b" t="t" l="l"/>
            <a:pathLst>
              <a:path h="284535" w="6267134">
                <a:moveTo>
                  <a:pt x="0" y="0"/>
                </a:moveTo>
                <a:lnTo>
                  <a:pt x="6267134" y="0"/>
                </a:lnTo>
                <a:lnTo>
                  <a:pt x="6267134" y="284535"/>
                </a:lnTo>
                <a:lnTo>
                  <a:pt x="0" y="2845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5598" t="0" r="-4464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56006" y="9021676"/>
            <a:ext cx="3417953" cy="284535"/>
          </a:xfrm>
          <a:custGeom>
            <a:avLst/>
            <a:gdLst/>
            <a:ahLst/>
            <a:cxnLst/>
            <a:rect r="r" b="b" t="t" l="l"/>
            <a:pathLst>
              <a:path h="284535" w="3417953">
                <a:moveTo>
                  <a:pt x="0" y="0"/>
                </a:moveTo>
                <a:lnTo>
                  <a:pt x="3417953" y="0"/>
                </a:lnTo>
                <a:lnTo>
                  <a:pt x="3417953" y="284535"/>
                </a:lnTo>
                <a:lnTo>
                  <a:pt x="0" y="2845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0265" t="0" r="-91545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2290554" y="8937093"/>
            <a:ext cx="453701" cy="45370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603852" y="8937093"/>
            <a:ext cx="453701" cy="453701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AC4AB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917149" y="8937093"/>
            <a:ext cx="453701" cy="453701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8883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230447" y="8937093"/>
            <a:ext cx="453701" cy="453701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7C7D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543744" y="8937093"/>
            <a:ext cx="453701" cy="453701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D5A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2066849" y="4486518"/>
            <a:ext cx="830854" cy="830854"/>
          </a:xfrm>
          <a:custGeom>
            <a:avLst/>
            <a:gdLst/>
            <a:ahLst/>
            <a:cxnLst/>
            <a:rect r="r" b="b" t="t" l="l"/>
            <a:pathLst>
              <a:path h="830854" w="830854">
                <a:moveTo>
                  <a:pt x="0" y="0"/>
                </a:moveTo>
                <a:lnTo>
                  <a:pt x="830855" y="0"/>
                </a:lnTo>
                <a:lnTo>
                  <a:pt x="830855" y="830854"/>
                </a:lnTo>
                <a:lnTo>
                  <a:pt x="0" y="83085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5397748" y="4465717"/>
            <a:ext cx="865908" cy="765246"/>
          </a:xfrm>
          <a:custGeom>
            <a:avLst/>
            <a:gdLst/>
            <a:ahLst/>
            <a:cxnLst/>
            <a:rect r="r" b="b" t="t" l="l"/>
            <a:pathLst>
              <a:path h="765246" w="865908">
                <a:moveTo>
                  <a:pt x="0" y="0"/>
                </a:moveTo>
                <a:lnTo>
                  <a:pt x="865909" y="0"/>
                </a:lnTo>
                <a:lnTo>
                  <a:pt x="865909" y="765247"/>
                </a:lnTo>
                <a:lnTo>
                  <a:pt x="0" y="76524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8659346" y="4486518"/>
            <a:ext cx="969309" cy="775447"/>
          </a:xfrm>
          <a:custGeom>
            <a:avLst/>
            <a:gdLst/>
            <a:ahLst/>
            <a:cxnLst/>
            <a:rect r="r" b="b" t="t" l="l"/>
            <a:pathLst>
              <a:path h="775447" w="969309">
                <a:moveTo>
                  <a:pt x="0" y="0"/>
                </a:moveTo>
                <a:lnTo>
                  <a:pt x="969308" y="0"/>
                </a:lnTo>
                <a:lnTo>
                  <a:pt x="969308" y="775447"/>
                </a:lnTo>
                <a:lnTo>
                  <a:pt x="0" y="77544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2038899" y="4438902"/>
            <a:ext cx="803537" cy="803537"/>
          </a:xfrm>
          <a:custGeom>
            <a:avLst/>
            <a:gdLst/>
            <a:ahLst/>
            <a:cxnLst/>
            <a:rect r="r" b="b" t="t" l="l"/>
            <a:pathLst>
              <a:path h="803537" w="803537">
                <a:moveTo>
                  <a:pt x="0" y="0"/>
                </a:moveTo>
                <a:lnTo>
                  <a:pt x="803537" y="0"/>
                </a:lnTo>
                <a:lnTo>
                  <a:pt x="803537" y="803537"/>
                </a:lnTo>
                <a:lnTo>
                  <a:pt x="0" y="80353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5390296" y="4438902"/>
            <a:ext cx="793878" cy="793878"/>
          </a:xfrm>
          <a:custGeom>
            <a:avLst/>
            <a:gdLst/>
            <a:ahLst/>
            <a:cxnLst/>
            <a:rect r="r" b="b" t="t" l="l"/>
            <a:pathLst>
              <a:path h="793878" w="793878">
                <a:moveTo>
                  <a:pt x="0" y="0"/>
                </a:moveTo>
                <a:lnTo>
                  <a:pt x="793878" y="0"/>
                </a:lnTo>
                <a:lnTo>
                  <a:pt x="793878" y="793878"/>
                </a:lnTo>
                <a:lnTo>
                  <a:pt x="0" y="793878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-1770276">
            <a:off x="17357074" y="-658847"/>
            <a:ext cx="1483596" cy="1837270"/>
          </a:xfrm>
          <a:custGeom>
            <a:avLst/>
            <a:gdLst/>
            <a:ahLst/>
            <a:cxnLst/>
            <a:rect r="r" b="b" t="t" l="l"/>
            <a:pathLst>
              <a:path h="1837270" w="1483596">
                <a:moveTo>
                  <a:pt x="0" y="0"/>
                </a:moveTo>
                <a:lnTo>
                  <a:pt x="1483596" y="0"/>
                </a:lnTo>
                <a:lnTo>
                  <a:pt x="1483596" y="1837270"/>
                </a:lnTo>
                <a:lnTo>
                  <a:pt x="0" y="183727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4001021" y="942975"/>
            <a:ext cx="10285958" cy="87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b="true" sz="5200" spc="114">
                <a:solidFill>
                  <a:srgbClr val="212D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 LAUNCH ROADMAP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035824" y="2038805"/>
            <a:ext cx="1021635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Fusce tempor, velit sit amet porta efficitur, ex ipsum porta dui, quis accumsan lorem ante nec lacus.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65777" y="5905275"/>
            <a:ext cx="1703255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Research &amp; Design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979075" y="5905275"/>
            <a:ext cx="1703255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Testing &amp; Feedback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66879" y="6882540"/>
            <a:ext cx="2101053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Design the product based on market research.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780176" y="6882540"/>
            <a:ext cx="2101053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 the product and gather feedback from early users.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292372" y="5905275"/>
            <a:ext cx="1703255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Product Refinement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093474" y="6882540"/>
            <a:ext cx="2101053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Adjust the product based on feedback and testing results.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605670" y="5905275"/>
            <a:ext cx="1703255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Marketing Strategy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406771" y="6882540"/>
            <a:ext cx="2101053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Develop a strong marketing strategy to support the launch.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918967" y="5905275"/>
            <a:ext cx="1703255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Official Launch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540339" y="6882540"/>
            <a:ext cx="2460513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Launch the product to the market with a coordinated campaign.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-797714" y="9306211"/>
            <a:ext cx="1595428" cy="1621782"/>
          </a:xfrm>
          <a:custGeom>
            <a:avLst/>
            <a:gdLst/>
            <a:ahLst/>
            <a:cxnLst/>
            <a:rect r="r" b="b" t="t" l="l"/>
            <a:pathLst>
              <a:path h="1621782" w="1595428">
                <a:moveTo>
                  <a:pt x="0" y="0"/>
                </a:moveTo>
                <a:lnTo>
                  <a:pt x="1595428" y="0"/>
                </a:lnTo>
                <a:lnTo>
                  <a:pt x="1595428" y="1621782"/>
                </a:lnTo>
                <a:lnTo>
                  <a:pt x="0" y="1621782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32428" y="3831576"/>
            <a:ext cx="6023145" cy="6023145"/>
          </a:xfrm>
          <a:custGeom>
            <a:avLst/>
            <a:gdLst/>
            <a:ahLst/>
            <a:cxnLst/>
            <a:rect r="r" b="b" t="t" l="l"/>
            <a:pathLst>
              <a:path h="6023145" w="6023145">
                <a:moveTo>
                  <a:pt x="0" y="0"/>
                </a:moveTo>
                <a:lnTo>
                  <a:pt x="6023144" y="0"/>
                </a:lnTo>
                <a:lnTo>
                  <a:pt x="6023144" y="6023145"/>
                </a:lnTo>
                <a:lnTo>
                  <a:pt x="0" y="602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27070" y="5827626"/>
            <a:ext cx="2833860" cy="2603608"/>
          </a:xfrm>
          <a:custGeom>
            <a:avLst/>
            <a:gdLst/>
            <a:ahLst/>
            <a:cxnLst/>
            <a:rect r="r" b="b" t="t" l="l"/>
            <a:pathLst>
              <a:path h="2603608" w="2833860">
                <a:moveTo>
                  <a:pt x="0" y="0"/>
                </a:moveTo>
                <a:lnTo>
                  <a:pt x="2833860" y="0"/>
                </a:lnTo>
                <a:lnTo>
                  <a:pt x="2833860" y="2603608"/>
                </a:lnTo>
                <a:lnTo>
                  <a:pt x="0" y="2603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037638" y="5621133"/>
            <a:ext cx="2212724" cy="221272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155575"/>
              <a:ext cx="558800" cy="60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65879" y="4676194"/>
            <a:ext cx="850445" cy="944939"/>
          </a:xfrm>
          <a:custGeom>
            <a:avLst/>
            <a:gdLst/>
            <a:ahLst/>
            <a:cxnLst/>
            <a:rect r="r" b="b" t="t" l="l"/>
            <a:pathLst>
              <a:path h="944939" w="850445">
                <a:moveTo>
                  <a:pt x="0" y="0"/>
                </a:moveTo>
                <a:lnTo>
                  <a:pt x="850445" y="0"/>
                </a:lnTo>
                <a:lnTo>
                  <a:pt x="850445" y="944939"/>
                </a:lnTo>
                <a:lnTo>
                  <a:pt x="0" y="9449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51405" y="4770549"/>
            <a:ext cx="770738" cy="842337"/>
          </a:xfrm>
          <a:custGeom>
            <a:avLst/>
            <a:gdLst/>
            <a:ahLst/>
            <a:cxnLst/>
            <a:rect r="r" b="b" t="t" l="l"/>
            <a:pathLst>
              <a:path h="842337" w="770738">
                <a:moveTo>
                  <a:pt x="0" y="0"/>
                </a:moveTo>
                <a:lnTo>
                  <a:pt x="770738" y="0"/>
                </a:lnTo>
                <a:lnTo>
                  <a:pt x="770738" y="842336"/>
                </a:lnTo>
                <a:lnTo>
                  <a:pt x="0" y="8423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54502" y="7411528"/>
            <a:ext cx="814266" cy="1085688"/>
          </a:xfrm>
          <a:custGeom>
            <a:avLst/>
            <a:gdLst/>
            <a:ahLst/>
            <a:cxnLst/>
            <a:rect r="r" b="b" t="t" l="l"/>
            <a:pathLst>
              <a:path h="1085688" w="814266">
                <a:moveTo>
                  <a:pt x="0" y="0"/>
                </a:moveTo>
                <a:lnTo>
                  <a:pt x="814265" y="0"/>
                </a:lnTo>
                <a:lnTo>
                  <a:pt x="814265" y="1085687"/>
                </a:lnTo>
                <a:lnTo>
                  <a:pt x="0" y="108568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141734" y="8867799"/>
            <a:ext cx="1010056" cy="606033"/>
          </a:xfrm>
          <a:custGeom>
            <a:avLst/>
            <a:gdLst/>
            <a:ahLst/>
            <a:cxnLst/>
            <a:rect r="r" b="b" t="t" l="l"/>
            <a:pathLst>
              <a:path h="606033" w="1010056">
                <a:moveTo>
                  <a:pt x="0" y="0"/>
                </a:moveTo>
                <a:lnTo>
                  <a:pt x="1010055" y="0"/>
                </a:lnTo>
                <a:lnTo>
                  <a:pt x="1010055" y="606033"/>
                </a:lnTo>
                <a:lnTo>
                  <a:pt x="0" y="6060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508300" y="6727496"/>
            <a:ext cx="848356" cy="848356"/>
          </a:xfrm>
          <a:custGeom>
            <a:avLst/>
            <a:gdLst/>
            <a:ahLst/>
            <a:cxnLst/>
            <a:rect r="r" b="b" t="t" l="l"/>
            <a:pathLst>
              <a:path h="848356" w="848356">
                <a:moveTo>
                  <a:pt x="0" y="0"/>
                </a:moveTo>
                <a:lnTo>
                  <a:pt x="848356" y="0"/>
                </a:lnTo>
                <a:lnTo>
                  <a:pt x="848356" y="848356"/>
                </a:lnTo>
                <a:lnTo>
                  <a:pt x="0" y="8483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259300" y="-632778"/>
            <a:ext cx="1755640" cy="1843192"/>
          </a:xfrm>
          <a:custGeom>
            <a:avLst/>
            <a:gdLst/>
            <a:ahLst/>
            <a:cxnLst/>
            <a:rect r="r" b="b" t="t" l="l"/>
            <a:pathLst>
              <a:path h="1843192" w="1755640">
                <a:moveTo>
                  <a:pt x="0" y="0"/>
                </a:moveTo>
                <a:lnTo>
                  <a:pt x="1755640" y="0"/>
                </a:lnTo>
                <a:lnTo>
                  <a:pt x="1755640" y="1843192"/>
                </a:lnTo>
                <a:lnTo>
                  <a:pt x="0" y="184319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923343" y="-181714"/>
            <a:ext cx="2790579" cy="1210414"/>
          </a:xfrm>
          <a:custGeom>
            <a:avLst/>
            <a:gdLst/>
            <a:ahLst/>
            <a:cxnLst/>
            <a:rect r="r" b="b" t="t" l="l"/>
            <a:pathLst>
              <a:path h="1210414" w="2790579">
                <a:moveTo>
                  <a:pt x="0" y="0"/>
                </a:moveTo>
                <a:lnTo>
                  <a:pt x="2790579" y="0"/>
                </a:lnTo>
                <a:lnTo>
                  <a:pt x="2790579" y="1210414"/>
                </a:lnTo>
                <a:lnTo>
                  <a:pt x="0" y="121041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688275" y="6221706"/>
            <a:ext cx="911449" cy="1242885"/>
          </a:xfrm>
          <a:custGeom>
            <a:avLst/>
            <a:gdLst/>
            <a:ahLst/>
            <a:cxnLst/>
            <a:rect r="r" b="b" t="t" l="l"/>
            <a:pathLst>
              <a:path h="1242885" w="911449">
                <a:moveTo>
                  <a:pt x="0" y="0"/>
                </a:moveTo>
                <a:lnTo>
                  <a:pt x="911450" y="0"/>
                </a:lnTo>
                <a:lnTo>
                  <a:pt x="911450" y="1242885"/>
                </a:lnTo>
                <a:lnTo>
                  <a:pt x="0" y="124288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600524" y="942975"/>
            <a:ext cx="11086951" cy="87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b="true" sz="5200" spc="114">
                <a:solidFill>
                  <a:srgbClr val="212D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CONTENT STRATEGY ROADMAP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35824" y="2038805"/>
            <a:ext cx="1021635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Fusce tempor, velit sit amet porta efficitur, ex ipsum porta dui, quis accumsan lorem ante nec lacus.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63165" y="3783951"/>
            <a:ext cx="329131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b="true" sz="2400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Strategy Adjustment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71911" y="5632235"/>
            <a:ext cx="329131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Content Creation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39420" y="5319609"/>
            <a:ext cx="3291311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Research &amp; Audience Targeting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71911" y="7792192"/>
            <a:ext cx="3291311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Distribution &amp; Promotion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45456" y="4346629"/>
            <a:ext cx="330027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Refine the content strategy based on data and feedback.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54201" y="6192262"/>
            <a:ext cx="330027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Create relevant content that meets audience needs and preferences.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21711" y="6300857"/>
            <a:ext cx="330027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Identify the target audience for a tailored content strategy.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54201" y="8773440"/>
            <a:ext cx="330027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Distribute content through the most effective channels.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39420" y="7903503"/>
            <a:ext cx="329131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Analytics &amp; Feedback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1711" y="8459115"/>
            <a:ext cx="330027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Monitor content performance and gather audience feedback.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59477" y="3957490"/>
            <a:ext cx="790885" cy="49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7"/>
              </a:lnSpc>
            </a:pPr>
            <a:r>
              <a:rPr lang="en-US" sz="2948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364687" y="6476389"/>
            <a:ext cx="790885" cy="49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7"/>
              </a:lnSpc>
            </a:pPr>
            <a:r>
              <a:rPr lang="en-US" sz="2948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93818" y="9001740"/>
            <a:ext cx="790885" cy="49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7"/>
              </a:lnSpc>
            </a:pPr>
            <a:r>
              <a:rPr lang="en-US" sz="2948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78641" y="8076457"/>
            <a:ext cx="790885" cy="49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7"/>
              </a:lnSpc>
            </a:pPr>
            <a:r>
              <a:rPr lang="en-US" sz="2948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68389" y="5030943"/>
            <a:ext cx="790885" cy="49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7"/>
              </a:lnSpc>
            </a:pPr>
            <a:r>
              <a:rPr lang="en-US" sz="2948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05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29335" y="4086062"/>
            <a:ext cx="4625157" cy="1826916"/>
            <a:chOff x="0" y="0"/>
            <a:chExt cx="1693306" cy="668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3306" cy="668848"/>
            </a:xfrm>
            <a:custGeom>
              <a:avLst/>
              <a:gdLst/>
              <a:ahLst/>
              <a:cxnLst/>
              <a:rect r="r" b="b" t="t" l="l"/>
              <a:pathLst>
                <a:path h="668848" w="1693306">
                  <a:moveTo>
                    <a:pt x="0" y="0"/>
                  </a:moveTo>
                  <a:lnTo>
                    <a:pt x="1693306" y="0"/>
                  </a:lnTo>
                  <a:lnTo>
                    <a:pt x="1693306" y="668848"/>
                  </a:lnTo>
                  <a:lnTo>
                    <a:pt x="0" y="668848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93306" cy="716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31421" y="4086062"/>
            <a:ext cx="4625157" cy="1826916"/>
            <a:chOff x="0" y="0"/>
            <a:chExt cx="1693306" cy="6688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93306" cy="668848"/>
            </a:xfrm>
            <a:custGeom>
              <a:avLst/>
              <a:gdLst/>
              <a:ahLst/>
              <a:cxnLst/>
              <a:rect r="r" b="b" t="t" l="l"/>
              <a:pathLst>
                <a:path h="668848" w="1693306">
                  <a:moveTo>
                    <a:pt x="0" y="0"/>
                  </a:moveTo>
                  <a:lnTo>
                    <a:pt x="1693306" y="0"/>
                  </a:lnTo>
                  <a:lnTo>
                    <a:pt x="1693306" y="668848"/>
                  </a:lnTo>
                  <a:lnTo>
                    <a:pt x="0" y="668848"/>
                  </a:lnTo>
                  <a:close/>
                </a:path>
              </a:pathLst>
            </a:custGeom>
            <a:solidFill>
              <a:srgbClr val="9AC4A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93306" cy="716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9335" y="7373382"/>
            <a:ext cx="4625157" cy="1826916"/>
            <a:chOff x="0" y="0"/>
            <a:chExt cx="1693306" cy="6688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3306" cy="668848"/>
            </a:xfrm>
            <a:custGeom>
              <a:avLst/>
              <a:gdLst/>
              <a:ahLst/>
              <a:cxnLst/>
              <a:rect r="r" b="b" t="t" l="l"/>
              <a:pathLst>
                <a:path h="668848" w="1693306">
                  <a:moveTo>
                    <a:pt x="0" y="0"/>
                  </a:moveTo>
                  <a:lnTo>
                    <a:pt x="1693306" y="0"/>
                  </a:lnTo>
                  <a:lnTo>
                    <a:pt x="1693306" y="668848"/>
                  </a:lnTo>
                  <a:lnTo>
                    <a:pt x="0" y="668848"/>
                  </a:lnTo>
                  <a:close/>
                </a:path>
              </a:pathLst>
            </a:custGeom>
            <a:solidFill>
              <a:srgbClr val="4E7C7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93306" cy="716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31421" y="7373382"/>
            <a:ext cx="4625157" cy="1826916"/>
            <a:chOff x="0" y="0"/>
            <a:chExt cx="1693306" cy="6688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93306" cy="668848"/>
            </a:xfrm>
            <a:custGeom>
              <a:avLst/>
              <a:gdLst/>
              <a:ahLst/>
              <a:cxnLst/>
              <a:rect r="r" b="b" t="t" l="l"/>
              <a:pathLst>
                <a:path h="668848" w="1693306">
                  <a:moveTo>
                    <a:pt x="0" y="0"/>
                  </a:moveTo>
                  <a:lnTo>
                    <a:pt x="1693306" y="0"/>
                  </a:lnTo>
                  <a:lnTo>
                    <a:pt x="1693306" y="668848"/>
                  </a:lnTo>
                  <a:lnTo>
                    <a:pt x="0" y="668848"/>
                  </a:lnTo>
                  <a:close/>
                </a:path>
              </a:pathLst>
            </a:custGeom>
            <a:solidFill>
              <a:srgbClr val="3B5D5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693306" cy="716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92899" y="3803417"/>
            <a:ext cx="4098029" cy="1781328"/>
            <a:chOff x="0" y="0"/>
            <a:chExt cx="1500320" cy="6521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00320" cy="652158"/>
            </a:xfrm>
            <a:custGeom>
              <a:avLst/>
              <a:gdLst/>
              <a:ahLst/>
              <a:cxnLst/>
              <a:rect r="r" b="b" t="t" l="l"/>
              <a:pathLst>
                <a:path h="652158" w="1500320">
                  <a:moveTo>
                    <a:pt x="0" y="0"/>
                  </a:moveTo>
                  <a:lnTo>
                    <a:pt x="1500320" y="0"/>
                  </a:lnTo>
                  <a:lnTo>
                    <a:pt x="1500320" y="652158"/>
                  </a:lnTo>
                  <a:lnTo>
                    <a:pt x="0" y="6521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500320" cy="699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094986" y="3803417"/>
            <a:ext cx="4098029" cy="1781328"/>
            <a:chOff x="0" y="0"/>
            <a:chExt cx="1500320" cy="6521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00320" cy="652158"/>
            </a:xfrm>
            <a:custGeom>
              <a:avLst/>
              <a:gdLst/>
              <a:ahLst/>
              <a:cxnLst/>
              <a:rect r="r" b="b" t="t" l="l"/>
              <a:pathLst>
                <a:path h="652158" w="1500320">
                  <a:moveTo>
                    <a:pt x="0" y="0"/>
                  </a:moveTo>
                  <a:lnTo>
                    <a:pt x="1500320" y="0"/>
                  </a:lnTo>
                  <a:lnTo>
                    <a:pt x="1500320" y="652158"/>
                  </a:lnTo>
                  <a:lnTo>
                    <a:pt x="0" y="6521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500320" cy="699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92899" y="7090737"/>
            <a:ext cx="4098029" cy="1781328"/>
            <a:chOff x="0" y="0"/>
            <a:chExt cx="1500320" cy="6521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00320" cy="652158"/>
            </a:xfrm>
            <a:custGeom>
              <a:avLst/>
              <a:gdLst/>
              <a:ahLst/>
              <a:cxnLst/>
              <a:rect r="r" b="b" t="t" l="l"/>
              <a:pathLst>
                <a:path h="652158" w="1500320">
                  <a:moveTo>
                    <a:pt x="0" y="0"/>
                  </a:moveTo>
                  <a:lnTo>
                    <a:pt x="1500320" y="0"/>
                  </a:lnTo>
                  <a:lnTo>
                    <a:pt x="1500320" y="652158"/>
                  </a:lnTo>
                  <a:lnTo>
                    <a:pt x="0" y="6521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500320" cy="699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094986" y="7090737"/>
            <a:ext cx="4098029" cy="1781328"/>
            <a:chOff x="0" y="0"/>
            <a:chExt cx="1500320" cy="6521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00320" cy="652158"/>
            </a:xfrm>
            <a:custGeom>
              <a:avLst/>
              <a:gdLst/>
              <a:ahLst/>
              <a:cxnLst/>
              <a:rect r="r" b="b" t="t" l="l"/>
              <a:pathLst>
                <a:path h="652158" w="1500320">
                  <a:moveTo>
                    <a:pt x="0" y="0"/>
                  </a:moveTo>
                  <a:lnTo>
                    <a:pt x="1500320" y="0"/>
                  </a:lnTo>
                  <a:lnTo>
                    <a:pt x="1500320" y="652158"/>
                  </a:lnTo>
                  <a:lnTo>
                    <a:pt x="0" y="6521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500320" cy="699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135289" y="5903454"/>
            <a:ext cx="1213249" cy="455476"/>
            <a:chOff x="0" y="0"/>
            <a:chExt cx="812800" cy="305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305140"/>
            </a:xfrm>
            <a:custGeom>
              <a:avLst/>
              <a:gdLst/>
              <a:ahLst/>
              <a:cxnLst/>
              <a:rect r="r" b="b" t="t" l="l"/>
              <a:pathLst>
                <a:path h="305140" w="812800">
                  <a:moveTo>
                    <a:pt x="406400" y="30514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305140"/>
                  </a:lnTo>
                  <a:close/>
                </a:path>
              </a:pathLst>
            </a:custGeom>
            <a:solidFill>
              <a:srgbClr val="93B1B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27000" y="-25829"/>
              <a:ext cx="558800" cy="18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537376" y="5903454"/>
            <a:ext cx="1213249" cy="455476"/>
            <a:chOff x="0" y="0"/>
            <a:chExt cx="812800" cy="3051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305140"/>
            </a:xfrm>
            <a:custGeom>
              <a:avLst/>
              <a:gdLst/>
              <a:ahLst/>
              <a:cxnLst/>
              <a:rect r="r" b="b" t="t" l="l"/>
              <a:pathLst>
                <a:path h="305140" w="812800">
                  <a:moveTo>
                    <a:pt x="406400" y="30514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305140"/>
                  </a:lnTo>
                  <a:close/>
                </a:path>
              </a:pathLst>
            </a:custGeom>
            <a:solidFill>
              <a:srgbClr val="9AC4A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27000" y="-25829"/>
              <a:ext cx="558800" cy="18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135289" y="9190774"/>
            <a:ext cx="1213249" cy="455476"/>
            <a:chOff x="0" y="0"/>
            <a:chExt cx="812800" cy="3051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305140"/>
            </a:xfrm>
            <a:custGeom>
              <a:avLst/>
              <a:gdLst/>
              <a:ahLst/>
              <a:cxnLst/>
              <a:rect r="r" b="b" t="t" l="l"/>
              <a:pathLst>
                <a:path h="305140" w="812800">
                  <a:moveTo>
                    <a:pt x="406400" y="30514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305140"/>
                  </a:lnTo>
                  <a:close/>
                </a:path>
              </a:pathLst>
            </a:custGeom>
            <a:solidFill>
              <a:srgbClr val="4E7C7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27000" y="-25829"/>
              <a:ext cx="558800" cy="18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37376" y="9190774"/>
            <a:ext cx="1213249" cy="455476"/>
            <a:chOff x="0" y="0"/>
            <a:chExt cx="812800" cy="3051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305140"/>
            </a:xfrm>
            <a:custGeom>
              <a:avLst/>
              <a:gdLst/>
              <a:ahLst/>
              <a:cxnLst/>
              <a:rect r="r" b="b" t="t" l="l"/>
              <a:pathLst>
                <a:path h="305140" w="812800">
                  <a:moveTo>
                    <a:pt x="406400" y="30514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305140"/>
                  </a:lnTo>
                  <a:close/>
                </a:path>
              </a:pathLst>
            </a:custGeom>
            <a:solidFill>
              <a:srgbClr val="3B5D5A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27000" y="-25829"/>
              <a:ext cx="558800" cy="18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4364906" y="942975"/>
            <a:ext cx="9558189" cy="87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b="true" sz="5200" spc="114">
                <a:solidFill>
                  <a:srgbClr val="212D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SALES PROCESS ROADMAP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035824" y="2038805"/>
            <a:ext cx="1021635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Fusce tempor, velit sit amet porta efficitur, ex ipsum porta dui, quis accumsan lorem ante nec lacus. 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233508" y="4086062"/>
            <a:ext cx="4625157" cy="1826916"/>
            <a:chOff x="0" y="0"/>
            <a:chExt cx="1693306" cy="6688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93306" cy="668848"/>
            </a:xfrm>
            <a:custGeom>
              <a:avLst/>
              <a:gdLst/>
              <a:ahLst/>
              <a:cxnLst/>
              <a:rect r="r" b="b" t="t" l="l"/>
              <a:pathLst>
                <a:path h="668848" w="1693306">
                  <a:moveTo>
                    <a:pt x="0" y="0"/>
                  </a:moveTo>
                  <a:lnTo>
                    <a:pt x="1693306" y="0"/>
                  </a:lnTo>
                  <a:lnTo>
                    <a:pt x="1693306" y="668848"/>
                  </a:lnTo>
                  <a:lnTo>
                    <a:pt x="0" y="668848"/>
                  </a:lnTo>
                  <a:close/>
                </a:path>
              </a:pathLst>
            </a:custGeom>
            <a:solidFill>
              <a:srgbClr val="5F8883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693306" cy="716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33508" y="7373382"/>
            <a:ext cx="4625157" cy="1826916"/>
            <a:chOff x="0" y="0"/>
            <a:chExt cx="1693306" cy="6688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93306" cy="668848"/>
            </a:xfrm>
            <a:custGeom>
              <a:avLst/>
              <a:gdLst/>
              <a:ahLst/>
              <a:cxnLst/>
              <a:rect r="r" b="b" t="t" l="l"/>
              <a:pathLst>
                <a:path h="668848" w="1693306">
                  <a:moveTo>
                    <a:pt x="0" y="0"/>
                  </a:moveTo>
                  <a:lnTo>
                    <a:pt x="1693306" y="0"/>
                  </a:lnTo>
                  <a:lnTo>
                    <a:pt x="1693306" y="668848"/>
                  </a:lnTo>
                  <a:lnTo>
                    <a:pt x="0" y="668848"/>
                  </a:lnTo>
                  <a:close/>
                </a:path>
              </a:pathLst>
            </a:custGeom>
            <a:solidFill>
              <a:srgbClr val="212D37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693306" cy="716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97072" y="3803417"/>
            <a:ext cx="4098029" cy="1781328"/>
            <a:chOff x="0" y="0"/>
            <a:chExt cx="1500320" cy="65215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00320" cy="652158"/>
            </a:xfrm>
            <a:custGeom>
              <a:avLst/>
              <a:gdLst/>
              <a:ahLst/>
              <a:cxnLst/>
              <a:rect r="r" b="b" t="t" l="l"/>
              <a:pathLst>
                <a:path h="652158" w="1500320">
                  <a:moveTo>
                    <a:pt x="0" y="0"/>
                  </a:moveTo>
                  <a:lnTo>
                    <a:pt x="1500320" y="0"/>
                  </a:lnTo>
                  <a:lnTo>
                    <a:pt x="1500320" y="652158"/>
                  </a:lnTo>
                  <a:lnTo>
                    <a:pt x="0" y="6521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500320" cy="699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97072" y="7090737"/>
            <a:ext cx="4098029" cy="1781328"/>
            <a:chOff x="0" y="0"/>
            <a:chExt cx="1500320" cy="65215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00320" cy="652158"/>
            </a:xfrm>
            <a:custGeom>
              <a:avLst/>
              <a:gdLst/>
              <a:ahLst/>
              <a:cxnLst/>
              <a:rect r="r" b="b" t="t" l="l"/>
              <a:pathLst>
                <a:path h="652158" w="1500320">
                  <a:moveTo>
                    <a:pt x="0" y="0"/>
                  </a:moveTo>
                  <a:lnTo>
                    <a:pt x="1500320" y="0"/>
                  </a:lnTo>
                  <a:lnTo>
                    <a:pt x="1500320" y="652158"/>
                  </a:lnTo>
                  <a:lnTo>
                    <a:pt x="0" y="6521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500320" cy="699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939462" y="5903454"/>
            <a:ext cx="1213249" cy="455476"/>
            <a:chOff x="0" y="0"/>
            <a:chExt cx="812800" cy="3051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305140"/>
            </a:xfrm>
            <a:custGeom>
              <a:avLst/>
              <a:gdLst/>
              <a:ahLst/>
              <a:cxnLst/>
              <a:rect r="r" b="b" t="t" l="l"/>
              <a:pathLst>
                <a:path h="305140" w="812800">
                  <a:moveTo>
                    <a:pt x="406400" y="30514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305140"/>
                  </a:lnTo>
                  <a:close/>
                </a:path>
              </a:pathLst>
            </a:custGeom>
            <a:solidFill>
              <a:srgbClr val="5F8883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127000" y="-25829"/>
              <a:ext cx="558800" cy="18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939462" y="9190774"/>
            <a:ext cx="1213249" cy="455476"/>
            <a:chOff x="0" y="0"/>
            <a:chExt cx="812800" cy="3051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305140"/>
            </a:xfrm>
            <a:custGeom>
              <a:avLst/>
              <a:gdLst/>
              <a:ahLst/>
              <a:cxnLst/>
              <a:rect r="r" b="b" t="t" l="l"/>
              <a:pathLst>
                <a:path h="305140" w="812800">
                  <a:moveTo>
                    <a:pt x="406400" y="30514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305140"/>
                  </a:lnTo>
                  <a:close/>
                </a:path>
              </a:pathLst>
            </a:custGeom>
            <a:solidFill>
              <a:srgbClr val="212D37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127000" y="-25829"/>
              <a:ext cx="558800" cy="18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957330" y="4090595"/>
            <a:ext cx="35691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Prospect Identification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957330" y="7377915"/>
            <a:ext cx="35691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Offer Presentation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359417" y="4090595"/>
            <a:ext cx="35691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Prospect Qualification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359417" y="7377915"/>
            <a:ext cx="35691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Negotiation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220351" y="4585733"/>
            <a:ext cx="3043125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Find and identify prospects that match your target market.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220351" y="7873053"/>
            <a:ext cx="304312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Present the product and identify issues for improvement.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622438" y="4585733"/>
            <a:ext cx="304312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Validate prospects before moving forward with product prototyping.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622438" y="7873053"/>
            <a:ext cx="304312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Negotiate terms and adjust based on feedback from product testing.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761504" y="4090595"/>
            <a:ext cx="35691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Initial Approach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761504" y="7377915"/>
            <a:ext cx="35691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212D3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Closing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024524" y="4585733"/>
            <a:ext cx="304312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Analyze trends and customer needs to validate the product idea.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024524" y="7873053"/>
            <a:ext cx="304312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E2D4F"/>
                </a:solidFill>
                <a:latin typeface="Inter"/>
                <a:ea typeface="Inter"/>
                <a:cs typeface="Inter"/>
                <a:sym typeface="Inter"/>
              </a:rPr>
              <a:t>Finalize the deal and launch the product with an integrated marketing strategy.</a:t>
            </a:r>
          </a:p>
        </p:txBody>
      </p:sp>
      <p:sp>
        <p:nvSpPr>
          <p:cNvPr name="Freeform 71" id="71"/>
          <p:cNvSpPr/>
          <p:nvPr/>
        </p:nvSpPr>
        <p:spPr>
          <a:xfrm flipH="false" flipV="false" rot="4428852">
            <a:off x="-1088187" y="-829305"/>
            <a:ext cx="2392326" cy="2057400"/>
          </a:xfrm>
          <a:custGeom>
            <a:avLst/>
            <a:gdLst/>
            <a:ahLst/>
            <a:cxnLst/>
            <a:rect r="r" b="b" t="t" l="l"/>
            <a:pathLst>
              <a:path h="2057400" w="2392326">
                <a:moveTo>
                  <a:pt x="0" y="0"/>
                </a:moveTo>
                <a:lnTo>
                  <a:pt x="2392325" y="0"/>
                </a:lnTo>
                <a:lnTo>
                  <a:pt x="2392325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7016141" y="-1236109"/>
            <a:ext cx="2543719" cy="2387916"/>
          </a:xfrm>
          <a:custGeom>
            <a:avLst/>
            <a:gdLst/>
            <a:ahLst/>
            <a:cxnLst/>
            <a:rect r="r" b="b" t="t" l="l"/>
            <a:pathLst>
              <a:path h="2387916" w="2543719">
                <a:moveTo>
                  <a:pt x="0" y="0"/>
                </a:moveTo>
                <a:lnTo>
                  <a:pt x="2543718" y="0"/>
                </a:lnTo>
                <a:lnTo>
                  <a:pt x="2543718" y="2387916"/>
                </a:lnTo>
                <a:lnTo>
                  <a:pt x="0" y="23879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DAHAGZUGrMM</dc:identifier>
  <dcterms:modified xsi:type="dcterms:W3CDTF">2011-08-01T06:04:30Z</dcterms:modified>
  <cp:revision>1</cp:revision>
  <dc:title>Teal and Gray Modern Product Development Roadmap Presentation</dc:title>
</cp:coreProperties>
</file>