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26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</p:sldIdLst>
  <p:sldSz cx="18288000" cy="10287000"/>
  <p:notesSz cx="6858000" cy="9144000"/>
  <p:embeddedFontLst>
    <p:embeddedFont>
      <p:font typeface="Arimo" charset="1" panose="020B0604020202020204"/>
      <p:regular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fonts/font25.fntdata" Type="http://schemas.openxmlformats.org/officeDocument/2006/relationships/font"/><Relationship Id="rId26" Target="notesMasters/notesMaster1.xml" Type="http://schemas.openxmlformats.org/officeDocument/2006/relationships/notesMaster"/><Relationship Id="rId27" Target="theme/theme2.xml" Type="http://schemas.openxmlformats.org/officeDocument/2006/relationships/theme"/><Relationship Id="rId28" Target="notesSlides/notesSlide1.xml" Type="http://schemas.openxmlformats.org/officeDocument/2006/relationships/notesSlide"/><Relationship Id="rId29" Target="notesSlides/notesSlide2.xml" Type="http://schemas.openxmlformats.org/officeDocument/2006/relationships/notesSlide"/><Relationship Id="rId3" Target="viewProps.xml" Type="http://schemas.openxmlformats.org/officeDocument/2006/relationships/viewProps"/><Relationship Id="rId30" Target="notesSlides/notesSlide3.xml" Type="http://schemas.openxmlformats.org/officeDocument/2006/relationships/notesSlide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1.png" Type="http://schemas.openxmlformats.org/officeDocument/2006/relationships/image"/><Relationship Id="rId4" Target="../media/image12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2" Target="../media/image13.png" Type="http://schemas.openxmlformats.org/officeDocument/2006/relationships/image"/><Relationship Id="rId3" Target="../media/image14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8.svg" Type="http://schemas.openxmlformats.org/officeDocument/2006/relationships/image"/><Relationship Id="rId11" Target="../media/image17.png" Type="http://schemas.openxmlformats.org/officeDocument/2006/relationships/image"/><Relationship Id="rId12" Target="../media/image18.svg" Type="http://schemas.openxmlformats.org/officeDocument/2006/relationships/image"/><Relationship Id="rId2" Target="../notesSlides/notesSlide2.xml" Type="http://schemas.openxmlformats.org/officeDocument/2006/relationships/notesSlide"/><Relationship Id="rId3" Target="../media/image15.png" Type="http://schemas.openxmlformats.org/officeDocument/2006/relationships/image"/><Relationship Id="rId4" Target="../media/image16.svg" Type="http://schemas.openxmlformats.org/officeDocument/2006/relationships/image"/><Relationship Id="rId5" Target="../media/image3.png" Type="http://schemas.openxmlformats.org/officeDocument/2006/relationships/image"/><Relationship Id="rId6" Target="../media/image4.svg" Type="http://schemas.openxmlformats.org/officeDocument/2006/relationships/image"/><Relationship Id="rId7" Target="../media/image5.png" Type="http://schemas.openxmlformats.org/officeDocument/2006/relationships/image"/><Relationship Id="rId8" Target="../media/image6.svg" Type="http://schemas.openxmlformats.org/officeDocument/2006/relationships/image"/><Relationship Id="rId9" Target="../media/image7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8.svg" Type="http://schemas.openxmlformats.org/officeDocument/2006/relationships/image"/><Relationship Id="rId11" Target="../media/image3.png" Type="http://schemas.openxmlformats.org/officeDocument/2006/relationships/image"/><Relationship Id="rId12" Target="../media/image4.svg" Type="http://schemas.openxmlformats.org/officeDocument/2006/relationships/image"/><Relationship Id="rId2" Target="../notesSlides/notesSlide3.xml" Type="http://schemas.openxmlformats.org/officeDocument/2006/relationships/notesSlide"/><Relationship Id="rId3" Target="../media/image19.png" Type="http://schemas.openxmlformats.org/officeDocument/2006/relationships/image"/><Relationship Id="rId4" Target="../media/image20.svg" Type="http://schemas.openxmlformats.org/officeDocument/2006/relationships/image"/><Relationship Id="rId5" Target="../media/image5.png" Type="http://schemas.openxmlformats.org/officeDocument/2006/relationships/image"/><Relationship Id="rId6" Target="../media/image6.svg" Type="http://schemas.openxmlformats.org/officeDocument/2006/relationships/image"/><Relationship Id="rId7" Target="../media/image7.png" Type="http://schemas.openxmlformats.org/officeDocument/2006/relationships/image"/><Relationship Id="rId8" Target="../media/image8.svg" Type="http://schemas.openxmlformats.org/officeDocument/2006/relationships/image"/><Relationship Id="rId9" Target="../media/image17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Relationship Id="rId3" Target="../media/image2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23.png" Type="http://schemas.openxmlformats.org/officeDocument/2006/relationships/image"/><Relationship Id="rId7" Target="../media/image24.svg" Type="http://schemas.openxmlformats.org/officeDocument/2006/relationships/image"/><Relationship Id="rId8" Target="../media/image25.png" Type="http://schemas.openxmlformats.org/officeDocument/2006/relationships/image"/><Relationship Id="rId9" Target="../media/image26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5.png" Type="http://schemas.openxmlformats.org/officeDocument/2006/relationships/image"/><Relationship Id="rId11" Target="../media/image36.svg" Type="http://schemas.openxmlformats.org/officeDocument/2006/relationships/image"/><Relationship Id="rId2" Target="../media/image27.png" Type="http://schemas.openxmlformats.org/officeDocument/2006/relationships/image"/><Relationship Id="rId3" Target="../media/image28.svg" Type="http://schemas.openxmlformats.org/officeDocument/2006/relationships/image"/><Relationship Id="rId4" Target="../media/image29.png" Type="http://schemas.openxmlformats.org/officeDocument/2006/relationships/image"/><Relationship Id="rId5" Target="../media/image30.svg" Type="http://schemas.openxmlformats.org/officeDocument/2006/relationships/image"/><Relationship Id="rId6" Target="../media/image31.png" Type="http://schemas.openxmlformats.org/officeDocument/2006/relationships/image"/><Relationship Id="rId7" Target="../media/image32.svg" Type="http://schemas.openxmlformats.org/officeDocument/2006/relationships/image"/><Relationship Id="rId8" Target="../media/image33.png" Type="http://schemas.openxmlformats.org/officeDocument/2006/relationships/image"/><Relationship Id="rId9" Target="../media/image34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7.png" Type="http://schemas.openxmlformats.org/officeDocument/2006/relationships/image"/><Relationship Id="rId3" Target="../media/image38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5.png" Type="http://schemas.openxmlformats.org/officeDocument/2006/relationships/image"/><Relationship Id="rId11" Target="../media/image46.svg" Type="http://schemas.openxmlformats.org/officeDocument/2006/relationships/image"/><Relationship Id="rId12" Target="../media/image47.png" Type="http://schemas.openxmlformats.org/officeDocument/2006/relationships/image"/><Relationship Id="rId13" Target="../media/image48.svg" Type="http://schemas.openxmlformats.org/officeDocument/2006/relationships/image"/><Relationship Id="rId2" Target="../media/image39.png" Type="http://schemas.openxmlformats.org/officeDocument/2006/relationships/image"/><Relationship Id="rId3" Target="../media/image40.svg" Type="http://schemas.openxmlformats.org/officeDocument/2006/relationships/image"/><Relationship Id="rId4" Target="../media/image27.png" Type="http://schemas.openxmlformats.org/officeDocument/2006/relationships/image"/><Relationship Id="rId5" Target="../media/image28.svg" Type="http://schemas.openxmlformats.org/officeDocument/2006/relationships/image"/><Relationship Id="rId6" Target="../media/image41.png" Type="http://schemas.openxmlformats.org/officeDocument/2006/relationships/image"/><Relationship Id="rId7" Target="../media/image42.svg" Type="http://schemas.openxmlformats.org/officeDocument/2006/relationships/image"/><Relationship Id="rId8" Target="../media/image43.png" Type="http://schemas.openxmlformats.org/officeDocument/2006/relationships/image"/><Relationship Id="rId9" Target="../media/image44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.png" Type="http://schemas.openxmlformats.org/officeDocument/2006/relationships/image"/><Relationship Id="rId11" Target="../media/image8.svg" Type="http://schemas.openxmlformats.org/officeDocument/2006/relationships/image"/><Relationship Id="rId2" Target="../media/image49.png" Type="http://schemas.openxmlformats.org/officeDocument/2006/relationships/image"/><Relationship Id="rId3" Target="../media/image50.svg" Type="http://schemas.openxmlformats.org/officeDocument/2006/relationships/image"/><Relationship Id="rId4" Target="../media/image51.png" Type="http://schemas.openxmlformats.org/officeDocument/2006/relationships/image"/><Relationship Id="rId5" Target="../media/image52.svg" Type="http://schemas.openxmlformats.org/officeDocument/2006/relationships/image"/><Relationship Id="rId6" Target="../media/image53.png" Type="http://schemas.openxmlformats.org/officeDocument/2006/relationships/image"/><Relationship Id="rId7" Target="../media/image54.svg" Type="http://schemas.openxmlformats.org/officeDocument/2006/relationships/image"/><Relationship Id="rId8" Target="../media/image5.png" Type="http://schemas.openxmlformats.org/officeDocument/2006/relationships/image"/><Relationship Id="rId9" Target="../media/image6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.png" Type="http://schemas.openxmlformats.org/officeDocument/2006/relationships/image"/><Relationship Id="rId11" Target="../media/image8.svg" Type="http://schemas.openxmlformats.org/officeDocument/2006/relationships/image"/><Relationship Id="rId12" Target="../media/image59.png" Type="http://schemas.openxmlformats.org/officeDocument/2006/relationships/image"/><Relationship Id="rId13" Target="../media/image60.svg" Type="http://schemas.openxmlformats.org/officeDocument/2006/relationships/image"/><Relationship Id="rId2" Target="../media/image55.png" Type="http://schemas.openxmlformats.org/officeDocument/2006/relationships/image"/><Relationship Id="rId3" Target="../media/image56.svg" Type="http://schemas.openxmlformats.org/officeDocument/2006/relationships/image"/><Relationship Id="rId4" Target="../media/image57.png" Type="http://schemas.openxmlformats.org/officeDocument/2006/relationships/image"/><Relationship Id="rId5" Target="../media/image58.svg" Type="http://schemas.openxmlformats.org/officeDocument/2006/relationships/image"/><Relationship Id="rId6" Target="../media/image45.png" Type="http://schemas.openxmlformats.org/officeDocument/2006/relationships/image"/><Relationship Id="rId7" Target="../media/image46.svg" Type="http://schemas.openxmlformats.org/officeDocument/2006/relationships/image"/><Relationship Id="rId8" Target="../media/image9.png" Type="http://schemas.openxmlformats.org/officeDocument/2006/relationships/image"/><Relationship Id="rId9" Target="../media/image10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2" Target="../media/image61.png" Type="http://schemas.openxmlformats.org/officeDocument/2006/relationships/image"/><Relationship Id="rId3" Target="../media/image62.svg" Type="http://schemas.openxmlformats.org/officeDocument/2006/relationships/image"/><Relationship Id="rId4" Target="../media/image63.png" Type="http://schemas.openxmlformats.org/officeDocument/2006/relationships/image"/><Relationship Id="rId5" Target="../media/image6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5.png" Type="http://schemas.openxmlformats.org/officeDocument/2006/relationships/image"/><Relationship Id="rId3" Target="../media/image66.svg" Type="http://schemas.openxmlformats.org/officeDocument/2006/relationships/image"/><Relationship Id="rId4" Target="../media/image67.png" Type="http://schemas.openxmlformats.org/officeDocument/2006/relationships/image"/><Relationship Id="rId5" Target="../media/image68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5.png" Type="http://schemas.openxmlformats.org/officeDocument/2006/relationships/image"/><Relationship Id="rId11" Target="../media/image76.svg" Type="http://schemas.openxmlformats.org/officeDocument/2006/relationships/image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69.png" Type="http://schemas.openxmlformats.org/officeDocument/2006/relationships/image"/><Relationship Id="rId5" Target="../media/image70.svg" Type="http://schemas.openxmlformats.org/officeDocument/2006/relationships/image"/><Relationship Id="rId6" Target="../media/image71.png" Type="http://schemas.openxmlformats.org/officeDocument/2006/relationships/image"/><Relationship Id="rId7" Target="../media/image72.svg" Type="http://schemas.openxmlformats.org/officeDocument/2006/relationships/image"/><Relationship Id="rId8" Target="../media/image73.png" Type="http://schemas.openxmlformats.org/officeDocument/2006/relationships/image"/><Relationship Id="rId9" Target="../media/image74.sv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1.png" Type="http://schemas.openxmlformats.org/officeDocument/2006/relationships/image"/><Relationship Id="rId11" Target="../media/image52.svg" Type="http://schemas.openxmlformats.org/officeDocument/2006/relationships/image"/><Relationship Id="rId2" Target="../media/image77.png" Type="http://schemas.openxmlformats.org/officeDocument/2006/relationships/image"/><Relationship Id="rId3" Target="../media/image78.svg" Type="http://schemas.openxmlformats.org/officeDocument/2006/relationships/image"/><Relationship Id="rId4" Target="../media/image31.png" Type="http://schemas.openxmlformats.org/officeDocument/2006/relationships/image"/><Relationship Id="rId5" Target="../media/image32.svg" Type="http://schemas.openxmlformats.org/officeDocument/2006/relationships/image"/><Relationship Id="rId6" Target="../media/image73.png" Type="http://schemas.openxmlformats.org/officeDocument/2006/relationships/image"/><Relationship Id="rId7" Target="../media/image74.svg" Type="http://schemas.openxmlformats.org/officeDocument/2006/relationships/image"/><Relationship Id="rId8" Target="../media/image79.png" Type="http://schemas.openxmlformats.org/officeDocument/2006/relationships/image"/><Relationship Id="rId9" Target="../media/image80.sv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2" Target="../media/image81.png" Type="http://schemas.openxmlformats.org/officeDocument/2006/relationships/image"/><Relationship Id="rId3" Target="../media/image8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9.png" Type="http://schemas.openxmlformats.org/officeDocument/2006/relationships/image"/><Relationship Id="rId11" Target="../media/image80.svg" Type="http://schemas.openxmlformats.org/officeDocument/2006/relationships/image"/><Relationship Id="rId12" Target="../media/image51.png" Type="http://schemas.openxmlformats.org/officeDocument/2006/relationships/image"/><Relationship Id="rId13" Target="../media/image52.svg" Type="http://schemas.openxmlformats.org/officeDocument/2006/relationships/image"/><Relationship Id="rId2" Target="../media/image83.png" Type="http://schemas.openxmlformats.org/officeDocument/2006/relationships/image"/><Relationship Id="rId3" Target="../media/image84.svg" Type="http://schemas.openxmlformats.org/officeDocument/2006/relationships/image"/><Relationship Id="rId4" Target="../media/image29.png" Type="http://schemas.openxmlformats.org/officeDocument/2006/relationships/image"/><Relationship Id="rId5" Target="../media/image30.svg" Type="http://schemas.openxmlformats.org/officeDocument/2006/relationships/image"/><Relationship Id="rId6" Target="../media/image31.png" Type="http://schemas.openxmlformats.org/officeDocument/2006/relationships/image"/><Relationship Id="rId7" Target="../media/image32.svg" Type="http://schemas.openxmlformats.org/officeDocument/2006/relationships/image"/><Relationship Id="rId8" Target="../media/image73.png" Type="http://schemas.openxmlformats.org/officeDocument/2006/relationships/image"/><Relationship Id="rId9" Target="../media/image74.sv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9.png" Type="http://schemas.openxmlformats.org/officeDocument/2006/relationships/image"/><Relationship Id="rId11" Target="../media/image80.svg" Type="http://schemas.openxmlformats.org/officeDocument/2006/relationships/image"/><Relationship Id="rId12" Target="../media/image51.png" Type="http://schemas.openxmlformats.org/officeDocument/2006/relationships/image"/><Relationship Id="rId13" Target="../media/image52.svg" Type="http://schemas.openxmlformats.org/officeDocument/2006/relationships/image"/><Relationship Id="rId2" Target="../media/image85.png" Type="http://schemas.openxmlformats.org/officeDocument/2006/relationships/image"/><Relationship Id="rId3" Target="../media/image86.svg" Type="http://schemas.openxmlformats.org/officeDocument/2006/relationships/image"/><Relationship Id="rId4" Target="../media/image29.png" Type="http://schemas.openxmlformats.org/officeDocument/2006/relationships/image"/><Relationship Id="rId5" Target="../media/image30.svg" Type="http://schemas.openxmlformats.org/officeDocument/2006/relationships/image"/><Relationship Id="rId6" Target="../media/image69.png" Type="http://schemas.openxmlformats.org/officeDocument/2006/relationships/image"/><Relationship Id="rId7" Target="../media/image70.svg" Type="http://schemas.openxmlformats.org/officeDocument/2006/relationships/image"/><Relationship Id="rId8" Target="../media/image53.png" Type="http://schemas.openxmlformats.org/officeDocument/2006/relationships/image"/><Relationship Id="rId9" Target="../media/image54.sv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7.png" Type="http://schemas.openxmlformats.org/officeDocument/2006/relationships/image"/><Relationship Id="rId11" Target="../media/image18.svg" Type="http://schemas.openxmlformats.org/officeDocument/2006/relationships/image"/><Relationship Id="rId2" Target="../media/image87.png" Type="http://schemas.openxmlformats.org/officeDocument/2006/relationships/image"/><Relationship Id="rId3" Target="../media/image88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822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583874" y="866775"/>
            <a:ext cx="15103486" cy="742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59"/>
              </a:lnSpc>
            </a:pPr>
            <a:r>
              <a:rPr lang="en-US" sz="48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Summit of Success Pyramid - 4 Stages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3571647" y="2589972"/>
            <a:ext cx="12841980" cy="6485200"/>
          </a:xfrm>
          <a:custGeom>
            <a:avLst/>
            <a:gdLst/>
            <a:ahLst/>
            <a:cxnLst/>
            <a:rect r="r" b="b" t="t" l="l"/>
            <a:pathLst>
              <a:path h="6485200" w="12841980">
                <a:moveTo>
                  <a:pt x="0" y="0"/>
                </a:moveTo>
                <a:lnTo>
                  <a:pt x="12841979" y="0"/>
                </a:lnTo>
                <a:lnTo>
                  <a:pt x="12841979" y="6485200"/>
                </a:lnTo>
                <a:lnTo>
                  <a:pt x="0" y="64852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482705" y="3179036"/>
            <a:ext cx="419036" cy="558714"/>
          </a:xfrm>
          <a:custGeom>
            <a:avLst/>
            <a:gdLst/>
            <a:ahLst/>
            <a:cxnLst/>
            <a:rect r="r" b="b" t="t" l="l"/>
            <a:pathLst>
              <a:path h="558714" w="419036">
                <a:moveTo>
                  <a:pt x="0" y="0"/>
                </a:moveTo>
                <a:lnTo>
                  <a:pt x="419036" y="0"/>
                </a:lnTo>
                <a:lnTo>
                  <a:pt x="419036" y="558714"/>
                </a:lnTo>
                <a:lnTo>
                  <a:pt x="0" y="55871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2391017" y="4709300"/>
            <a:ext cx="602412" cy="602412"/>
          </a:xfrm>
          <a:custGeom>
            <a:avLst/>
            <a:gdLst/>
            <a:ahLst/>
            <a:cxnLst/>
            <a:rect r="r" b="b" t="t" l="l"/>
            <a:pathLst>
              <a:path h="602412" w="602412">
                <a:moveTo>
                  <a:pt x="0" y="0"/>
                </a:moveTo>
                <a:lnTo>
                  <a:pt x="602412" y="0"/>
                </a:lnTo>
                <a:lnTo>
                  <a:pt x="602412" y="602412"/>
                </a:lnTo>
                <a:lnTo>
                  <a:pt x="0" y="60241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2391017" y="6313709"/>
            <a:ext cx="608673" cy="608673"/>
          </a:xfrm>
          <a:custGeom>
            <a:avLst/>
            <a:gdLst/>
            <a:ahLst/>
            <a:cxnLst/>
            <a:rect r="r" b="b" t="t" l="l"/>
            <a:pathLst>
              <a:path h="608673" w="608673">
                <a:moveTo>
                  <a:pt x="0" y="0"/>
                </a:moveTo>
                <a:lnTo>
                  <a:pt x="608673" y="0"/>
                </a:lnTo>
                <a:lnTo>
                  <a:pt x="608673" y="608674"/>
                </a:lnTo>
                <a:lnTo>
                  <a:pt x="0" y="60867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2391017" y="7924380"/>
            <a:ext cx="648361" cy="648361"/>
          </a:xfrm>
          <a:custGeom>
            <a:avLst/>
            <a:gdLst/>
            <a:ahLst/>
            <a:cxnLst/>
            <a:rect r="r" b="b" t="t" l="l"/>
            <a:pathLst>
              <a:path h="648361" w="648361">
                <a:moveTo>
                  <a:pt x="0" y="0"/>
                </a:moveTo>
                <a:lnTo>
                  <a:pt x="648361" y="0"/>
                </a:lnTo>
                <a:lnTo>
                  <a:pt x="648361" y="648361"/>
                </a:lnTo>
                <a:lnTo>
                  <a:pt x="0" y="64836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3382919" y="2589972"/>
            <a:ext cx="1485925" cy="1485925"/>
            <a:chOff x="0" y="0"/>
            <a:chExt cx="800416" cy="80041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00416" cy="800416"/>
            </a:xfrm>
            <a:custGeom>
              <a:avLst/>
              <a:gdLst/>
              <a:ahLst/>
              <a:cxnLst/>
              <a:rect r="r" b="b" t="t" l="l"/>
              <a:pathLst>
                <a:path h="800416" w="800416">
                  <a:moveTo>
                    <a:pt x="400208" y="0"/>
                  </a:moveTo>
                  <a:cubicBezTo>
                    <a:pt x="179179" y="0"/>
                    <a:pt x="0" y="179179"/>
                    <a:pt x="0" y="400208"/>
                  </a:cubicBezTo>
                  <a:cubicBezTo>
                    <a:pt x="0" y="621236"/>
                    <a:pt x="179179" y="800416"/>
                    <a:pt x="400208" y="800416"/>
                  </a:cubicBezTo>
                  <a:cubicBezTo>
                    <a:pt x="621236" y="800416"/>
                    <a:pt x="800416" y="621236"/>
                    <a:pt x="800416" y="400208"/>
                  </a:cubicBezTo>
                  <a:cubicBezTo>
                    <a:pt x="800416" y="179179"/>
                    <a:pt x="621236" y="0"/>
                    <a:pt x="400208" y="0"/>
                  </a:cubicBezTo>
                  <a:close/>
                </a:path>
              </a:pathLst>
            </a:custGeom>
            <a:solidFill>
              <a:srgbClr val="E1F14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5039" y="55989"/>
              <a:ext cx="650338" cy="669388"/>
            </a:xfrm>
            <a:prstGeom prst="rect">
              <a:avLst/>
            </a:prstGeom>
          </p:spPr>
          <p:txBody>
            <a:bodyPr anchor="ctr" rtlCol="false" tIns="88055" lIns="88055" bIns="88055" rIns="88055"/>
            <a:lstStyle/>
            <a:p>
              <a:pPr algn="ctr">
                <a:lnSpc>
                  <a:spcPts val="3359"/>
                </a:lnSpc>
              </a:pPr>
              <a:r>
                <a:rPr lang="en-US" sz="2799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01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2840452" y="4256397"/>
            <a:ext cx="1485925" cy="1485925"/>
            <a:chOff x="0" y="0"/>
            <a:chExt cx="800416" cy="800416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00416" cy="800416"/>
            </a:xfrm>
            <a:custGeom>
              <a:avLst/>
              <a:gdLst/>
              <a:ahLst/>
              <a:cxnLst/>
              <a:rect r="r" b="b" t="t" l="l"/>
              <a:pathLst>
                <a:path h="800416" w="800416">
                  <a:moveTo>
                    <a:pt x="400208" y="0"/>
                  </a:moveTo>
                  <a:cubicBezTo>
                    <a:pt x="179179" y="0"/>
                    <a:pt x="0" y="179179"/>
                    <a:pt x="0" y="400208"/>
                  </a:cubicBezTo>
                  <a:cubicBezTo>
                    <a:pt x="0" y="621236"/>
                    <a:pt x="179179" y="800416"/>
                    <a:pt x="400208" y="800416"/>
                  </a:cubicBezTo>
                  <a:cubicBezTo>
                    <a:pt x="621236" y="800416"/>
                    <a:pt x="800416" y="621236"/>
                    <a:pt x="800416" y="400208"/>
                  </a:cubicBezTo>
                  <a:cubicBezTo>
                    <a:pt x="800416" y="179179"/>
                    <a:pt x="621236" y="0"/>
                    <a:pt x="400208" y="0"/>
                  </a:cubicBezTo>
                  <a:close/>
                </a:path>
              </a:pathLst>
            </a:custGeom>
            <a:solidFill>
              <a:srgbClr val="64E09A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5039" y="55989"/>
              <a:ext cx="650338" cy="669388"/>
            </a:xfrm>
            <a:prstGeom prst="rect">
              <a:avLst/>
            </a:prstGeom>
          </p:spPr>
          <p:txBody>
            <a:bodyPr anchor="ctr" rtlCol="false" tIns="88055" lIns="88055" bIns="88055" rIns="88055"/>
            <a:lstStyle/>
            <a:p>
              <a:pPr algn="ctr">
                <a:lnSpc>
                  <a:spcPts val="3359"/>
                </a:lnSpc>
              </a:pPr>
              <a:r>
                <a:rPr lang="en-US" sz="2799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02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2297984" y="5922822"/>
            <a:ext cx="1485925" cy="1485925"/>
            <a:chOff x="0" y="0"/>
            <a:chExt cx="800416" cy="800416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00416" cy="800416"/>
            </a:xfrm>
            <a:custGeom>
              <a:avLst/>
              <a:gdLst/>
              <a:ahLst/>
              <a:cxnLst/>
              <a:rect r="r" b="b" t="t" l="l"/>
              <a:pathLst>
                <a:path h="800416" w="800416">
                  <a:moveTo>
                    <a:pt x="400208" y="0"/>
                  </a:moveTo>
                  <a:cubicBezTo>
                    <a:pt x="179179" y="0"/>
                    <a:pt x="0" y="179179"/>
                    <a:pt x="0" y="400208"/>
                  </a:cubicBezTo>
                  <a:cubicBezTo>
                    <a:pt x="0" y="621236"/>
                    <a:pt x="179179" y="800416"/>
                    <a:pt x="400208" y="800416"/>
                  </a:cubicBezTo>
                  <a:cubicBezTo>
                    <a:pt x="621236" y="800416"/>
                    <a:pt x="800416" y="621236"/>
                    <a:pt x="800416" y="400208"/>
                  </a:cubicBezTo>
                  <a:cubicBezTo>
                    <a:pt x="800416" y="179179"/>
                    <a:pt x="621236" y="0"/>
                    <a:pt x="400208" y="0"/>
                  </a:cubicBezTo>
                  <a:close/>
                </a:path>
              </a:pathLst>
            </a:custGeom>
            <a:solidFill>
              <a:srgbClr val="DBE6F1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75039" y="55989"/>
              <a:ext cx="650338" cy="669388"/>
            </a:xfrm>
            <a:prstGeom prst="rect">
              <a:avLst/>
            </a:prstGeom>
          </p:spPr>
          <p:txBody>
            <a:bodyPr anchor="ctr" rtlCol="false" tIns="88055" lIns="88055" bIns="88055" rIns="88055"/>
            <a:lstStyle/>
            <a:p>
              <a:pPr algn="ctr">
                <a:lnSpc>
                  <a:spcPts val="3359"/>
                </a:lnSpc>
              </a:pPr>
              <a:r>
                <a:rPr lang="en-US" sz="2799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03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755516" y="7589247"/>
            <a:ext cx="1485925" cy="1485925"/>
            <a:chOff x="0" y="0"/>
            <a:chExt cx="800416" cy="800416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00416" cy="800416"/>
            </a:xfrm>
            <a:custGeom>
              <a:avLst/>
              <a:gdLst/>
              <a:ahLst/>
              <a:cxnLst/>
              <a:rect r="r" b="b" t="t" l="l"/>
              <a:pathLst>
                <a:path h="800416" w="800416">
                  <a:moveTo>
                    <a:pt x="400208" y="0"/>
                  </a:moveTo>
                  <a:cubicBezTo>
                    <a:pt x="179179" y="0"/>
                    <a:pt x="0" y="179179"/>
                    <a:pt x="0" y="400208"/>
                  </a:cubicBezTo>
                  <a:cubicBezTo>
                    <a:pt x="0" y="621236"/>
                    <a:pt x="179179" y="800416"/>
                    <a:pt x="400208" y="800416"/>
                  </a:cubicBezTo>
                  <a:cubicBezTo>
                    <a:pt x="621236" y="800416"/>
                    <a:pt x="800416" y="621236"/>
                    <a:pt x="800416" y="400208"/>
                  </a:cubicBezTo>
                  <a:cubicBezTo>
                    <a:pt x="800416" y="179179"/>
                    <a:pt x="621236" y="0"/>
                    <a:pt x="400208" y="0"/>
                  </a:cubicBezTo>
                  <a:close/>
                </a:path>
              </a:pathLst>
            </a:custGeom>
            <a:solidFill>
              <a:srgbClr val="9C88F6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75039" y="55989"/>
              <a:ext cx="650338" cy="669388"/>
            </a:xfrm>
            <a:prstGeom prst="rect">
              <a:avLst/>
            </a:prstGeom>
          </p:spPr>
          <p:txBody>
            <a:bodyPr anchor="ctr" rtlCol="false" tIns="88055" lIns="88055" bIns="88055" rIns="88055"/>
            <a:lstStyle/>
            <a:p>
              <a:pPr algn="ctr">
                <a:lnSpc>
                  <a:spcPts val="3359"/>
                </a:lnSpc>
              </a:pPr>
              <a:r>
                <a:rPr lang="en-US" sz="2799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04</a:t>
              </a: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4520442" y="8247453"/>
            <a:ext cx="4220939" cy="5467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400">
                <a:solidFill>
                  <a:srgbClr val="FFFFFF">
                    <a:alpha val="74902"/>
                  </a:srgbClr>
                </a:solidFill>
                <a:latin typeface="Arimo"/>
                <a:ea typeface="Arimo"/>
                <a:cs typeface="Arimo"/>
                <a:sym typeface="Arimo"/>
              </a:rPr>
              <a:t>Stand tall at the Pinnacle of Triumph, </a:t>
            </a:r>
          </a:p>
          <a:p>
            <a:pPr algn="l">
              <a:lnSpc>
                <a:spcPts val="2100"/>
              </a:lnSpc>
            </a:pPr>
            <a:r>
              <a:rPr lang="en-US" sz="1400">
                <a:solidFill>
                  <a:srgbClr val="FFFFFF">
                    <a:alpha val="74902"/>
                  </a:srgbClr>
                </a:solidFill>
                <a:latin typeface="Arimo"/>
                <a:ea typeface="Arimo"/>
                <a:cs typeface="Arimo"/>
                <a:sym typeface="Arimo"/>
              </a:rPr>
              <a:t>celebrating strategic victories and excellence. 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4535975" y="7851484"/>
            <a:ext cx="4205406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3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Pinnacle of Triumph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6384061" y="3252547"/>
            <a:ext cx="4286250" cy="5467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100"/>
              </a:lnSpc>
            </a:pPr>
            <a:r>
              <a:rPr lang="en-US" sz="1400">
                <a:solidFill>
                  <a:srgbClr val="000000">
                    <a:alpha val="74902"/>
                  </a:srgbClr>
                </a:solidFill>
                <a:latin typeface="Arimo"/>
                <a:ea typeface="Arimo"/>
                <a:cs typeface="Arimo"/>
                <a:sym typeface="Arimo"/>
              </a:rPr>
              <a:t>Establish an Insightful Base, uncovering</a:t>
            </a:r>
          </a:p>
          <a:p>
            <a:pPr algn="just">
              <a:lnSpc>
                <a:spcPts val="2100"/>
              </a:lnSpc>
            </a:pPr>
            <a:r>
              <a:rPr lang="en-US" sz="1400">
                <a:solidFill>
                  <a:srgbClr val="000000">
                    <a:alpha val="74902"/>
                  </a:srgbClr>
                </a:solidFill>
                <a:latin typeface="Arimo"/>
                <a:ea typeface="Arimo"/>
                <a:cs typeface="Arimo"/>
                <a:sym typeface="Arimo"/>
              </a:rPr>
              <a:t>opportunities at the foundation of success. 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6384061" y="2847841"/>
            <a:ext cx="4286250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39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Insightful Base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5762854" y="4918914"/>
            <a:ext cx="4286250" cy="5467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400">
                <a:solidFill>
                  <a:srgbClr val="000000">
                    <a:alpha val="74902"/>
                  </a:srgbClr>
                </a:solidFill>
                <a:latin typeface="Arimo"/>
                <a:ea typeface="Arimo"/>
                <a:cs typeface="Arimo"/>
                <a:sym typeface="Arimo"/>
              </a:rPr>
              <a:t>Ascend the peaks of Strategic Ascent, where plans elevate towards profound success.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5762854" y="4518800"/>
            <a:ext cx="4286250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39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Strategic Ascent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5141648" y="6585231"/>
            <a:ext cx="4286250" cy="5467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100"/>
              </a:lnSpc>
            </a:pPr>
            <a:r>
              <a:rPr lang="en-US" sz="1400">
                <a:solidFill>
                  <a:srgbClr val="000000">
                    <a:alpha val="74902"/>
                  </a:srgbClr>
                </a:solidFill>
                <a:latin typeface="Arimo"/>
                <a:ea typeface="Arimo"/>
                <a:cs typeface="Arimo"/>
                <a:sym typeface="Arimo"/>
              </a:rPr>
              <a:t>Master Execution, seamlessly turning </a:t>
            </a:r>
          </a:p>
          <a:p>
            <a:pPr algn="just">
              <a:lnSpc>
                <a:spcPts val="2100"/>
              </a:lnSpc>
            </a:pPr>
            <a:r>
              <a:rPr lang="en-US" sz="1400">
                <a:solidFill>
                  <a:srgbClr val="000000">
                    <a:alpha val="74902"/>
                  </a:srgbClr>
                </a:solidFill>
                <a:latin typeface="Arimo"/>
                <a:ea typeface="Arimo"/>
                <a:cs typeface="Arimo"/>
                <a:sym typeface="Arimo"/>
              </a:rPr>
              <a:t>strategies into impactful achievements.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5141648" y="6185117"/>
            <a:ext cx="4286250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879"/>
              </a:lnSpc>
            </a:pPr>
            <a:r>
              <a:rPr lang="en-US" sz="239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Execution Mastery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621452" y="2411784"/>
            <a:ext cx="6519710" cy="7067437"/>
          </a:xfrm>
          <a:custGeom>
            <a:avLst/>
            <a:gdLst/>
            <a:ahLst/>
            <a:cxnLst/>
            <a:rect r="r" b="b" t="t" l="l"/>
            <a:pathLst>
              <a:path h="7067437" w="6519710">
                <a:moveTo>
                  <a:pt x="0" y="0"/>
                </a:moveTo>
                <a:lnTo>
                  <a:pt x="6519711" y="0"/>
                </a:lnTo>
                <a:lnTo>
                  <a:pt x="6519711" y="7067437"/>
                </a:lnTo>
                <a:lnTo>
                  <a:pt x="0" y="706743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3076347" y="2667000"/>
            <a:ext cx="485366" cy="489316"/>
            <a:chOff x="0" y="0"/>
            <a:chExt cx="807512" cy="81408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07512" cy="814083"/>
            </a:xfrm>
            <a:custGeom>
              <a:avLst/>
              <a:gdLst/>
              <a:ahLst/>
              <a:cxnLst/>
              <a:rect r="r" b="b" t="t" l="l"/>
              <a:pathLst>
                <a:path h="814083" w="807512">
                  <a:moveTo>
                    <a:pt x="403756" y="0"/>
                  </a:moveTo>
                  <a:cubicBezTo>
                    <a:pt x="180768" y="0"/>
                    <a:pt x="0" y="182239"/>
                    <a:pt x="0" y="407042"/>
                  </a:cubicBezTo>
                  <a:cubicBezTo>
                    <a:pt x="0" y="631844"/>
                    <a:pt x="180768" y="814083"/>
                    <a:pt x="403756" y="814083"/>
                  </a:cubicBezTo>
                  <a:cubicBezTo>
                    <a:pt x="626744" y="814083"/>
                    <a:pt x="807512" y="631844"/>
                    <a:pt x="807512" y="407042"/>
                  </a:cubicBezTo>
                  <a:cubicBezTo>
                    <a:pt x="807512" y="182239"/>
                    <a:pt x="626744" y="0"/>
                    <a:pt x="403756" y="0"/>
                  </a:cubicBezTo>
                  <a:close/>
                </a:path>
              </a:pathLst>
            </a:custGeom>
            <a:solidFill>
              <a:srgbClr val="E1F14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75704" y="57270"/>
              <a:ext cx="656103" cy="6804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19"/>
                </a:lnSpc>
              </a:pPr>
              <a:r>
                <a:rPr lang="en-US" sz="1599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01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3076347" y="4067175"/>
            <a:ext cx="485366" cy="489316"/>
            <a:chOff x="0" y="0"/>
            <a:chExt cx="807512" cy="81408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07512" cy="814083"/>
            </a:xfrm>
            <a:custGeom>
              <a:avLst/>
              <a:gdLst/>
              <a:ahLst/>
              <a:cxnLst/>
              <a:rect r="r" b="b" t="t" l="l"/>
              <a:pathLst>
                <a:path h="814083" w="807512">
                  <a:moveTo>
                    <a:pt x="403756" y="0"/>
                  </a:moveTo>
                  <a:cubicBezTo>
                    <a:pt x="180768" y="0"/>
                    <a:pt x="0" y="182239"/>
                    <a:pt x="0" y="407042"/>
                  </a:cubicBezTo>
                  <a:cubicBezTo>
                    <a:pt x="0" y="631844"/>
                    <a:pt x="180768" y="814083"/>
                    <a:pt x="403756" y="814083"/>
                  </a:cubicBezTo>
                  <a:cubicBezTo>
                    <a:pt x="626744" y="814083"/>
                    <a:pt x="807512" y="631844"/>
                    <a:pt x="807512" y="407042"/>
                  </a:cubicBezTo>
                  <a:cubicBezTo>
                    <a:pt x="807512" y="182239"/>
                    <a:pt x="626744" y="0"/>
                    <a:pt x="403756" y="0"/>
                  </a:cubicBezTo>
                  <a:close/>
                </a:path>
              </a:pathLst>
            </a:custGeom>
            <a:solidFill>
              <a:srgbClr val="64E09A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5704" y="57270"/>
              <a:ext cx="656103" cy="6804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19"/>
                </a:lnSpc>
              </a:pPr>
              <a:r>
                <a:rPr lang="en-US" sz="1599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02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3076347" y="5467350"/>
            <a:ext cx="485366" cy="489316"/>
            <a:chOff x="0" y="0"/>
            <a:chExt cx="807512" cy="814083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07512" cy="814083"/>
            </a:xfrm>
            <a:custGeom>
              <a:avLst/>
              <a:gdLst/>
              <a:ahLst/>
              <a:cxnLst/>
              <a:rect r="r" b="b" t="t" l="l"/>
              <a:pathLst>
                <a:path h="814083" w="807512">
                  <a:moveTo>
                    <a:pt x="403756" y="0"/>
                  </a:moveTo>
                  <a:cubicBezTo>
                    <a:pt x="180768" y="0"/>
                    <a:pt x="0" y="182239"/>
                    <a:pt x="0" y="407042"/>
                  </a:cubicBezTo>
                  <a:cubicBezTo>
                    <a:pt x="0" y="631844"/>
                    <a:pt x="180768" y="814083"/>
                    <a:pt x="403756" y="814083"/>
                  </a:cubicBezTo>
                  <a:cubicBezTo>
                    <a:pt x="626744" y="814083"/>
                    <a:pt x="807512" y="631844"/>
                    <a:pt x="807512" y="407042"/>
                  </a:cubicBezTo>
                  <a:cubicBezTo>
                    <a:pt x="807512" y="182239"/>
                    <a:pt x="626744" y="0"/>
                    <a:pt x="403756" y="0"/>
                  </a:cubicBezTo>
                  <a:close/>
                </a:path>
              </a:pathLst>
            </a:custGeom>
            <a:solidFill>
              <a:srgbClr val="DBE6F1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75704" y="57270"/>
              <a:ext cx="656103" cy="6804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19"/>
                </a:lnSpc>
              </a:pPr>
              <a:r>
                <a:rPr lang="en-US" sz="1599">
                  <a:solidFill>
                    <a:srgbClr val="08223C"/>
                  </a:solidFill>
                  <a:latin typeface="Arimo"/>
                  <a:ea typeface="Arimo"/>
                  <a:cs typeface="Arimo"/>
                  <a:sym typeface="Arimo"/>
                </a:rPr>
                <a:t>03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3076347" y="6867525"/>
            <a:ext cx="485366" cy="489316"/>
            <a:chOff x="0" y="0"/>
            <a:chExt cx="807512" cy="814083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07512" cy="814083"/>
            </a:xfrm>
            <a:custGeom>
              <a:avLst/>
              <a:gdLst/>
              <a:ahLst/>
              <a:cxnLst/>
              <a:rect r="r" b="b" t="t" l="l"/>
              <a:pathLst>
                <a:path h="814083" w="807512">
                  <a:moveTo>
                    <a:pt x="403756" y="0"/>
                  </a:moveTo>
                  <a:cubicBezTo>
                    <a:pt x="180768" y="0"/>
                    <a:pt x="0" y="182239"/>
                    <a:pt x="0" y="407042"/>
                  </a:cubicBezTo>
                  <a:cubicBezTo>
                    <a:pt x="0" y="631844"/>
                    <a:pt x="180768" y="814083"/>
                    <a:pt x="403756" y="814083"/>
                  </a:cubicBezTo>
                  <a:cubicBezTo>
                    <a:pt x="626744" y="814083"/>
                    <a:pt x="807512" y="631844"/>
                    <a:pt x="807512" y="407042"/>
                  </a:cubicBezTo>
                  <a:cubicBezTo>
                    <a:pt x="807512" y="182239"/>
                    <a:pt x="626744" y="0"/>
                    <a:pt x="403756" y="0"/>
                  </a:cubicBezTo>
                  <a:close/>
                </a:path>
              </a:pathLst>
            </a:custGeom>
            <a:solidFill>
              <a:srgbClr val="9C88F6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75704" y="57270"/>
              <a:ext cx="656103" cy="6804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19"/>
                </a:lnSpc>
              </a:pPr>
              <a:r>
                <a:rPr lang="en-US" sz="1599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04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3076347" y="8267700"/>
            <a:ext cx="485366" cy="489316"/>
            <a:chOff x="0" y="0"/>
            <a:chExt cx="807512" cy="814083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07512" cy="814083"/>
            </a:xfrm>
            <a:custGeom>
              <a:avLst/>
              <a:gdLst/>
              <a:ahLst/>
              <a:cxnLst/>
              <a:rect r="r" b="b" t="t" l="l"/>
              <a:pathLst>
                <a:path h="814083" w="807512">
                  <a:moveTo>
                    <a:pt x="403756" y="0"/>
                  </a:moveTo>
                  <a:cubicBezTo>
                    <a:pt x="180768" y="0"/>
                    <a:pt x="0" y="182239"/>
                    <a:pt x="0" y="407042"/>
                  </a:cubicBezTo>
                  <a:cubicBezTo>
                    <a:pt x="0" y="631844"/>
                    <a:pt x="180768" y="814083"/>
                    <a:pt x="403756" y="814083"/>
                  </a:cubicBezTo>
                  <a:cubicBezTo>
                    <a:pt x="626744" y="814083"/>
                    <a:pt x="807512" y="631844"/>
                    <a:pt x="807512" y="407042"/>
                  </a:cubicBezTo>
                  <a:cubicBezTo>
                    <a:pt x="807512" y="182239"/>
                    <a:pt x="626744" y="0"/>
                    <a:pt x="403756" y="0"/>
                  </a:cubicBezTo>
                  <a:close/>
                </a:path>
              </a:pathLst>
            </a:custGeom>
            <a:solidFill>
              <a:srgbClr val="16324F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75704" y="57270"/>
              <a:ext cx="656103" cy="6804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19"/>
                </a:lnSpc>
              </a:pPr>
              <a:r>
                <a:rPr lang="en-US" sz="1599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05</a:t>
              </a:r>
            </a:p>
          </p:txBody>
        </p:sp>
      </p:grpSp>
      <p:sp>
        <p:nvSpPr>
          <p:cNvPr name="AutoShape 18" id="18"/>
          <p:cNvSpPr/>
          <p:nvPr/>
        </p:nvSpPr>
        <p:spPr>
          <a:xfrm>
            <a:off x="3881851" y="2667000"/>
            <a:ext cx="0" cy="959870"/>
          </a:xfrm>
          <a:prstGeom prst="line">
            <a:avLst/>
          </a:prstGeom>
          <a:ln cap="flat" w="38100">
            <a:solidFill>
              <a:srgbClr val="E1F14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9" id="19"/>
          <p:cNvSpPr/>
          <p:nvPr/>
        </p:nvSpPr>
        <p:spPr>
          <a:xfrm>
            <a:off x="3876739" y="4067175"/>
            <a:ext cx="0" cy="959870"/>
          </a:xfrm>
          <a:prstGeom prst="line">
            <a:avLst/>
          </a:prstGeom>
          <a:ln cap="flat" w="38100">
            <a:solidFill>
              <a:srgbClr val="64E09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0" id="20"/>
          <p:cNvSpPr/>
          <p:nvPr/>
        </p:nvSpPr>
        <p:spPr>
          <a:xfrm>
            <a:off x="3871626" y="5467350"/>
            <a:ext cx="0" cy="959870"/>
          </a:xfrm>
          <a:prstGeom prst="line">
            <a:avLst/>
          </a:prstGeom>
          <a:ln cap="flat" w="38100">
            <a:solidFill>
              <a:srgbClr val="DBE6F1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1" id="21"/>
          <p:cNvSpPr/>
          <p:nvPr/>
        </p:nvSpPr>
        <p:spPr>
          <a:xfrm>
            <a:off x="3866513" y="6867525"/>
            <a:ext cx="0" cy="959870"/>
          </a:xfrm>
          <a:prstGeom prst="line">
            <a:avLst/>
          </a:prstGeom>
          <a:ln cap="flat" w="38100">
            <a:solidFill>
              <a:srgbClr val="9C88F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2" id="22"/>
          <p:cNvSpPr/>
          <p:nvPr/>
        </p:nvSpPr>
        <p:spPr>
          <a:xfrm>
            <a:off x="3861401" y="8267700"/>
            <a:ext cx="0" cy="959870"/>
          </a:xfrm>
          <a:prstGeom prst="line">
            <a:avLst/>
          </a:prstGeom>
          <a:ln cap="flat" w="38100">
            <a:solidFill>
              <a:srgbClr val="16324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3" id="23"/>
          <p:cNvSpPr txBox="true"/>
          <p:nvPr/>
        </p:nvSpPr>
        <p:spPr>
          <a:xfrm rot="0">
            <a:off x="2139597" y="866775"/>
            <a:ext cx="14001566" cy="742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59"/>
              </a:lnSpc>
            </a:pPr>
            <a:r>
              <a:rPr lang="en-US" sz="48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Innovation Odyssey - 5 Stages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4277260" y="2974834"/>
            <a:ext cx="3362745" cy="5467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400">
                <a:solidFill>
                  <a:srgbClr val="000000">
                    <a:alpha val="64706"/>
                  </a:srgbClr>
                </a:solidFill>
                <a:latin typeface="Arimo"/>
                <a:ea typeface="Arimo"/>
                <a:cs typeface="Arimo"/>
                <a:sym typeface="Arimo"/>
              </a:rPr>
              <a:t>Ignite the Ideation Spark, where creative flames illuminate paths to innovation. 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4277260" y="2576512"/>
            <a:ext cx="3110764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Ideation Spark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4277260" y="4384534"/>
            <a:ext cx="3648531" cy="5467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400">
                <a:solidFill>
                  <a:srgbClr val="000000">
                    <a:alpha val="64706"/>
                  </a:srgbClr>
                </a:solidFill>
                <a:latin typeface="Arimo"/>
                <a:ea typeface="Arimo"/>
                <a:cs typeface="Arimo"/>
                <a:sym typeface="Arimo"/>
              </a:rPr>
              <a:t>Craft a Blueprint Brilliance, sketching the future with strategic innovation.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4277260" y="3986212"/>
            <a:ext cx="3955043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Blueprint Brilliance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4277260" y="5794234"/>
            <a:ext cx="3648531" cy="5467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400">
                <a:solidFill>
                  <a:srgbClr val="000000">
                    <a:alpha val="64706"/>
                  </a:srgbClr>
                </a:solidFill>
                <a:latin typeface="Arimo"/>
                <a:ea typeface="Arimo"/>
                <a:cs typeface="Arimo"/>
                <a:sym typeface="Arimo"/>
              </a:rPr>
              <a:t>Execute with Precision, transforming innovative concepts into tangible success. 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4277260" y="5395912"/>
            <a:ext cx="4105807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Precision Execution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4277260" y="7203934"/>
            <a:ext cx="4162946" cy="5467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400">
                <a:solidFill>
                  <a:srgbClr val="000000">
                    <a:alpha val="64706"/>
                  </a:srgbClr>
                </a:solidFill>
                <a:latin typeface="Arimo"/>
                <a:ea typeface="Arimo"/>
                <a:cs typeface="Arimo"/>
                <a:sym typeface="Arimo"/>
              </a:rPr>
              <a:t>Ascend the Performance Peaks, surveying key metrics from the strategic summit. 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4277260" y="6805612"/>
            <a:ext cx="4045500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Performance Peaks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4277260" y="8613634"/>
            <a:ext cx="4162946" cy="5467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400">
                <a:solidFill>
                  <a:srgbClr val="000000">
                    <a:alpha val="64706"/>
                  </a:srgbClr>
                </a:solidFill>
                <a:latin typeface="Arimo"/>
                <a:ea typeface="Arimo"/>
                <a:cs typeface="Arimo"/>
                <a:sym typeface="Arimo"/>
              </a:rPr>
              <a:t>Reach the Innovation Zenith, where groundbreaking ideas flourish in the rarefied air. 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4277260" y="8215312"/>
            <a:ext cx="3698744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Innovation Zenith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400764" y="866775"/>
            <a:ext cx="13486471" cy="742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59"/>
              </a:lnSpc>
            </a:pPr>
            <a:r>
              <a:rPr lang="en-US" sz="48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Summit Synergy Pyramid - 4 Stages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3063767" y="7717409"/>
            <a:ext cx="4043868" cy="586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99"/>
              </a:lnSpc>
            </a:pPr>
            <a:r>
              <a:rPr lang="en-US" sz="1599">
                <a:solidFill>
                  <a:srgbClr val="000000">
                    <a:alpha val="64706"/>
                  </a:srgbClr>
                </a:solidFill>
                <a:latin typeface="Arimo"/>
                <a:ea typeface="Arimo"/>
                <a:cs typeface="Arimo"/>
                <a:sym typeface="Arimo"/>
              </a:rPr>
              <a:t>Stand tall at the Apex of Triumph, celebrating strategic victories and synergy.</a:t>
            </a:r>
          </a:p>
        </p:txBody>
      </p:sp>
      <p:sp>
        <p:nvSpPr>
          <p:cNvPr name="Freeform 4" id="4"/>
          <p:cNvSpPr/>
          <p:nvPr/>
        </p:nvSpPr>
        <p:spPr>
          <a:xfrm flipH="false" flipV="true" rot="0">
            <a:off x="6780834" y="2524125"/>
            <a:ext cx="5769307" cy="6279518"/>
          </a:xfrm>
          <a:custGeom>
            <a:avLst/>
            <a:gdLst/>
            <a:ahLst/>
            <a:cxnLst/>
            <a:rect r="r" b="b" t="t" l="l"/>
            <a:pathLst>
              <a:path h="6279518" w="5769307">
                <a:moveTo>
                  <a:pt x="0" y="6279518"/>
                </a:moveTo>
                <a:lnTo>
                  <a:pt x="5769308" y="6279518"/>
                </a:lnTo>
                <a:lnTo>
                  <a:pt x="5769308" y="0"/>
                </a:lnTo>
                <a:lnTo>
                  <a:pt x="0" y="0"/>
                </a:lnTo>
                <a:lnTo>
                  <a:pt x="0" y="6279518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2053278" y="6137792"/>
            <a:ext cx="3969180" cy="586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99"/>
              </a:lnSpc>
            </a:pPr>
            <a:r>
              <a:rPr lang="en-US" sz="1599">
                <a:solidFill>
                  <a:srgbClr val="000000">
                    <a:alpha val="64706"/>
                  </a:srgbClr>
                </a:solidFill>
                <a:latin typeface="Arimo"/>
                <a:ea typeface="Arimo"/>
                <a:cs typeface="Arimo"/>
                <a:sym typeface="Arimo"/>
              </a:rPr>
              <a:t>Master Execution, seamlessly turning strategies into impactful achievements. 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1032937" y="4446250"/>
            <a:ext cx="4040453" cy="586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99"/>
              </a:lnSpc>
            </a:pPr>
            <a:r>
              <a:rPr lang="en-US" sz="1599">
                <a:solidFill>
                  <a:srgbClr val="000000">
                    <a:alpha val="64706"/>
                  </a:srgbClr>
                </a:solidFill>
                <a:latin typeface="Arimo"/>
                <a:ea typeface="Arimo"/>
                <a:cs typeface="Arimo"/>
                <a:sym typeface="Arimo"/>
              </a:rPr>
              <a:t>Ascend the peaks of Strategic Rise, where plans elevate towards holistic success.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57450" y="2853061"/>
            <a:ext cx="3846175" cy="586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99"/>
              </a:lnSpc>
            </a:pPr>
            <a:r>
              <a:rPr lang="en-US" sz="1599">
                <a:solidFill>
                  <a:srgbClr val="000000">
                    <a:alpha val="64706"/>
                  </a:srgbClr>
                </a:solidFill>
                <a:latin typeface="Arimo"/>
                <a:ea typeface="Arimo"/>
                <a:cs typeface="Arimo"/>
                <a:sym typeface="Arimo"/>
              </a:rPr>
              <a:t>Establish an Insightful Base, uncovering opportunities at the heart of success. 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2519620" y="2524125"/>
            <a:ext cx="1394181" cy="1394181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1F14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19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2990538" y="2899722"/>
            <a:ext cx="455091" cy="606788"/>
          </a:xfrm>
          <a:custGeom>
            <a:avLst/>
            <a:gdLst/>
            <a:ahLst/>
            <a:cxnLst/>
            <a:rect r="r" b="b" t="t" l="l"/>
            <a:pathLst>
              <a:path h="606788" w="455091">
                <a:moveTo>
                  <a:pt x="0" y="0"/>
                </a:moveTo>
                <a:lnTo>
                  <a:pt x="455091" y="0"/>
                </a:lnTo>
                <a:lnTo>
                  <a:pt x="455091" y="606788"/>
                </a:lnTo>
                <a:lnTo>
                  <a:pt x="0" y="60678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2543477" y="4139169"/>
            <a:ext cx="1394181" cy="1394181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4E09A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19"/>
                </a:lnSpc>
              </a:pP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2959722" y="4546400"/>
            <a:ext cx="561691" cy="561691"/>
          </a:xfrm>
          <a:custGeom>
            <a:avLst/>
            <a:gdLst/>
            <a:ahLst/>
            <a:cxnLst/>
            <a:rect r="r" b="b" t="t" l="l"/>
            <a:pathLst>
              <a:path h="561691" w="561691">
                <a:moveTo>
                  <a:pt x="0" y="0"/>
                </a:moveTo>
                <a:lnTo>
                  <a:pt x="561691" y="0"/>
                </a:lnTo>
                <a:lnTo>
                  <a:pt x="561691" y="561691"/>
                </a:lnTo>
                <a:lnTo>
                  <a:pt x="0" y="56169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6" id="16"/>
          <p:cNvGrpSpPr/>
          <p:nvPr/>
        </p:nvGrpSpPr>
        <p:grpSpPr>
          <a:xfrm rot="0">
            <a:off x="2543477" y="5762647"/>
            <a:ext cx="1394181" cy="1394181"/>
            <a:chOff x="0" y="0"/>
            <a:chExt cx="812800" cy="812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BE6F1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19"/>
                </a:lnSpc>
              </a:pPr>
            </a:p>
          </p:txBody>
        </p:sp>
      </p:grpSp>
      <p:sp>
        <p:nvSpPr>
          <p:cNvPr name="Freeform 19" id="19"/>
          <p:cNvSpPr/>
          <p:nvPr/>
        </p:nvSpPr>
        <p:spPr>
          <a:xfrm flipH="false" flipV="false" rot="0">
            <a:off x="2880308" y="6099478"/>
            <a:ext cx="720519" cy="720519"/>
          </a:xfrm>
          <a:custGeom>
            <a:avLst/>
            <a:gdLst/>
            <a:ahLst/>
            <a:cxnLst/>
            <a:rect r="r" b="b" t="t" l="l"/>
            <a:pathLst>
              <a:path h="720519" w="720519">
                <a:moveTo>
                  <a:pt x="0" y="0"/>
                </a:moveTo>
                <a:lnTo>
                  <a:pt x="720519" y="0"/>
                </a:lnTo>
                <a:lnTo>
                  <a:pt x="720519" y="720519"/>
                </a:lnTo>
                <a:lnTo>
                  <a:pt x="0" y="72051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0" id="20"/>
          <p:cNvGrpSpPr/>
          <p:nvPr/>
        </p:nvGrpSpPr>
        <p:grpSpPr>
          <a:xfrm rot="0">
            <a:off x="2543477" y="7384139"/>
            <a:ext cx="1394181" cy="1394181"/>
            <a:chOff x="0" y="0"/>
            <a:chExt cx="812800" cy="812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9C88F6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19"/>
                </a:lnSpc>
              </a:pPr>
            </a:p>
          </p:txBody>
        </p:sp>
      </p:grpSp>
      <p:sp>
        <p:nvSpPr>
          <p:cNvPr name="Freeform 23" id="23"/>
          <p:cNvSpPr/>
          <p:nvPr/>
        </p:nvSpPr>
        <p:spPr>
          <a:xfrm flipH="false" flipV="false" rot="0">
            <a:off x="2918779" y="7759441"/>
            <a:ext cx="643576" cy="643576"/>
          </a:xfrm>
          <a:custGeom>
            <a:avLst/>
            <a:gdLst/>
            <a:ahLst/>
            <a:cxnLst/>
            <a:rect r="r" b="b" t="t" l="l"/>
            <a:pathLst>
              <a:path h="643576" w="643576">
                <a:moveTo>
                  <a:pt x="0" y="0"/>
                </a:moveTo>
                <a:lnTo>
                  <a:pt x="643577" y="0"/>
                </a:lnTo>
                <a:lnTo>
                  <a:pt x="643577" y="643576"/>
                </a:lnTo>
                <a:lnTo>
                  <a:pt x="0" y="64357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4" id="24"/>
          <p:cNvGrpSpPr/>
          <p:nvPr/>
        </p:nvGrpSpPr>
        <p:grpSpPr>
          <a:xfrm rot="0">
            <a:off x="4110814" y="2524125"/>
            <a:ext cx="3914624" cy="1416563"/>
            <a:chOff x="0" y="0"/>
            <a:chExt cx="695779" cy="251778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695779" cy="251778"/>
            </a:xfrm>
            <a:custGeom>
              <a:avLst/>
              <a:gdLst/>
              <a:ahLst/>
              <a:cxnLst/>
              <a:rect r="r" b="b" t="t" l="l"/>
              <a:pathLst>
                <a:path h="251778" w="695779">
                  <a:moveTo>
                    <a:pt x="0" y="0"/>
                  </a:moveTo>
                  <a:lnTo>
                    <a:pt x="695779" y="0"/>
                  </a:lnTo>
                  <a:lnTo>
                    <a:pt x="695779" y="251778"/>
                  </a:lnTo>
                  <a:lnTo>
                    <a:pt x="0" y="251778"/>
                  </a:lnTo>
                  <a:close/>
                </a:path>
              </a:pathLst>
            </a:custGeom>
            <a:solidFill>
              <a:srgbClr val="E1F14F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9525"/>
              <a:ext cx="695779" cy="2613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9"/>
                </a:lnSpc>
              </a:pPr>
              <a:r>
                <a:rPr lang="en-US" sz="2399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Insightful Base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4110814" y="4139169"/>
            <a:ext cx="3914624" cy="1416563"/>
            <a:chOff x="0" y="0"/>
            <a:chExt cx="695779" cy="251778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695779" cy="251778"/>
            </a:xfrm>
            <a:custGeom>
              <a:avLst/>
              <a:gdLst/>
              <a:ahLst/>
              <a:cxnLst/>
              <a:rect r="r" b="b" t="t" l="l"/>
              <a:pathLst>
                <a:path h="251778" w="695779">
                  <a:moveTo>
                    <a:pt x="0" y="0"/>
                  </a:moveTo>
                  <a:lnTo>
                    <a:pt x="695779" y="0"/>
                  </a:lnTo>
                  <a:lnTo>
                    <a:pt x="695779" y="251778"/>
                  </a:lnTo>
                  <a:lnTo>
                    <a:pt x="0" y="251778"/>
                  </a:lnTo>
                  <a:close/>
                </a:path>
              </a:pathLst>
            </a:custGeom>
            <a:solidFill>
              <a:srgbClr val="64E09A"/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9525"/>
              <a:ext cx="695779" cy="2613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9"/>
                </a:lnSpc>
              </a:pPr>
              <a:r>
                <a:rPr lang="en-US" sz="2399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Strategic Rise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4123161" y="5765086"/>
            <a:ext cx="3902277" cy="1409700"/>
            <a:chOff x="0" y="0"/>
            <a:chExt cx="693584" cy="250558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693584" cy="250558"/>
            </a:xfrm>
            <a:custGeom>
              <a:avLst/>
              <a:gdLst/>
              <a:ahLst/>
              <a:cxnLst/>
              <a:rect r="r" b="b" t="t" l="l"/>
              <a:pathLst>
                <a:path h="250558" w="693584">
                  <a:moveTo>
                    <a:pt x="0" y="0"/>
                  </a:moveTo>
                  <a:lnTo>
                    <a:pt x="693584" y="0"/>
                  </a:lnTo>
                  <a:lnTo>
                    <a:pt x="693584" y="250558"/>
                  </a:lnTo>
                  <a:lnTo>
                    <a:pt x="0" y="250558"/>
                  </a:lnTo>
                  <a:close/>
                </a:path>
              </a:pathLst>
            </a:custGeom>
            <a:solidFill>
              <a:srgbClr val="DBE6F1"/>
            </a:solid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9525"/>
              <a:ext cx="693584" cy="2600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9"/>
                </a:lnSpc>
              </a:pPr>
              <a:r>
                <a:rPr lang="en-US" sz="2399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Execution Mastery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4110814" y="7384139"/>
            <a:ext cx="3902277" cy="1419504"/>
            <a:chOff x="0" y="0"/>
            <a:chExt cx="693584" cy="25230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693584" cy="252300"/>
            </a:xfrm>
            <a:custGeom>
              <a:avLst/>
              <a:gdLst/>
              <a:ahLst/>
              <a:cxnLst/>
              <a:rect r="r" b="b" t="t" l="l"/>
              <a:pathLst>
                <a:path h="252300" w="693584">
                  <a:moveTo>
                    <a:pt x="0" y="0"/>
                  </a:moveTo>
                  <a:lnTo>
                    <a:pt x="693584" y="0"/>
                  </a:lnTo>
                  <a:lnTo>
                    <a:pt x="693584" y="252300"/>
                  </a:lnTo>
                  <a:lnTo>
                    <a:pt x="0" y="252300"/>
                  </a:lnTo>
                  <a:close/>
                </a:path>
              </a:pathLst>
            </a:custGeom>
            <a:solidFill>
              <a:srgbClr val="9C88F6"/>
            </a:solid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9525"/>
              <a:ext cx="693584" cy="2618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9"/>
                </a:lnSpc>
              </a:pPr>
              <a:r>
                <a:rPr lang="en-US" sz="2399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Apex of Triumph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822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031199" y="2515140"/>
            <a:ext cx="6619091" cy="6623201"/>
          </a:xfrm>
          <a:custGeom>
            <a:avLst/>
            <a:gdLst/>
            <a:ahLst/>
            <a:cxnLst/>
            <a:rect r="r" b="b" t="t" l="l"/>
            <a:pathLst>
              <a:path h="6623201" w="6619091">
                <a:moveTo>
                  <a:pt x="0" y="0"/>
                </a:moveTo>
                <a:lnTo>
                  <a:pt x="6619090" y="0"/>
                </a:lnTo>
                <a:lnTo>
                  <a:pt x="6619090" y="6623200"/>
                </a:lnTo>
                <a:lnTo>
                  <a:pt x="0" y="66232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12280" t="0" r="-12283" b="-25112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4799625" y="3237770"/>
            <a:ext cx="1224611" cy="1224611"/>
            <a:chOff x="0" y="0"/>
            <a:chExt cx="807512" cy="80751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07512" cy="807512"/>
            </a:xfrm>
            <a:custGeom>
              <a:avLst/>
              <a:gdLst/>
              <a:ahLst/>
              <a:cxnLst/>
              <a:rect r="r" b="b" t="t" l="l"/>
              <a:pathLst>
                <a:path h="807512" w="807512">
                  <a:moveTo>
                    <a:pt x="403756" y="0"/>
                  </a:moveTo>
                  <a:cubicBezTo>
                    <a:pt x="180768" y="0"/>
                    <a:pt x="0" y="180768"/>
                    <a:pt x="0" y="403756"/>
                  </a:cubicBezTo>
                  <a:cubicBezTo>
                    <a:pt x="0" y="626744"/>
                    <a:pt x="180768" y="807512"/>
                    <a:pt x="403756" y="807512"/>
                  </a:cubicBezTo>
                  <a:cubicBezTo>
                    <a:pt x="626744" y="807512"/>
                    <a:pt x="807512" y="626744"/>
                    <a:pt x="807512" y="403756"/>
                  </a:cubicBezTo>
                  <a:cubicBezTo>
                    <a:pt x="807512" y="180768"/>
                    <a:pt x="626744" y="0"/>
                    <a:pt x="403756" y="0"/>
                  </a:cubicBezTo>
                  <a:close/>
                </a:path>
              </a:pathLst>
            </a:custGeom>
            <a:solidFill>
              <a:srgbClr val="E1F14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75704" y="66179"/>
              <a:ext cx="656103" cy="6656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9"/>
                </a:lnSpc>
              </a:pPr>
              <a:r>
                <a:rPr lang="en-US" sz="2399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01</a:t>
              </a: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7144422" y="3493315"/>
            <a:ext cx="392874" cy="523832"/>
          </a:xfrm>
          <a:custGeom>
            <a:avLst/>
            <a:gdLst/>
            <a:ahLst/>
            <a:cxnLst/>
            <a:rect r="r" b="b" t="t" l="l"/>
            <a:pathLst>
              <a:path h="523832" w="392874">
                <a:moveTo>
                  <a:pt x="0" y="0"/>
                </a:moveTo>
                <a:lnTo>
                  <a:pt x="392874" y="0"/>
                </a:lnTo>
                <a:lnTo>
                  <a:pt x="392874" y="523832"/>
                </a:lnTo>
                <a:lnTo>
                  <a:pt x="0" y="52383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7112620" y="5223454"/>
            <a:ext cx="528748" cy="528748"/>
          </a:xfrm>
          <a:custGeom>
            <a:avLst/>
            <a:gdLst/>
            <a:ahLst/>
            <a:cxnLst/>
            <a:rect r="r" b="b" t="t" l="l"/>
            <a:pathLst>
              <a:path h="528748" w="528748">
                <a:moveTo>
                  <a:pt x="0" y="0"/>
                </a:moveTo>
                <a:lnTo>
                  <a:pt x="528749" y="0"/>
                </a:lnTo>
                <a:lnTo>
                  <a:pt x="528749" y="528749"/>
                </a:lnTo>
                <a:lnTo>
                  <a:pt x="0" y="52874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7063932" y="6773187"/>
            <a:ext cx="528748" cy="528748"/>
          </a:xfrm>
          <a:custGeom>
            <a:avLst/>
            <a:gdLst/>
            <a:ahLst/>
            <a:cxnLst/>
            <a:rect r="r" b="b" t="t" l="l"/>
            <a:pathLst>
              <a:path h="528748" w="528748">
                <a:moveTo>
                  <a:pt x="0" y="0"/>
                </a:moveTo>
                <a:lnTo>
                  <a:pt x="528748" y="0"/>
                </a:lnTo>
                <a:lnTo>
                  <a:pt x="528748" y="528749"/>
                </a:lnTo>
                <a:lnTo>
                  <a:pt x="0" y="528749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7016307" y="8261734"/>
            <a:ext cx="625062" cy="625062"/>
          </a:xfrm>
          <a:custGeom>
            <a:avLst/>
            <a:gdLst/>
            <a:ahLst/>
            <a:cxnLst/>
            <a:rect r="r" b="b" t="t" l="l"/>
            <a:pathLst>
              <a:path h="625062" w="625062">
                <a:moveTo>
                  <a:pt x="0" y="0"/>
                </a:moveTo>
                <a:lnTo>
                  <a:pt x="625062" y="0"/>
                </a:lnTo>
                <a:lnTo>
                  <a:pt x="625062" y="625062"/>
                </a:lnTo>
                <a:lnTo>
                  <a:pt x="0" y="625062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3883711" y="4788029"/>
            <a:ext cx="1224611" cy="1224611"/>
            <a:chOff x="0" y="0"/>
            <a:chExt cx="807512" cy="80751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07512" cy="807512"/>
            </a:xfrm>
            <a:custGeom>
              <a:avLst/>
              <a:gdLst/>
              <a:ahLst/>
              <a:cxnLst/>
              <a:rect r="r" b="b" t="t" l="l"/>
              <a:pathLst>
                <a:path h="807512" w="807512">
                  <a:moveTo>
                    <a:pt x="403756" y="0"/>
                  </a:moveTo>
                  <a:cubicBezTo>
                    <a:pt x="180768" y="0"/>
                    <a:pt x="0" y="180768"/>
                    <a:pt x="0" y="403756"/>
                  </a:cubicBezTo>
                  <a:cubicBezTo>
                    <a:pt x="0" y="626744"/>
                    <a:pt x="180768" y="807512"/>
                    <a:pt x="403756" y="807512"/>
                  </a:cubicBezTo>
                  <a:cubicBezTo>
                    <a:pt x="626744" y="807512"/>
                    <a:pt x="807512" y="626744"/>
                    <a:pt x="807512" y="403756"/>
                  </a:cubicBezTo>
                  <a:cubicBezTo>
                    <a:pt x="807512" y="180768"/>
                    <a:pt x="626744" y="0"/>
                    <a:pt x="403756" y="0"/>
                  </a:cubicBezTo>
                  <a:close/>
                </a:path>
              </a:pathLst>
            </a:custGeom>
            <a:solidFill>
              <a:srgbClr val="64E09A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75704" y="66179"/>
              <a:ext cx="656103" cy="6656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9"/>
                </a:lnSpc>
              </a:pPr>
              <a:r>
                <a:rPr lang="en-US" sz="2399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02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3085006" y="6367801"/>
            <a:ext cx="1224611" cy="1224611"/>
            <a:chOff x="0" y="0"/>
            <a:chExt cx="807512" cy="80751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07512" cy="807512"/>
            </a:xfrm>
            <a:custGeom>
              <a:avLst/>
              <a:gdLst/>
              <a:ahLst/>
              <a:cxnLst/>
              <a:rect r="r" b="b" t="t" l="l"/>
              <a:pathLst>
                <a:path h="807512" w="807512">
                  <a:moveTo>
                    <a:pt x="403756" y="0"/>
                  </a:moveTo>
                  <a:cubicBezTo>
                    <a:pt x="180768" y="0"/>
                    <a:pt x="0" y="180768"/>
                    <a:pt x="0" y="403756"/>
                  </a:cubicBezTo>
                  <a:cubicBezTo>
                    <a:pt x="0" y="626744"/>
                    <a:pt x="180768" y="807512"/>
                    <a:pt x="403756" y="807512"/>
                  </a:cubicBezTo>
                  <a:cubicBezTo>
                    <a:pt x="626744" y="807512"/>
                    <a:pt x="807512" y="626744"/>
                    <a:pt x="807512" y="403756"/>
                  </a:cubicBezTo>
                  <a:cubicBezTo>
                    <a:pt x="807512" y="180768"/>
                    <a:pt x="626744" y="0"/>
                    <a:pt x="403756" y="0"/>
                  </a:cubicBezTo>
                  <a:close/>
                </a:path>
              </a:pathLst>
            </a:custGeom>
            <a:solidFill>
              <a:srgbClr val="DBE6F1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75704" y="66179"/>
              <a:ext cx="656103" cy="6656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9"/>
                </a:lnSpc>
              </a:pPr>
              <a:r>
                <a:rPr lang="en-US" sz="2399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03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2286302" y="7906054"/>
            <a:ext cx="1224611" cy="1224611"/>
            <a:chOff x="0" y="0"/>
            <a:chExt cx="807512" cy="807512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07512" cy="807512"/>
            </a:xfrm>
            <a:custGeom>
              <a:avLst/>
              <a:gdLst/>
              <a:ahLst/>
              <a:cxnLst/>
              <a:rect r="r" b="b" t="t" l="l"/>
              <a:pathLst>
                <a:path h="807512" w="807512">
                  <a:moveTo>
                    <a:pt x="403756" y="0"/>
                  </a:moveTo>
                  <a:cubicBezTo>
                    <a:pt x="180768" y="0"/>
                    <a:pt x="0" y="180768"/>
                    <a:pt x="0" y="403756"/>
                  </a:cubicBezTo>
                  <a:cubicBezTo>
                    <a:pt x="0" y="626744"/>
                    <a:pt x="180768" y="807512"/>
                    <a:pt x="403756" y="807512"/>
                  </a:cubicBezTo>
                  <a:cubicBezTo>
                    <a:pt x="626744" y="807512"/>
                    <a:pt x="807512" y="626744"/>
                    <a:pt x="807512" y="403756"/>
                  </a:cubicBezTo>
                  <a:cubicBezTo>
                    <a:pt x="807512" y="180768"/>
                    <a:pt x="626744" y="0"/>
                    <a:pt x="403756" y="0"/>
                  </a:cubicBezTo>
                  <a:close/>
                </a:path>
              </a:pathLst>
            </a:custGeom>
            <a:solidFill>
              <a:srgbClr val="9C88F6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75704" y="66179"/>
              <a:ext cx="656103" cy="6656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9"/>
                </a:lnSpc>
              </a:pPr>
              <a:r>
                <a:rPr lang="en-US" sz="2399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04</a:t>
              </a: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2895962" y="866775"/>
            <a:ext cx="12479310" cy="742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59"/>
              </a:lnSpc>
            </a:pPr>
            <a:r>
              <a:rPr lang="en-US" sz="48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Peak Performance Pyramid - 4 Stages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2536467" y="3117462"/>
            <a:ext cx="4121797" cy="5467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400">
                <a:solidFill>
                  <a:srgbClr val="FFFFFF">
                    <a:alpha val="74902"/>
                  </a:srgbClr>
                </a:solidFill>
                <a:latin typeface="Arimo"/>
                <a:ea typeface="Arimo"/>
                <a:cs typeface="Arimo"/>
                <a:sym typeface="Arimo"/>
              </a:rPr>
              <a:t>Establish an Insightful Base, uncovering opportunities in the foundation of success. 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2536467" y="2626924"/>
            <a:ext cx="4121797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Insightful Base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2536467" y="4941094"/>
            <a:ext cx="4121797" cy="5467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400">
                <a:solidFill>
                  <a:srgbClr val="FFFFFF">
                    <a:alpha val="74902"/>
                  </a:srgbClr>
                </a:solidFill>
                <a:latin typeface="Arimo"/>
                <a:ea typeface="Arimo"/>
                <a:cs typeface="Arimo"/>
                <a:sym typeface="Arimo"/>
              </a:rPr>
              <a:t>Ascend the heights of Strategic Ascent, where plans elevate your trajectory.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2536467" y="4441031"/>
            <a:ext cx="4121797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Strategic Ascent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2536467" y="6755201"/>
            <a:ext cx="4121797" cy="5467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400">
                <a:solidFill>
                  <a:srgbClr val="FFFFFF">
                    <a:alpha val="74902"/>
                  </a:srgbClr>
                </a:solidFill>
                <a:latin typeface="Arimo"/>
                <a:ea typeface="Arimo"/>
                <a:cs typeface="Arimo"/>
                <a:sym typeface="Arimo"/>
              </a:rPr>
              <a:t>Master Execution, where strategies unfold seamlessly for impactful outcomes.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2536467" y="6255138"/>
            <a:ext cx="4121797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Execution Mastery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2536467" y="8561771"/>
            <a:ext cx="4121797" cy="5467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400">
                <a:solidFill>
                  <a:srgbClr val="FFFFFF">
                    <a:alpha val="74902"/>
                  </a:srgbClr>
                </a:solidFill>
                <a:latin typeface="Arimo"/>
                <a:ea typeface="Arimo"/>
                <a:cs typeface="Arimo"/>
                <a:sym typeface="Arimo"/>
              </a:rPr>
              <a:t>Stand atop the Triumph Summit, embracing the peak of strategic triumph and excellence. 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2536467" y="8071234"/>
            <a:ext cx="4121797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Triumph Summit</a:t>
            </a:r>
          </a:p>
        </p:txBody>
      </p:sp>
      <p:sp>
        <p:nvSpPr>
          <p:cNvPr name="AutoShape 28" id="28"/>
          <p:cNvSpPr/>
          <p:nvPr/>
        </p:nvSpPr>
        <p:spPr>
          <a:xfrm flipV="true">
            <a:off x="11786378" y="2602706"/>
            <a:ext cx="0" cy="1152525"/>
          </a:xfrm>
          <a:prstGeom prst="line">
            <a:avLst/>
          </a:prstGeom>
          <a:ln cap="flat" w="66675">
            <a:solidFill>
              <a:srgbClr val="E1F14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9" id="29"/>
          <p:cNvSpPr/>
          <p:nvPr/>
        </p:nvSpPr>
        <p:spPr>
          <a:xfrm flipV="true">
            <a:off x="11786378" y="4417476"/>
            <a:ext cx="0" cy="1152525"/>
          </a:xfrm>
          <a:prstGeom prst="line">
            <a:avLst/>
          </a:prstGeom>
          <a:ln cap="flat" w="66675">
            <a:solidFill>
              <a:srgbClr val="64E09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0" id="30"/>
          <p:cNvSpPr/>
          <p:nvPr/>
        </p:nvSpPr>
        <p:spPr>
          <a:xfrm flipV="true">
            <a:off x="11786378" y="6232246"/>
            <a:ext cx="0" cy="1152525"/>
          </a:xfrm>
          <a:prstGeom prst="line">
            <a:avLst/>
          </a:prstGeom>
          <a:ln cap="flat" w="66675">
            <a:solidFill>
              <a:srgbClr val="DBE6F1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1" id="31"/>
          <p:cNvSpPr/>
          <p:nvPr/>
        </p:nvSpPr>
        <p:spPr>
          <a:xfrm flipV="true">
            <a:off x="11786378" y="8047016"/>
            <a:ext cx="0" cy="1152525"/>
          </a:xfrm>
          <a:prstGeom prst="line">
            <a:avLst/>
          </a:prstGeom>
          <a:ln cap="flat" w="66675">
            <a:solidFill>
              <a:srgbClr val="9C88F6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0">
            <a:off x="8174899" y="2710206"/>
            <a:ext cx="9084401" cy="6624294"/>
          </a:xfrm>
          <a:custGeom>
            <a:avLst/>
            <a:gdLst/>
            <a:ahLst/>
            <a:cxnLst/>
            <a:rect r="r" b="b" t="t" l="l"/>
            <a:pathLst>
              <a:path h="6624294" w="9084401">
                <a:moveTo>
                  <a:pt x="9084401" y="6624294"/>
                </a:moveTo>
                <a:lnTo>
                  <a:pt x="0" y="6624294"/>
                </a:lnTo>
                <a:lnTo>
                  <a:pt x="0" y="0"/>
                </a:lnTo>
                <a:lnTo>
                  <a:pt x="9084401" y="0"/>
                </a:lnTo>
                <a:lnTo>
                  <a:pt x="9084401" y="6624294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11207" t="-35803" r="-9733" b="-15124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2579406" y="4904531"/>
            <a:ext cx="527191" cy="527191"/>
          </a:xfrm>
          <a:custGeom>
            <a:avLst/>
            <a:gdLst/>
            <a:ahLst/>
            <a:cxnLst/>
            <a:rect r="r" b="b" t="t" l="l"/>
            <a:pathLst>
              <a:path h="527191" w="527191">
                <a:moveTo>
                  <a:pt x="0" y="0"/>
                </a:moveTo>
                <a:lnTo>
                  <a:pt x="527191" y="0"/>
                </a:lnTo>
                <a:lnTo>
                  <a:pt x="527191" y="527192"/>
                </a:lnTo>
                <a:lnTo>
                  <a:pt x="0" y="52719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579406" y="6657747"/>
            <a:ext cx="527191" cy="527191"/>
          </a:xfrm>
          <a:custGeom>
            <a:avLst/>
            <a:gdLst/>
            <a:ahLst/>
            <a:cxnLst/>
            <a:rect r="r" b="b" t="t" l="l"/>
            <a:pathLst>
              <a:path h="527191" w="527191">
                <a:moveTo>
                  <a:pt x="0" y="0"/>
                </a:moveTo>
                <a:lnTo>
                  <a:pt x="527191" y="0"/>
                </a:lnTo>
                <a:lnTo>
                  <a:pt x="527191" y="527192"/>
                </a:lnTo>
                <a:lnTo>
                  <a:pt x="0" y="52719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5474873" y="2710206"/>
            <a:ext cx="553289" cy="543422"/>
            <a:chOff x="0" y="0"/>
            <a:chExt cx="827558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27558" cy="812800"/>
            </a:xfrm>
            <a:custGeom>
              <a:avLst/>
              <a:gdLst/>
              <a:ahLst/>
              <a:cxnLst/>
              <a:rect r="r" b="b" t="t" l="l"/>
              <a:pathLst>
                <a:path h="812800" w="827558">
                  <a:moveTo>
                    <a:pt x="413779" y="0"/>
                  </a:moveTo>
                  <a:cubicBezTo>
                    <a:pt x="185255" y="0"/>
                    <a:pt x="0" y="181951"/>
                    <a:pt x="0" y="406400"/>
                  </a:cubicBezTo>
                  <a:cubicBezTo>
                    <a:pt x="0" y="630849"/>
                    <a:pt x="185255" y="812800"/>
                    <a:pt x="413779" y="812800"/>
                  </a:cubicBezTo>
                  <a:cubicBezTo>
                    <a:pt x="642303" y="812800"/>
                    <a:pt x="827558" y="630849"/>
                    <a:pt x="827558" y="406400"/>
                  </a:cubicBezTo>
                  <a:cubicBezTo>
                    <a:pt x="827558" y="181951"/>
                    <a:pt x="642303" y="0"/>
                    <a:pt x="413779" y="0"/>
                  </a:cubicBezTo>
                  <a:close/>
                </a:path>
              </a:pathLst>
            </a:custGeom>
            <a:solidFill>
              <a:srgbClr val="E1F14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7584" y="57150"/>
              <a:ext cx="672391" cy="679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19"/>
                </a:lnSpc>
              </a:pPr>
              <a:r>
                <a:rPr lang="en-US" sz="1599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1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4537450" y="4493313"/>
            <a:ext cx="553289" cy="543422"/>
            <a:chOff x="0" y="0"/>
            <a:chExt cx="827558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27558" cy="812800"/>
            </a:xfrm>
            <a:custGeom>
              <a:avLst/>
              <a:gdLst/>
              <a:ahLst/>
              <a:cxnLst/>
              <a:rect r="r" b="b" t="t" l="l"/>
              <a:pathLst>
                <a:path h="812800" w="827558">
                  <a:moveTo>
                    <a:pt x="413779" y="0"/>
                  </a:moveTo>
                  <a:cubicBezTo>
                    <a:pt x="185255" y="0"/>
                    <a:pt x="0" y="181951"/>
                    <a:pt x="0" y="406400"/>
                  </a:cubicBezTo>
                  <a:cubicBezTo>
                    <a:pt x="0" y="630849"/>
                    <a:pt x="185255" y="812800"/>
                    <a:pt x="413779" y="812800"/>
                  </a:cubicBezTo>
                  <a:cubicBezTo>
                    <a:pt x="642303" y="812800"/>
                    <a:pt x="827558" y="630849"/>
                    <a:pt x="827558" y="406400"/>
                  </a:cubicBezTo>
                  <a:cubicBezTo>
                    <a:pt x="827558" y="181951"/>
                    <a:pt x="642303" y="0"/>
                    <a:pt x="413779" y="0"/>
                  </a:cubicBezTo>
                  <a:close/>
                </a:path>
              </a:pathLst>
            </a:custGeom>
            <a:solidFill>
              <a:srgbClr val="64E09A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7584" y="57150"/>
              <a:ext cx="672391" cy="679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19"/>
                </a:lnSpc>
              </a:pPr>
              <a:r>
                <a:rPr lang="en-US" sz="1599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2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3285513" y="6276476"/>
            <a:ext cx="553289" cy="543422"/>
            <a:chOff x="0" y="0"/>
            <a:chExt cx="827558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27558" cy="812800"/>
            </a:xfrm>
            <a:custGeom>
              <a:avLst/>
              <a:gdLst/>
              <a:ahLst/>
              <a:cxnLst/>
              <a:rect r="r" b="b" t="t" l="l"/>
              <a:pathLst>
                <a:path h="812800" w="827558">
                  <a:moveTo>
                    <a:pt x="413779" y="0"/>
                  </a:moveTo>
                  <a:cubicBezTo>
                    <a:pt x="185255" y="0"/>
                    <a:pt x="0" y="181951"/>
                    <a:pt x="0" y="406400"/>
                  </a:cubicBezTo>
                  <a:cubicBezTo>
                    <a:pt x="0" y="630849"/>
                    <a:pt x="185255" y="812800"/>
                    <a:pt x="413779" y="812800"/>
                  </a:cubicBezTo>
                  <a:cubicBezTo>
                    <a:pt x="642303" y="812800"/>
                    <a:pt x="827558" y="630849"/>
                    <a:pt x="827558" y="406400"/>
                  </a:cubicBezTo>
                  <a:cubicBezTo>
                    <a:pt x="827558" y="181951"/>
                    <a:pt x="642303" y="0"/>
                    <a:pt x="413779" y="0"/>
                  </a:cubicBezTo>
                  <a:close/>
                </a:path>
              </a:pathLst>
            </a:custGeom>
            <a:solidFill>
              <a:srgbClr val="DBE6F1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7584" y="57150"/>
              <a:ext cx="672391" cy="679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19"/>
                </a:lnSpc>
              </a:pPr>
              <a:r>
                <a:rPr lang="en-US" sz="1599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3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2170829" y="8059640"/>
            <a:ext cx="553289" cy="543422"/>
            <a:chOff x="0" y="0"/>
            <a:chExt cx="827558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27558" cy="812800"/>
            </a:xfrm>
            <a:custGeom>
              <a:avLst/>
              <a:gdLst/>
              <a:ahLst/>
              <a:cxnLst/>
              <a:rect r="r" b="b" t="t" l="l"/>
              <a:pathLst>
                <a:path h="812800" w="827558">
                  <a:moveTo>
                    <a:pt x="413779" y="0"/>
                  </a:moveTo>
                  <a:cubicBezTo>
                    <a:pt x="185255" y="0"/>
                    <a:pt x="0" y="181951"/>
                    <a:pt x="0" y="406400"/>
                  </a:cubicBezTo>
                  <a:cubicBezTo>
                    <a:pt x="0" y="630849"/>
                    <a:pt x="185255" y="812800"/>
                    <a:pt x="413779" y="812800"/>
                  </a:cubicBezTo>
                  <a:cubicBezTo>
                    <a:pt x="642303" y="812800"/>
                    <a:pt x="827558" y="630849"/>
                    <a:pt x="827558" y="406400"/>
                  </a:cubicBezTo>
                  <a:cubicBezTo>
                    <a:pt x="827558" y="181951"/>
                    <a:pt x="642303" y="0"/>
                    <a:pt x="413779" y="0"/>
                  </a:cubicBezTo>
                  <a:close/>
                </a:path>
              </a:pathLst>
            </a:custGeom>
            <a:solidFill>
              <a:srgbClr val="9C88F6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77584" y="57150"/>
              <a:ext cx="672391" cy="679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19"/>
                </a:lnSpc>
              </a:pPr>
              <a:r>
                <a:rPr lang="en-US" sz="1599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4</a:t>
              </a: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0">
            <a:off x="12501631" y="8344391"/>
            <a:ext cx="653658" cy="653658"/>
          </a:xfrm>
          <a:custGeom>
            <a:avLst/>
            <a:gdLst/>
            <a:ahLst/>
            <a:cxnLst/>
            <a:rect r="r" b="b" t="t" l="l"/>
            <a:pathLst>
              <a:path h="653658" w="653658">
                <a:moveTo>
                  <a:pt x="0" y="0"/>
                </a:moveTo>
                <a:lnTo>
                  <a:pt x="653658" y="0"/>
                </a:lnTo>
                <a:lnTo>
                  <a:pt x="653658" y="653659"/>
                </a:lnTo>
                <a:lnTo>
                  <a:pt x="0" y="653659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2162874" y="866775"/>
            <a:ext cx="13955011" cy="742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59"/>
              </a:lnSpc>
            </a:pPr>
            <a:r>
              <a:rPr lang="en-US" sz="48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Peak Prosperity Pyramid - 4 Stages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6311716" y="3101881"/>
            <a:ext cx="4286544" cy="5467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400">
                <a:solidFill>
                  <a:srgbClr val="000000">
                    <a:alpha val="64706"/>
                  </a:srgbClr>
                </a:solidFill>
                <a:latin typeface="Arimo"/>
                <a:ea typeface="Arimo"/>
                <a:cs typeface="Arimo"/>
                <a:sym typeface="Arimo"/>
              </a:rPr>
              <a:t>Establish an Insightful Base, discovering </a:t>
            </a:r>
          </a:p>
          <a:p>
            <a:pPr algn="l">
              <a:lnSpc>
                <a:spcPts val="2100"/>
              </a:lnSpc>
            </a:pPr>
            <a:r>
              <a:rPr lang="en-US" sz="1400">
                <a:solidFill>
                  <a:srgbClr val="000000">
                    <a:alpha val="64706"/>
                  </a:srgbClr>
                </a:solidFill>
                <a:latin typeface="Arimo"/>
                <a:ea typeface="Arimo"/>
                <a:cs typeface="Arimo"/>
                <a:sym typeface="Arimo"/>
              </a:rPr>
              <a:t>opportunities at the foundation of success.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6315389" y="2700681"/>
            <a:ext cx="4282871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Insightful Base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5374293" y="4884988"/>
            <a:ext cx="4286544" cy="5467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400">
                <a:solidFill>
                  <a:srgbClr val="000000">
                    <a:alpha val="64706"/>
                  </a:srgbClr>
                </a:solidFill>
                <a:latin typeface="Arimo"/>
                <a:ea typeface="Arimo"/>
                <a:cs typeface="Arimo"/>
                <a:sym typeface="Arimo"/>
              </a:rPr>
              <a:t>A</a:t>
            </a:r>
            <a:r>
              <a:rPr lang="en-US" sz="1400">
                <a:solidFill>
                  <a:srgbClr val="000000">
                    <a:alpha val="64706"/>
                  </a:srgbClr>
                </a:solidFill>
                <a:latin typeface="Arimo"/>
                <a:ea typeface="Arimo"/>
                <a:cs typeface="Arimo"/>
                <a:sym typeface="Arimo"/>
              </a:rPr>
              <a:t>scend to the Strategic Apex, where plans </a:t>
            </a:r>
          </a:p>
          <a:p>
            <a:pPr algn="l">
              <a:lnSpc>
                <a:spcPts val="2100"/>
              </a:lnSpc>
            </a:pPr>
            <a:r>
              <a:rPr lang="en-US" sz="1400">
                <a:solidFill>
                  <a:srgbClr val="000000">
                    <a:alpha val="64706"/>
                  </a:srgbClr>
                </a:solidFill>
                <a:latin typeface="Arimo"/>
                <a:ea typeface="Arimo"/>
                <a:cs typeface="Arimo"/>
                <a:sym typeface="Arimo"/>
              </a:rPr>
              <a:t>reach new heights of innovation and impact.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5377966" y="4483788"/>
            <a:ext cx="4282871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Strate</a:t>
            </a:r>
            <a:r>
              <a:rPr lang="en-US" sz="24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gic Apex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4122356" y="6668151"/>
            <a:ext cx="4286544" cy="5467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400">
                <a:solidFill>
                  <a:srgbClr val="000000">
                    <a:alpha val="64706"/>
                  </a:srgbClr>
                </a:solidFill>
                <a:latin typeface="Arimo"/>
                <a:ea typeface="Arimo"/>
                <a:cs typeface="Arimo"/>
                <a:sym typeface="Arimo"/>
              </a:rPr>
              <a:t>M</a:t>
            </a:r>
            <a:r>
              <a:rPr lang="en-US" sz="1400">
                <a:solidFill>
                  <a:srgbClr val="000000">
                    <a:alpha val="64706"/>
                  </a:srgbClr>
                </a:solidFill>
                <a:latin typeface="Arimo"/>
                <a:ea typeface="Arimo"/>
                <a:cs typeface="Arimo"/>
                <a:sym typeface="Arimo"/>
              </a:rPr>
              <a:t>aster Execution, turning strategies </a:t>
            </a:r>
          </a:p>
          <a:p>
            <a:pPr algn="l">
              <a:lnSpc>
                <a:spcPts val="2100"/>
              </a:lnSpc>
            </a:pPr>
            <a:r>
              <a:rPr lang="en-US" sz="1400">
                <a:solidFill>
                  <a:srgbClr val="000000">
                    <a:alpha val="64706"/>
                  </a:srgbClr>
                </a:solidFill>
                <a:latin typeface="Arimo"/>
                <a:ea typeface="Arimo"/>
                <a:cs typeface="Arimo"/>
                <a:sym typeface="Arimo"/>
              </a:rPr>
              <a:t>into seamlessly executed triumphs.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4126029" y="6266951"/>
            <a:ext cx="4330796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Exec</a:t>
            </a:r>
            <a:r>
              <a:rPr lang="en-US" sz="24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ution Mastery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3007672" y="8451315"/>
            <a:ext cx="4286544" cy="5467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400">
                <a:solidFill>
                  <a:srgbClr val="000000">
                    <a:alpha val="64706"/>
                  </a:srgbClr>
                </a:solidFill>
                <a:latin typeface="Arimo"/>
                <a:ea typeface="Arimo"/>
                <a:cs typeface="Arimo"/>
                <a:sym typeface="Arimo"/>
              </a:rPr>
              <a:t>S</a:t>
            </a:r>
            <a:r>
              <a:rPr lang="en-US" sz="1400">
                <a:solidFill>
                  <a:srgbClr val="000000">
                    <a:alpha val="64706"/>
                  </a:srgbClr>
                </a:solidFill>
                <a:latin typeface="Arimo"/>
                <a:ea typeface="Arimo"/>
                <a:cs typeface="Arimo"/>
                <a:sym typeface="Arimo"/>
              </a:rPr>
              <a:t>tand tall on the Triumph Summit, </a:t>
            </a:r>
          </a:p>
          <a:p>
            <a:pPr algn="l">
              <a:lnSpc>
                <a:spcPts val="2100"/>
              </a:lnSpc>
            </a:pPr>
            <a:r>
              <a:rPr lang="en-US" sz="1400">
                <a:solidFill>
                  <a:srgbClr val="000000">
                    <a:alpha val="64706"/>
                  </a:srgbClr>
                </a:solidFill>
                <a:latin typeface="Arimo"/>
                <a:ea typeface="Arimo"/>
                <a:cs typeface="Arimo"/>
                <a:sym typeface="Arimo"/>
              </a:rPr>
              <a:t>celebrating strategic victories and prosp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3011345" y="8050115"/>
            <a:ext cx="4282871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Tr</a:t>
            </a:r>
            <a:r>
              <a:rPr lang="en-US" sz="24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iumph Summit</a:t>
            </a:r>
          </a:p>
        </p:txBody>
      </p:sp>
      <p:sp>
        <p:nvSpPr>
          <p:cNvPr name="Freeform 27" id="27"/>
          <p:cNvSpPr/>
          <p:nvPr/>
        </p:nvSpPr>
        <p:spPr>
          <a:xfrm flipH="false" flipV="false" rot="0">
            <a:off x="12654749" y="3157583"/>
            <a:ext cx="376504" cy="502006"/>
          </a:xfrm>
          <a:custGeom>
            <a:avLst/>
            <a:gdLst/>
            <a:ahLst/>
            <a:cxnLst/>
            <a:rect r="r" b="b" t="t" l="l"/>
            <a:pathLst>
              <a:path h="502006" w="376504">
                <a:moveTo>
                  <a:pt x="0" y="0"/>
                </a:moveTo>
                <a:lnTo>
                  <a:pt x="376505" y="0"/>
                </a:lnTo>
                <a:lnTo>
                  <a:pt x="376505" y="502005"/>
                </a:lnTo>
                <a:lnTo>
                  <a:pt x="0" y="502005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082155" y="3048000"/>
            <a:ext cx="508025" cy="508025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1F14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20"/>
                </a:lnSpc>
              </a:pPr>
              <a:r>
                <a:rPr lang="en-US" sz="1600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1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1082155" y="4641850"/>
            <a:ext cx="508025" cy="508025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4E09A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20"/>
                </a:lnSpc>
              </a:pPr>
              <a:r>
                <a:rPr lang="en-US" sz="1600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2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1082155" y="6235700"/>
            <a:ext cx="508025" cy="508025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BE6F1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20"/>
                </a:lnSpc>
              </a:pPr>
              <a:r>
                <a:rPr lang="en-US" sz="1600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3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3219481" y="7789591"/>
            <a:ext cx="6086008" cy="1082164"/>
            <a:chOff x="0" y="0"/>
            <a:chExt cx="1595296" cy="28366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595296" cy="283662"/>
            </a:xfrm>
            <a:custGeom>
              <a:avLst/>
              <a:gdLst/>
              <a:ahLst/>
              <a:cxnLst/>
              <a:rect r="r" b="b" t="t" l="l"/>
              <a:pathLst>
                <a:path h="283662" w="1595296">
                  <a:moveTo>
                    <a:pt x="127209" y="0"/>
                  </a:moveTo>
                  <a:lnTo>
                    <a:pt x="1468087" y="0"/>
                  </a:lnTo>
                  <a:cubicBezTo>
                    <a:pt x="1501825" y="0"/>
                    <a:pt x="1534181" y="13402"/>
                    <a:pt x="1558037" y="37259"/>
                  </a:cubicBezTo>
                  <a:cubicBezTo>
                    <a:pt x="1581893" y="61115"/>
                    <a:pt x="1595296" y="93471"/>
                    <a:pt x="1595296" y="127209"/>
                  </a:cubicBezTo>
                  <a:lnTo>
                    <a:pt x="1595296" y="156454"/>
                  </a:lnTo>
                  <a:cubicBezTo>
                    <a:pt x="1595296" y="226709"/>
                    <a:pt x="1538343" y="283662"/>
                    <a:pt x="1468087" y="283662"/>
                  </a:cubicBezTo>
                  <a:lnTo>
                    <a:pt x="127209" y="283662"/>
                  </a:lnTo>
                  <a:cubicBezTo>
                    <a:pt x="56953" y="283662"/>
                    <a:pt x="0" y="226709"/>
                    <a:pt x="0" y="156454"/>
                  </a:cubicBezTo>
                  <a:lnTo>
                    <a:pt x="0" y="127209"/>
                  </a:lnTo>
                  <a:cubicBezTo>
                    <a:pt x="0" y="93471"/>
                    <a:pt x="13402" y="61115"/>
                    <a:pt x="37259" y="37259"/>
                  </a:cubicBezTo>
                  <a:cubicBezTo>
                    <a:pt x="61115" y="13402"/>
                    <a:pt x="93471" y="0"/>
                    <a:pt x="127209" y="0"/>
                  </a:cubicBezTo>
                  <a:close/>
                </a:path>
              </a:pathLst>
            </a:custGeom>
            <a:solidFill>
              <a:srgbClr val="9C88F6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19050"/>
              <a:ext cx="1595296" cy="302712"/>
            </a:xfrm>
            <a:prstGeom prst="rect">
              <a:avLst/>
            </a:prstGeom>
          </p:spPr>
          <p:txBody>
            <a:bodyPr anchor="ctr" rtlCol="false" tIns="51042" lIns="51042" bIns="51042" rIns="51042"/>
            <a:lstStyle/>
            <a:p>
              <a:pPr algn="ctr">
                <a:lnSpc>
                  <a:spcPts val="251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2744235" y="7563854"/>
            <a:ext cx="1533639" cy="1533639"/>
            <a:chOff x="0" y="0"/>
            <a:chExt cx="811703" cy="811703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1704" cy="811704"/>
            </a:xfrm>
            <a:custGeom>
              <a:avLst/>
              <a:gdLst/>
              <a:ahLst/>
              <a:cxnLst/>
              <a:rect r="r" b="b" t="t" l="l"/>
              <a:pathLst>
                <a:path h="811704" w="811704">
                  <a:moveTo>
                    <a:pt x="405852" y="0"/>
                  </a:moveTo>
                  <a:cubicBezTo>
                    <a:pt x="181706" y="0"/>
                    <a:pt x="0" y="181706"/>
                    <a:pt x="0" y="405852"/>
                  </a:cubicBezTo>
                  <a:cubicBezTo>
                    <a:pt x="0" y="629997"/>
                    <a:pt x="181706" y="811704"/>
                    <a:pt x="405852" y="811704"/>
                  </a:cubicBezTo>
                  <a:cubicBezTo>
                    <a:pt x="629997" y="811704"/>
                    <a:pt x="811704" y="629997"/>
                    <a:pt x="811704" y="405852"/>
                  </a:cubicBezTo>
                  <a:cubicBezTo>
                    <a:pt x="811704" y="181706"/>
                    <a:pt x="629997" y="0"/>
                    <a:pt x="405852" y="0"/>
                  </a:cubicBezTo>
                  <a:close/>
                </a:path>
              </a:pathLst>
            </a:custGeom>
            <a:solidFill>
              <a:srgbClr val="9C88F6"/>
            </a:solidFill>
            <a:ln w="10477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76097" y="57047"/>
              <a:ext cx="659509" cy="678559"/>
            </a:xfrm>
            <a:prstGeom prst="rect">
              <a:avLst/>
            </a:prstGeom>
          </p:spPr>
          <p:txBody>
            <a:bodyPr anchor="ctr" rtlCol="false" tIns="51042" lIns="51042" bIns="51042" rIns="51042"/>
            <a:lstStyle/>
            <a:p>
              <a:pPr algn="ctr">
                <a:lnSpc>
                  <a:spcPts val="251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3636930" y="6188330"/>
            <a:ext cx="5260634" cy="1082164"/>
            <a:chOff x="0" y="0"/>
            <a:chExt cx="1378945" cy="28366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378945" cy="283662"/>
            </a:xfrm>
            <a:custGeom>
              <a:avLst/>
              <a:gdLst/>
              <a:ahLst/>
              <a:cxnLst/>
              <a:rect r="r" b="b" t="t" l="l"/>
              <a:pathLst>
                <a:path h="283662" w="1378945">
                  <a:moveTo>
                    <a:pt x="141831" y="0"/>
                  </a:moveTo>
                  <a:lnTo>
                    <a:pt x="1237113" y="0"/>
                  </a:lnTo>
                  <a:cubicBezTo>
                    <a:pt x="1315445" y="0"/>
                    <a:pt x="1378945" y="63500"/>
                    <a:pt x="1378945" y="141831"/>
                  </a:cubicBezTo>
                  <a:lnTo>
                    <a:pt x="1378945" y="141831"/>
                  </a:lnTo>
                  <a:cubicBezTo>
                    <a:pt x="1378945" y="179447"/>
                    <a:pt x="1364002" y="215523"/>
                    <a:pt x="1337403" y="242121"/>
                  </a:cubicBezTo>
                  <a:cubicBezTo>
                    <a:pt x="1310805" y="268720"/>
                    <a:pt x="1274729" y="283662"/>
                    <a:pt x="1237113" y="283662"/>
                  </a:cubicBezTo>
                  <a:lnTo>
                    <a:pt x="141831" y="283662"/>
                  </a:lnTo>
                  <a:cubicBezTo>
                    <a:pt x="104215" y="283662"/>
                    <a:pt x="68140" y="268720"/>
                    <a:pt x="41541" y="242121"/>
                  </a:cubicBezTo>
                  <a:cubicBezTo>
                    <a:pt x="14943" y="215523"/>
                    <a:pt x="0" y="179447"/>
                    <a:pt x="0" y="141831"/>
                  </a:cubicBezTo>
                  <a:lnTo>
                    <a:pt x="0" y="141831"/>
                  </a:lnTo>
                  <a:cubicBezTo>
                    <a:pt x="0" y="104215"/>
                    <a:pt x="14943" y="68140"/>
                    <a:pt x="41541" y="41541"/>
                  </a:cubicBezTo>
                  <a:cubicBezTo>
                    <a:pt x="68140" y="14943"/>
                    <a:pt x="104215" y="0"/>
                    <a:pt x="141831" y="0"/>
                  </a:cubicBezTo>
                  <a:close/>
                </a:path>
              </a:pathLst>
            </a:custGeom>
            <a:solidFill>
              <a:srgbClr val="DBE6F1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19050"/>
              <a:ext cx="1378945" cy="302712"/>
            </a:xfrm>
            <a:prstGeom prst="rect">
              <a:avLst/>
            </a:prstGeom>
          </p:spPr>
          <p:txBody>
            <a:bodyPr anchor="ctr" rtlCol="false" tIns="51042" lIns="51042" bIns="51042" rIns="51042"/>
            <a:lstStyle/>
            <a:p>
              <a:pPr algn="ctr">
                <a:lnSpc>
                  <a:spcPts val="2519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3161684" y="5962593"/>
            <a:ext cx="1533639" cy="1533639"/>
            <a:chOff x="0" y="0"/>
            <a:chExt cx="811703" cy="811703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1704" cy="811704"/>
            </a:xfrm>
            <a:custGeom>
              <a:avLst/>
              <a:gdLst/>
              <a:ahLst/>
              <a:cxnLst/>
              <a:rect r="r" b="b" t="t" l="l"/>
              <a:pathLst>
                <a:path h="811704" w="811704">
                  <a:moveTo>
                    <a:pt x="405852" y="0"/>
                  </a:moveTo>
                  <a:cubicBezTo>
                    <a:pt x="181706" y="0"/>
                    <a:pt x="0" y="181706"/>
                    <a:pt x="0" y="405852"/>
                  </a:cubicBezTo>
                  <a:cubicBezTo>
                    <a:pt x="0" y="629997"/>
                    <a:pt x="181706" y="811704"/>
                    <a:pt x="405852" y="811704"/>
                  </a:cubicBezTo>
                  <a:cubicBezTo>
                    <a:pt x="629997" y="811704"/>
                    <a:pt x="811704" y="629997"/>
                    <a:pt x="811704" y="405852"/>
                  </a:cubicBezTo>
                  <a:cubicBezTo>
                    <a:pt x="811704" y="181706"/>
                    <a:pt x="629997" y="0"/>
                    <a:pt x="405852" y="0"/>
                  </a:cubicBezTo>
                  <a:close/>
                </a:path>
              </a:pathLst>
            </a:custGeom>
            <a:solidFill>
              <a:srgbClr val="DBE6F1"/>
            </a:solidFill>
            <a:ln w="10477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76097" y="57047"/>
              <a:ext cx="659509" cy="678559"/>
            </a:xfrm>
            <a:prstGeom prst="rect">
              <a:avLst/>
            </a:prstGeom>
          </p:spPr>
          <p:txBody>
            <a:bodyPr anchor="ctr" rtlCol="false" tIns="51042" lIns="51042" bIns="51042" rIns="51042"/>
            <a:lstStyle/>
            <a:p>
              <a:pPr algn="ctr">
                <a:lnSpc>
                  <a:spcPts val="2519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4035329" y="4607237"/>
            <a:ext cx="4454293" cy="1082164"/>
            <a:chOff x="0" y="0"/>
            <a:chExt cx="1167582" cy="283662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167582" cy="283662"/>
            </a:xfrm>
            <a:custGeom>
              <a:avLst/>
              <a:gdLst/>
              <a:ahLst/>
              <a:cxnLst/>
              <a:rect r="r" b="b" t="t" l="l"/>
              <a:pathLst>
                <a:path h="283662" w="1167582">
                  <a:moveTo>
                    <a:pt x="141831" y="0"/>
                  </a:moveTo>
                  <a:lnTo>
                    <a:pt x="1025751" y="0"/>
                  </a:lnTo>
                  <a:cubicBezTo>
                    <a:pt x="1063367" y="0"/>
                    <a:pt x="1099442" y="14943"/>
                    <a:pt x="1126041" y="41541"/>
                  </a:cubicBezTo>
                  <a:cubicBezTo>
                    <a:pt x="1152639" y="68140"/>
                    <a:pt x="1167582" y="104215"/>
                    <a:pt x="1167582" y="141831"/>
                  </a:cubicBezTo>
                  <a:lnTo>
                    <a:pt x="1167582" y="141831"/>
                  </a:lnTo>
                  <a:cubicBezTo>
                    <a:pt x="1167582" y="179447"/>
                    <a:pt x="1152639" y="215523"/>
                    <a:pt x="1126041" y="242121"/>
                  </a:cubicBezTo>
                  <a:cubicBezTo>
                    <a:pt x="1099442" y="268720"/>
                    <a:pt x="1063367" y="283662"/>
                    <a:pt x="1025751" y="283662"/>
                  </a:cubicBezTo>
                  <a:lnTo>
                    <a:pt x="141831" y="283662"/>
                  </a:lnTo>
                  <a:cubicBezTo>
                    <a:pt x="104215" y="283662"/>
                    <a:pt x="68140" y="268720"/>
                    <a:pt x="41541" y="242121"/>
                  </a:cubicBezTo>
                  <a:cubicBezTo>
                    <a:pt x="14943" y="215523"/>
                    <a:pt x="0" y="179447"/>
                    <a:pt x="0" y="141831"/>
                  </a:cubicBezTo>
                  <a:lnTo>
                    <a:pt x="0" y="141831"/>
                  </a:lnTo>
                  <a:cubicBezTo>
                    <a:pt x="0" y="104215"/>
                    <a:pt x="14943" y="68140"/>
                    <a:pt x="41541" y="41541"/>
                  </a:cubicBezTo>
                  <a:cubicBezTo>
                    <a:pt x="68140" y="14943"/>
                    <a:pt x="104215" y="0"/>
                    <a:pt x="141831" y="0"/>
                  </a:cubicBezTo>
                  <a:close/>
                </a:path>
              </a:pathLst>
            </a:custGeom>
            <a:solidFill>
              <a:srgbClr val="64E09A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19050"/>
              <a:ext cx="1167582" cy="302712"/>
            </a:xfrm>
            <a:prstGeom prst="rect">
              <a:avLst/>
            </a:prstGeom>
          </p:spPr>
          <p:txBody>
            <a:bodyPr anchor="ctr" rtlCol="false" tIns="51042" lIns="51042" bIns="51042" rIns="51042"/>
            <a:lstStyle/>
            <a:p>
              <a:pPr algn="ctr">
                <a:lnSpc>
                  <a:spcPts val="2519"/>
                </a:lnSpc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3560083" y="4381500"/>
            <a:ext cx="1533639" cy="1533639"/>
            <a:chOff x="0" y="0"/>
            <a:chExt cx="811703" cy="811703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811704" cy="811704"/>
            </a:xfrm>
            <a:custGeom>
              <a:avLst/>
              <a:gdLst/>
              <a:ahLst/>
              <a:cxnLst/>
              <a:rect r="r" b="b" t="t" l="l"/>
              <a:pathLst>
                <a:path h="811704" w="811704">
                  <a:moveTo>
                    <a:pt x="405852" y="0"/>
                  </a:moveTo>
                  <a:cubicBezTo>
                    <a:pt x="181706" y="0"/>
                    <a:pt x="0" y="181706"/>
                    <a:pt x="0" y="405852"/>
                  </a:cubicBezTo>
                  <a:cubicBezTo>
                    <a:pt x="0" y="629997"/>
                    <a:pt x="181706" y="811704"/>
                    <a:pt x="405852" y="811704"/>
                  </a:cubicBezTo>
                  <a:cubicBezTo>
                    <a:pt x="629997" y="811704"/>
                    <a:pt x="811704" y="629997"/>
                    <a:pt x="811704" y="405852"/>
                  </a:cubicBezTo>
                  <a:cubicBezTo>
                    <a:pt x="811704" y="181706"/>
                    <a:pt x="629997" y="0"/>
                    <a:pt x="405852" y="0"/>
                  </a:cubicBezTo>
                  <a:close/>
                </a:path>
              </a:pathLst>
            </a:custGeom>
            <a:solidFill>
              <a:srgbClr val="64E09A"/>
            </a:solidFill>
            <a:ln w="10477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28" id="28"/>
            <p:cNvSpPr txBox="true"/>
            <p:nvPr/>
          </p:nvSpPr>
          <p:spPr>
            <a:xfrm>
              <a:off x="76097" y="57047"/>
              <a:ext cx="659509" cy="678559"/>
            </a:xfrm>
            <a:prstGeom prst="rect">
              <a:avLst/>
            </a:prstGeom>
          </p:spPr>
          <p:txBody>
            <a:bodyPr anchor="ctr" rtlCol="false" tIns="51042" lIns="51042" bIns="51042" rIns="51042"/>
            <a:lstStyle/>
            <a:p>
              <a:pPr algn="ctr">
                <a:lnSpc>
                  <a:spcPts val="2519"/>
                </a:lnSpc>
              </a:pP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4447786" y="3009829"/>
            <a:ext cx="3633912" cy="1082164"/>
            <a:chOff x="0" y="0"/>
            <a:chExt cx="952540" cy="283662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952540" cy="283662"/>
            </a:xfrm>
            <a:custGeom>
              <a:avLst/>
              <a:gdLst/>
              <a:ahLst/>
              <a:cxnLst/>
              <a:rect r="r" b="b" t="t" l="l"/>
              <a:pathLst>
                <a:path h="283662" w="952540">
                  <a:moveTo>
                    <a:pt x="141831" y="0"/>
                  </a:moveTo>
                  <a:lnTo>
                    <a:pt x="810708" y="0"/>
                  </a:lnTo>
                  <a:cubicBezTo>
                    <a:pt x="848324" y="0"/>
                    <a:pt x="884400" y="14943"/>
                    <a:pt x="910998" y="41541"/>
                  </a:cubicBezTo>
                  <a:cubicBezTo>
                    <a:pt x="937597" y="68140"/>
                    <a:pt x="952540" y="104215"/>
                    <a:pt x="952540" y="141831"/>
                  </a:cubicBezTo>
                  <a:lnTo>
                    <a:pt x="952540" y="141831"/>
                  </a:lnTo>
                  <a:cubicBezTo>
                    <a:pt x="952540" y="179447"/>
                    <a:pt x="937597" y="215523"/>
                    <a:pt x="910998" y="242121"/>
                  </a:cubicBezTo>
                  <a:cubicBezTo>
                    <a:pt x="884400" y="268720"/>
                    <a:pt x="848324" y="283662"/>
                    <a:pt x="810708" y="283662"/>
                  </a:cubicBezTo>
                  <a:lnTo>
                    <a:pt x="141831" y="283662"/>
                  </a:lnTo>
                  <a:cubicBezTo>
                    <a:pt x="104215" y="283662"/>
                    <a:pt x="68140" y="268720"/>
                    <a:pt x="41541" y="242121"/>
                  </a:cubicBezTo>
                  <a:cubicBezTo>
                    <a:pt x="14943" y="215523"/>
                    <a:pt x="0" y="179447"/>
                    <a:pt x="0" y="141831"/>
                  </a:cubicBezTo>
                  <a:lnTo>
                    <a:pt x="0" y="141831"/>
                  </a:lnTo>
                  <a:cubicBezTo>
                    <a:pt x="0" y="104215"/>
                    <a:pt x="14943" y="68140"/>
                    <a:pt x="41541" y="41541"/>
                  </a:cubicBezTo>
                  <a:cubicBezTo>
                    <a:pt x="68140" y="14943"/>
                    <a:pt x="104215" y="0"/>
                    <a:pt x="141831" y="0"/>
                  </a:cubicBezTo>
                  <a:close/>
                </a:path>
              </a:pathLst>
            </a:custGeom>
            <a:solidFill>
              <a:srgbClr val="E1F14F"/>
            </a:solid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19050"/>
              <a:ext cx="952540" cy="302712"/>
            </a:xfrm>
            <a:prstGeom prst="rect">
              <a:avLst/>
            </a:prstGeom>
          </p:spPr>
          <p:txBody>
            <a:bodyPr anchor="ctr" rtlCol="false" tIns="51042" lIns="51042" bIns="51042" rIns="51042"/>
            <a:lstStyle/>
            <a:p>
              <a:pPr algn="ctr">
                <a:lnSpc>
                  <a:spcPts val="2519"/>
                </a:lnSpc>
              </a:pP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3972540" y="2784091"/>
            <a:ext cx="1533639" cy="1533639"/>
            <a:chOff x="0" y="0"/>
            <a:chExt cx="811703" cy="811703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811704" cy="811704"/>
            </a:xfrm>
            <a:custGeom>
              <a:avLst/>
              <a:gdLst/>
              <a:ahLst/>
              <a:cxnLst/>
              <a:rect r="r" b="b" t="t" l="l"/>
              <a:pathLst>
                <a:path h="811704" w="811704">
                  <a:moveTo>
                    <a:pt x="405852" y="0"/>
                  </a:moveTo>
                  <a:cubicBezTo>
                    <a:pt x="181706" y="0"/>
                    <a:pt x="0" y="181706"/>
                    <a:pt x="0" y="405852"/>
                  </a:cubicBezTo>
                  <a:cubicBezTo>
                    <a:pt x="0" y="629997"/>
                    <a:pt x="181706" y="811704"/>
                    <a:pt x="405852" y="811704"/>
                  </a:cubicBezTo>
                  <a:cubicBezTo>
                    <a:pt x="629997" y="811704"/>
                    <a:pt x="811704" y="629997"/>
                    <a:pt x="811704" y="405852"/>
                  </a:cubicBezTo>
                  <a:cubicBezTo>
                    <a:pt x="811704" y="181706"/>
                    <a:pt x="629997" y="0"/>
                    <a:pt x="405852" y="0"/>
                  </a:cubicBezTo>
                  <a:close/>
                </a:path>
              </a:pathLst>
            </a:custGeom>
            <a:solidFill>
              <a:srgbClr val="E1F14F"/>
            </a:solidFill>
            <a:ln w="10477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34" id="34"/>
            <p:cNvSpPr txBox="true"/>
            <p:nvPr/>
          </p:nvSpPr>
          <p:spPr>
            <a:xfrm>
              <a:off x="76097" y="57047"/>
              <a:ext cx="659509" cy="678559"/>
            </a:xfrm>
            <a:prstGeom prst="rect">
              <a:avLst/>
            </a:prstGeom>
          </p:spPr>
          <p:txBody>
            <a:bodyPr anchor="ctr" rtlCol="false" tIns="51042" lIns="51042" bIns="51042" rIns="51042"/>
            <a:lstStyle/>
            <a:p>
              <a:pPr algn="ctr">
                <a:lnSpc>
                  <a:spcPts val="2519"/>
                </a:lnSpc>
              </a:pPr>
            </a:p>
          </p:txBody>
        </p:sp>
      </p:grpSp>
      <p:sp>
        <p:nvSpPr>
          <p:cNvPr name="Freeform 35" id="35"/>
          <p:cNvSpPr/>
          <p:nvPr/>
        </p:nvSpPr>
        <p:spPr>
          <a:xfrm flipH="false" flipV="false" rot="0">
            <a:off x="4026979" y="4848395"/>
            <a:ext cx="599848" cy="599848"/>
          </a:xfrm>
          <a:custGeom>
            <a:avLst/>
            <a:gdLst/>
            <a:ahLst/>
            <a:cxnLst/>
            <a:rect r="r" b="b" t="t" l="l"/>
            <a:pathLst>
              <a:path h="599848" w="599848">
                <a:moveTo>
                  <a:pt x="0" y="0"/>
                </a:moveTo>
                <a:lnTo>
                  <a:pt x="599848" y="0"/>
                </a:lnTo>
                <a:lnTo>
                  <a:pt x="599848" y="599848"/>
                </a:lnTo>
                <a:lnTo>
                  <a:pt x="0" y="59984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6" id="36"/>
          <p:cNvSpPr/>
          <p:nvPr/>
        </p:nvSpPr>
        <p:spPr>
          <a:xfrm flipH="false" flipV="false" rot="0">
            <a:off x="4502180" y="3234671"/>
            <a:ext cx="474359" cy="632479"/>
          </a:xfrm>
          <a:custGeom>
            <a:avLst/>
            <a:gdLst/>
            <a:ahLst/>
            <a:cxnLst/>
            <a:rect r="r" b="b" t="t" l="l"/>
            <a:pathLst>
              <a:path h="632479" w="474359">
                <a:moveTo>
                  <a:pt x="0" y="0"/>
                </a:moveTo>
                <a:lnTo>
                  <a:pt x="474359" y="0"/>
                </a:lnTo>
                <a:lnTo>
                  <a:pt x="474359" y="632479"/>
                </a:lnTo>
                <a:lnTo>
                  <a:pt x="0" y="6324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7" id="37"/>
          <p:cNvSpPr/>
          <p:nvPr/>
        </p:nvSpPr>
        <p:spPr>
          <a:xfrm flipH="false" flipV="false" rot="0">
            <a:off x="3617157" y="6418066"/>
            <a:ext cx="622692" cy="622692"/>
          </a:xfrm>
          <a:custGeom>
            <a:avLst/>
            <a:gdLst/>
            <a:ahLst/>
            <a:cxnLst/>
            <a:rect r="r" b="b" t="t" l="l"/>
            <a:pathLst>
              <a:path h="622692" w="622692">
                <a:moveTo>
                  <a:pt x="0" y="0"/>
                </a:moveTo>
                <a:lnTo>
                  <a:pt x="622693" y="0"/>
                </a:lnTo>
                <a:lnTo>
                  <a:pt x="622693" y="622693"/>
                </a:lnTo>
                <a:lnTo>
                  <a:pt x="0" y="62269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8" id="38"/>
          <p:cNvSpPr/>
          <p:nvPr/>
        </p:nvSpPr>
        <p:spPr>
          <a:xfrm flipH="false" flipV="false" rot="0">
            <a:off x="3235671" y="8055290"/>
            <a:ext cx="550767" cy="550767"/>
          </a:xfrm>
          <a:custGeom>
            <a:avLst/>
            <a:gdLst/>
            <a:ahLst/>
            <a:cxnLst/>
            <a:rect r="r" b="b" t="t" l="l"/>
            <a:pathLst>
              <a:path h="550767" w="550767">
                <a:moveTo>
                  <a:pt x="0" y="0"/>
                </a:moveTo>
                <a:lnTo>
                  <a:pt x="550767" y="0"/>
                </a:lnTo>
                <a:lnTo>
                  <a:pt x="550767" y="550767"/>
                </a:lnTo>
                <a:lnTo>
                  <a:pt x="0" y="55076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9" id="39"/>
          <p:cNvGrpSpPr/>
          <p:nvPr/>
        </p:nvGrpSpPr>
        <p:grpSpPr>
          <a:xfrm rot="0">
            <a:off x="11082155" y="7829550"/>
            <a:ext cx="508025" cy="508025"/>
            <a:chOff x="0" y="0"/>
            <a:chExt cx="812800" cy="81280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9C88F6"/>
            </a:solidFill>
          </p:spPr>
        </p:sp>
        <p:sp>
          <p:nvSpPr>
            <p:cNvPr name="TextBox 41" id="41"/>
            <p:cNvSpPr txBox="true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20"/>
                </a:lnSpc>
              </a:pPr>
              <a:r>
                <a:rPr lang="en-US" sz="16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4</a:t>
              </a:r>
            </a:p>
          </p:txBody>
        </p:sp>
      </p:grpSp>
      <p:sp>
        <p:nvSpPr>
          <p:cNvPr name="AutoShape 42" id="42"/>
          <p:cNvSpPr/>
          <p:nvPr/>
        </p:nvSpPr>
        <p:spPr>
          <a:xfrm flipV="true">
            <a:off x="11336167" y="3669565"/>
            <a:ext cx="0" cy="858744"/>
          </a:xfrm>
          <a:prstGeom prst="line">
            <a:avLst/>
          </a:prstGeom>
          <a:ln cap="flat" w="28575">
            <a:solidFill>
              <a:srgbClr val="000000">
                <a:alpha val="60000"/>
              </a:srgbClr>
            </a:solidFill>
            <a:prstDash val="sysDot"/>
            <a:headEnd type="none" len="sm" w="sm"/>
            <a:tailEnd type="none" len="sm" w="sm"/>
          </a:ln>
        </p:spPr>
      </p:sp>
      <p:sp>
        <p:nvSpPr>
          <p:cNvPr name="AutoShape 43" id="43"/>
          <p:cNvSpPr/>
          <p:nvPr/>
        </p:nvSpPr>
        <p:spPr>
          <a:xfrm flipV="true">
            <a:off x="11336167" y="5263415"/>
            <a:ext cx="0" cy="858744"/>
          </a:xfrm>
          <a:prstGeom prst="line">
            <a:avLst/>
          </a:prstGeom>
          <a:ln cap="flat" w="28575">
            <a:solidFill>
              <a:srgbClr val="000000">
                <a:alpha val="60000"/>
              </a:srgbClr>
            </a:solidFill>
            <a:prstDash val="sysDot"/>
            <a:headEnd type="none" len="sm" w="sm"/>
            <a:tailEnd type="none" len="sm" w="sm"/>
          </a:ln>
        </p:spPr>
      </p:sp>
      <p:sp>
        <p:nvSpPr>
          <p:cNvPr name="AutoShape 44" id="44"/>
          <p:cNvSpPr/>
          <p:nvPr/>
        </p:nvSpPr>
        <p:spPr>
          <a:xfrm flipV="true">
            <a:off x="11336167" y="6857265"/>
            <a:ext cx="0" cy="858744"/>
          </a:xfrm>
          <a:prstGeom prst="line">
            <a:avLst/>
          </a:prstGeom>
          <a:ln cap="flat" w="28575">
            <a:solidFill>
              <a:srgbClr val="000000">
                <a:alpha val="60000"/>
              </a:srgbClr>
            </a:solidFill>
            <a:prstDash val="sysDot"/>
            <a:headEnd type="none" len="sm" w="sm"/>
            <a:tailEnd type="none" len="sm" w="sm"/>
          </a:ln>
        </p:spPr>
      </p:sp>
      <p:sp>
        <p:nvSpPr>
          <p:cNvPr name="TextBox 45" id="45"/>
          <p:cNvSpPr txBox="true"/>
          <p:nvPr/>
        </p:nvSpPr>
        <p:spPr>
          <a:xfrm rot="0">
            <a:off x="11945843" y="6598886"/>
            <a:ext cx="4162946" cy="5467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400">
                <a:solidFill>
                  <a:srgbClr val="000000">
                    <a:alpha val="64706"/>
                  </a:srgbClr>
                </a:solidFill>
                <a:latin typeface="Arimo"/>
                <a:ea typeface="Arimo"/>
                <a:cs typeface="Arimo"/>
                <a:sym typeface="Arimo"/>
              </a:rPr>
              <a:t>Reach for the stars in Execution, where </a:t>
            </a:r>
          </a:p>
          <a:p>
            <a:pPr algn="l">
              <a:lnSpc>
                <a:spcPts val="2100"/>
              </a:lnSpc>
            </a:pPr>
            <a:r>
              <a:rPr lang="en-US" sz="1400">
                <a:solidFill>
                  <a:srgbClr val="000000">
                    <a:alpha val="64706"/>
                  </a:srgbClr>
                </a:solidFill>
                <a:latin typeface="Arimo"/>
                <a:ea typeface="Arimo"/>
                <a:cs typeface="Arimo"/>
                <a:sym typeface="Arimo"/>
              </a:rPr>
              <a:t>strategies come to life with precision. 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1945843" y="8199086"/>
            <a:ext cx="4162946" cy="5467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400">
                <a:solidFill>
                  <a:srgbClr val="000000">
                    <a:alpha val="64706"/>
                  </a:srgbClr>
                </a:solidFill>
                <a:latin typeface="Arimo"/>
                <a:ea typeface="Arimo"/>
                <a:cs typeface="Arimo"/>
                <a:sym typeface="Arimo"/>
              </a:rPr>
              <a:t>Gain a panoramic view from the Evaluation peak, refining strategies for sustained success. 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11945843" y="6196013"/>
            <a:ext cx="4162946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0"/>
              </a:lnSpc>
            </a:pPr>
            <a:r>
              <a:rPr lang="en-US" sz="24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Execution Precision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11945843" y="7796213"/>
            <a:ext cx="4162946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0"/>
              </a:lnSpc>
            </a:pPr>
            <a:r>
              <a:rPr lang="en-US" sz="24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Evaluation Vista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5799068" y="4912036"/>
            <a:ext cx="1590874" cy="43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79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Stage 02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5794305" y="6501762"/>
            <a:ext cx="1600400" cy="43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79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Stage 03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2162444" y="866775"/>
            <a:ext cx="13946344" cy="742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59"/>
              </a:lnSpc>
            </a:pPr>
            <a:r>
              <a:rPr lang="en-US" sz="48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Pyramid of Success - 4 Stages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11945843" y="3393723"/>
            <a:ext cx="4162946" cy="5467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400">
                <a:solidFill>
                  <a:srgbClr val="000000">
                    <a:alpha val="64706"/>
                  </a:srgbClr>
                </a:solidFill>
                <a:latin typeface="Arimo"/>
                <a:ea typeface="Arimo"/>
                <a:cs typeface="Arimo"/>
                <a:sym typeface="Arimo"/>
              </a:rPr>
              <a:t>Elevate your journey with a solid Foundation, </a:t>
            </a:r>
          </a:p>
          <a:p>
            <a:pPr algn="l">
              <a:lnSpc>
                <a:spcPts val="2100"/>
              </a:lnSpc>
            </a:pPr>
            <a:r>
              <a:rPr lang="en-US" sz="1400">
                <a:solidFill>
                  <a:srgbClr val="000000">
                    <a:alpha val="64706"/>
                  </a:srgbClr>
                </a:solidFill>
                <a:latin typeface="Arimo"/>
                <a:ea typeface="Arimo"/>
                <a:cs typeface="Arimo"/>
                <a:sym typeface="Arimo"/>
              </a:rPr>
              <a:t>the bedrock of success. 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11945843" y="4998679"/>
            <a:ext cx="4162945" cy="5467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400">
                <a:solidFill>
                  <a:srgbClr val="000000">
                    <a:alpha val="64706"/>
                  </a:srgbClr>
                </a:solidFill>
                <a:latin typeface="Arimo"/>
                <a:ea typeface="Arimo"/>
                <a:cs typeface="Arimo"/>
                <a:sym typeface="Arimo"/>
              </a:rPr>
              <a:t>Scale the heights of Planning, where </a:t>
            </a:r>
          </a:p>
          <a:p>
            <a:pPr algn="l">
              <a:lnSpc>
                <a:spcPts val="2100"/>
              </a:lnSpc>
            </a:pPr>
            <a:r>
              <a:rPr lang="en-US" sz="1400">
                <a:solidFill>
                  <a:srgbClr val="000000">
                    <a:alpha val="64706"/>
                  </a:srgbClr>
                </a:solidFill>
                <a:latin typeface="Arimo"/>
                <a:ea typeface="Arimo"/>
                <a:cs typeface="Arimo"/>
                <a:sym typeface="Arimo"/>
              </a:rPr>
              <a:t>visionary strategies shape destinies. 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11945843" y="2995613"/>
            <a:ext cx="4162945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0"/>
              </a:lnSpc>
            </a:pPr>
            <a:r>
              <a:rPr lang="en-US" sz="24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Foundation Ascent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5818121" y="3322311"/>
            <a:ext cx="1552769" cy="43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79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Stage 01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5789542" y="8091488"/>
            <a:ext cx="1609926" cy="43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7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Stage 04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11945843" y="4595813"/>
            <a:ext cx="4162945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0"/>
              </a:lnSpc>
            </a:pPr>
            <a:r>
              <a:rPr lang="en-US" sz="24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Planning Heights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260705" y="2528858"/>
            <a:ext cx="7605430" cy="6567517"/>
            <a:chOff x="0" y="0"/>
            <a:chExt cx="819628" cy="70777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7328" y="9977"/>
              <a:ext cx="804971" cy="697796"/>
            </a:xfrm>
            <a:custGeom>
              <a:avLst/>
              <a:gdLst/>
              <a:ahLst/>
              <a:cxnLst/>
              <a:rect r="r" b="b" t="t" l="l"/>
              <a:pathLst>
                <a:path h="697796" w="804971">
                  <a:moveTo>
                    <a:pt x="411157" y="4999"/>
                  </a:moveTo>
                  <a:lnTo>
                    <a:pt x="803628" y="682820"/>
                  </a:lnTo>
                  <a:cubicBezTo>
                    <a:pt x="805416" y="685907"/>
                    <a:pt x="805419" y="689713"/>
                    <a:pt x="803638" y="692802"/>
                  </a:cubicBezTo>
                  <a:cubicBezTo>
                    <a:pt x="801856" y="695892"/>
                    <a:pt x="798561" y="697796"/>
                    <a:pt x="794995" y="697796"/>
                  </a:cubicBezTo>
                  <a:lnTo>
                    <a:pt x="9977" y="697796"/>
                  </a:lnTo>
                  <a:cubicBezTo>
                    <a:pt x="6411" y="697796"/>
                    <a:pt x="3115" y="695892"/>
                    <a:pt x="1334" y="692802"/>
                  </a:cubicBezTo>
                  <a:cubicBezTo>
                    <a:pt x="-447" y="689713"/>
                    <a:pt x="-444" y="685907"/>
                    <a:pt x="1343" y="682820"/>
                  </a:cubicBezTo>
                  <a:lnTo>
                    <a:pt x="393815" y="4999"/>
                  </a:lnTo>
                  <a:cubicBezTo>
                    <a:pt x="395606" y="1905"/>
                    <a:pt x="398911" y="0"/>
                    <a:pt x="402486" y="0"/>
                  </a:cubicBezTo>
                  <a:cubicBezTo>
                    <a:pt x="406061" y="0"/>
                    <a:pt x="409366" y="1905"/>
                    <a:pt x="411157" y="4999"/>
                  </a:cubicBezTo>
                  <a:close/>
                </a:path>
              </a:pathLst>
            </a:custGeom>
            <a:solidFill>
              <a:srgbClr val="E1F14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128067" y="319084"/>
              <a:ext cx="563494" cy="3381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2260705" y="3814733"/>
            <a:ext cx="6116339" cy="5281642"/>
            <a:chOff x="0" y="0"/>
            <a:chExt cx="819628" cy="70777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9113" y="12406"/>
              <a:ext cx="801402" cy="695367"/>
            </a:xfrm>
            <a:custGeom>
              <a:avLst/>
              <a:gdLst/>
              <a:ahLst/>
              <a:cxnLst/>
              <a:rect r="r" b="b" t="t" l="l"/>
              <a:pathLst>
                <a:path h="695367" w="801402">
                  <a:moveTo>
                    <a:pt x="411483" y="6216"/>
                  </a:moveTo>
                  <a:lnTo>
                    <a:pt x="799732" y="676745"/>
                  </a:lnTo>
                  <a:cubicBezTo>
                    <a:pt x="801954" y="680583"/>
                    <a:pt x="801959" y="685315"/>
                    <a:pt x="799744" y="689158"/>
                  </a:cubicBezTo>
                  <a:cubicBezTo>
                    <a:pt x="797529" y="693000"/>
                    <a:pt x="793431" y="695367"/>
                    <a:pt x="788996" y="695367"/>
                  </a:cubicBezTo>
                  <a:lnTo>
                    <a:pt x="12405" y="695367"/>
                  </a:lnTo>
                  <a:cubicBezTo>
                    <a:pt x="7970" y="695367"/>
                    <a:pt x="3873" y="693000"/>
                    <a:pt x="1658" y="689158"/>
                  </a:cubicBezTo>
                  <a:cubicBezTo>
                    <a:pt x="-557" y="685315"/>
                    <a:pt x="-553" y="680583"/>
                    <a:pt x="1669" y="676745"/>
                  </a:cubicBezTo>
                  <a:lnTo>
                    <a:pt x="389918" y="6216"/>
                  </a:lnTo>
                  <a:cubicBezTo>
                    <a:pt x="392146" y="2368"/>
                    <a:pt x="396255" y="0"/>
                    <a:pt x="400701" y="0"/>
                  </a:cubicBezTo>
                  <a:cubicBezTo>
                    <a:pt x="405147" y="0"/>
                    <a:pt x="409256" y="2368"/>
                    <a:pt x="411483" y="6216"/>
                  </a:cubicBezTo>
                  <a:close/>
                </a:path>
              </a:pathLst>
            </a:custGeom>
            <a:solidFill>
              <a:srgbClr val="64E09A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128067" y="319084"/>
              <a:ext cx="563494" cy="3381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2260705" y="5067242"/>
            <a:ext cx="4648315" cy="4029133"/>
            <a:chOff x="0" y="0"/>
            <a:chExt cx="816541" cy="70777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11960" y="16354"/>
              <a:ext cx="792622" cy="691419"/>
            </a:xfrm>
            <a:custGeom>
              <a:avLst/>
              <a:gdLst/>
              <a:ahLst/>
              <a:cxnLst/>
              <a:rect r="r" b="b" t="t" l="l"/>
              <a:pathLst>
                <a:path h="691419" w="792622">
                  <a:moveTo>
                    <a:pt x="410458" y="8172"/>
                  </a:moveTo>
                  <a:lnTo>
                    <a:pt x="790433" y="666893"/>
                  </a:lnTo>
                  <a:cubicBezTo>
                    <a:pt x="793352" y="671953"/>
                    <a:pt x="793350" y="678186"/>
                    <a:pt x="790429" y="683245"/>
                  </a:cubicBezTo>
                  <a:cubicBezTo>
                    <a:pt x="787507" y="688303"/>
                    <a:pt x="782109" y="691419"/>
                    <a:pt x="776267" y="691419"/>
                  </a:cubicBezTo>
                  <a:lnTo>
                    <a:pt x="16354" y="691419"/>
                  </a:lnTo>
                  <a:cubicBezTo>
                    <a:pt x="10512" y="691419"/>
                    <a:pt x="5114" y="688303"/>
                    <a:pt x="2192" y="683245"/>
                  </a:cubicBezTo>
                  <a:cubicBezTo>
                    <a:pt x="-730" y="678186"/>
                    <a:pt x="-731" y="671953"/>
                    <a:pt x="2188" y="666893"/>
                  </a:cubicBezTo>
                  <a:lnTo>
                    <a:pt x="382163" y="8172"/>
                  </a:lnTo>
                  <a:cubicBezTo>
                    <a:pt x="385080" y="3116"/>
                    <a:pt x="390473" y="0"/>
                    <a:pt x="396310" y="0"/>
                  </a:cubicBezTo>
                  <a:cubicBezTo>
                    <a:pt x="402148" y="0"/>
                    <a:pt x="407541" y="3116"/>
                    <a:pt x="410458" y="8172"/>
                  </a:cubicBezTo>
                  <a:close/>
                </a:path>
              </a:pathLst>
            </a:custGeom>
            <a:solidFill>
              <a:srgbClr val="DBE6F1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127585" y="319084"/>
              <a:ext cx="561372" cy="3381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2260705" y="6349776"/>
            <a:ext cx="3154168" cy="2746599"/>
            <a:chOff x="0" y="0"/>
            <a:chExt cx="812800" cy="707773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17570" y="24157"/>
              <a:ext cx="777660" cy="683616"/>
            </a:xfrm>
            <a:custGeom>
              <a:avLst/>
              <a:gdLst/>
              <a:ahLst/>
              <a:cxnLst/>
              <a:rect r="r" b="b" t="t" l="l"/>
              <a:pathLst>
                <a:path h="683616" w="777660">
                  <a:moveTo>
                    <a:pt x="409608" y="12029"/>
                  </a:moveTo>
                  <a:lnTo>
                    <a:pt x="774452" y="647430"/>
                  </a:lnTo>
                  <a:cubicBezTo>
                    <a:pt x="778745" y="654906"/>
                    <a:pt x="778728" y="664102"/>
                    <a:pt x="774410" y="671562"/>
                  </a:cubicBezTo>
                  <a:cubicBezTo>
                    <a:pt x="770091" y="679023"/>
                    <a:pt x="762124" y="683616"/>
                    <a:pt x="753503" y="683616"/>
                  </a:cubicBezTo>
                  <a:lnTo>
                    <a:pt x="24157" y="683616"/>
                  </a:lnTo>
                  <a:cubicBezTo>
                    <a:pt x="15536" y="683616"/>
                    <a:pt x="7569" y="679023"/>
                    <a:pt x="3250" y="671562"/>
                  </a:cubicBezTo>
                  <a:cubicBezTo>
                    <a:pt x="-1068" y="664102"/>
                    <a:pt x="-1085" y="654906"/>
                    <a:pt x="3208" y="647430"/>
                  </a:cubicBezTo>
                  <a:lnTo>
                    <a:pt x="368052" y="12029"/>
                  </a:lnTo>
                  <a:cubicBezTo>
                    <a:pt x="372325" y="4588"/>
                    <a:pt x="380250" y="0"/>
                    <a:pt x="388830" y="0"/>
                  </a:cubicBezTo>
                  <a:cubicBezTo>
                    <a:pt x="397410" y="0"/>
                    <a:pt x="405335" y="4588"/>
                    <a:pt x="409608" y="12029"/>
                  </a:cubicBezTo>
                  <a:close/>
                </a:path>
              </a:pathLst>
            </a:custGeom>
            <a:solidFill>
              <a:srgbClr val="9C88F6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127000" y="319084"/>
              <a:ext cx="558800" cy="3381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2260705" y="7602928"/>
            <a:ext cx="1706797" cy="1493447"/>
            <a:chOff x="0" y="0"/>
            <a:chExt cx="812800" cy="7112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32362" y="44749"/>
              <a:ext cx="748077" cy="666451"/>
            </a:xfrm>
            <a:custGeom>
              <a:avLst/>
              <a:gdLst/>
              <a:ahLst/>
              <a:cxnLst/>
              <a:rect r="r" b="b" t="t" l="l"/>
              <a:pathLst>
                <a:path h="666451" w="748077">
                  <a:moveTo>
                    <a:pt x="412296" y="22202"/>
                  </a:moveTo>
                  <a:lnTo>
                    <a:pt x="742180" y="599500"/>
                  </a:lnTo>
                  <a:cubicBezTo>
                    <a:pt x="750095" y="613350"/>
                    <a:pt x="750038" y="630366"/>
                    <a:pt x="742031" y="644163"/>
                  </a:cubicBezTo>
                  <a:cubicBezTo>
                    <a:pt x="734025" y="657959"/>
                    <a:pt x="719279" y="666451"/>
                    <a:pt x="703327" y="666451"/>
                  </a:cubicBezTo>
                  <a:lnTo>
                    <a:pt x="44749" y="666451"/>
                  </a:lnTo>
                  <a:cubicBezTo>
                    <a:pt x="28797" y="666451"/>
                    <a:pt x="14051" y="657959"/>
                    <a:pt x="6045" y="644163"/>
                  </a:cubicBezTo>
                  <a:cubicBezTo>
                    <a:pt x="-1962" y="630366"/>
                    <a:pt x="-2019" y="613350"/>
                    <a:pt x="5896" y="599500"/>
                  </a:cubicBezTo>
                  <a:lnTo>
                    <a:pt x="335780" y="22202"/>
                  </a:lnTo>
                  <a:cubicBezTo>
                    <a:pt x="343625" y="8473"/>
                    <a:pt x="358226" y="0"/>
                    <a:pt x="374038" y="0"/>
                  </a:cubicBezTo>
                  <a:cubicBezTo>
                    <a:pt x="389850" y="0"/>
                    <a:pt x="404451" y="8473"/>
                    <a:pt x="412296" y="22202"/>
                  </a:cubicBezTo>
                  <a:close/>
                </a:path>
              </a:pathLst>
            </a:custGeom>
            <a:solidFill>
              <a:srgbClr val="16324F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127000" y="320675"/>
              <a:ext cx="558800" cy="339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1487975" y="2600325"/>
            <a:ext cx="495974" cy="495974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6324F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20"/>
                </a:lnSpc>
              </a:pPr>
              <a:r>
                <a:rPr lang="en-US" sz="16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1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1487975" y="4010025"/>
            <a:ext cx="495974" cy="495974"/>
            <a:chOff x="0" y="0"/>
            <a:chExt cx="812800" cy="812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9C88F6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20"/>
                </a:lnSpc>
              </a:pPr>
              <a:r>
                <a:rPr lang="en-US" sz="16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2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1487975" y="5419725"/>
            <a:ext cx="495974" cy="495974"/>
            <a:chOff x="0" y="0"/>
            <a:chExt cx="812800" cy="8128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BE6F1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20"/>
                </a:lnSpc>
              </a:pPr>
              <a:r>
                <a:rPr lang="en-US" sz="1600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3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1487975" y="6829425"/>
            <a:ext cx="495974" cy="495974"/>
            <a:chOff x="0" y="0"/>
            <a:chExt cx="812800" cy="8128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4E09A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20"/>
                </a:lnSpc>
              </a:pPr>
              <a:r>
                <a:rPr lang="en-US" sz="1600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4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1487975" y="8239125"/>
            <a:ext cx="495974" cy="495974"/>
            <a:chOff x="0" y="0"/>
            <a:chExt cx="812800" cy="8128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1F14F"/>
            </a:solidFill>
          </p:spPr>
        </p:sp>
        <p:sp>
          <p:nvSpPr>
            <p:cNvPr name="TextBox 31" id="31"/>
            <p:cNvSpPr txBox="true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20"/>
                </a:lnSpc>
              </a:pPr>
              <a:r>
                <a:rPr lang="en-US" sz="1600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5</a:t>
              </a:r>
            </a:p>
          </p:txBody>
        </p:sp>
      </p:grpSp>
      <p:sp>
        <p:nvSpPr>
          <p:cNvPr name="AutoShape 32" id="32"/>
          <p:cNvSpPr/>
          <p:nvPr/>
        </p:nvSpPr>
        <p:spPr>
          <a:xfrm>
            <a:off x="11735962" y="3186449"/>
            <a:ext cx="0" cy="733425"/>
          </a:xfrm>
          <a:prstGeom prst="line">
            <a:avLst/>
          </a:prstGeom>
          <a:ln cap="flat" w="28575">
            <a:solidFill>
              <a:srgbClr val="000000">
                <a:alpha val="69804"/>
              </a:srgbClr>
            </a:solidFill>
            <a:prstDash val="sysDot"/>
            <a:headEnd type="none" len="sm" w="sm"/>
            <a:tailEnd type="none" len="sm" w="sm"/>
          </a:ln>
        </p:spPr>
      </p:sp>
      <p:sp>
        <p:nvSpPr>
          <p:cNvPr name="AutoShape 33" id="33"/>
          <p:cNvSpPr/>
          <p:nvPr/>
        </p:nvSpPr>
        <p:spPr>
          <a:xfrm>
            <a:off x="11735962" y="4596149"/>
            <a:ext cx="0" cy="733425"/>
          </a:xfrm>
          <a:prstGeom prst="line">
            <a:avLst/>
          </a:prstGeom>
          <a:ln cap="flat" w="28575">
            <a:solidFill>
              <a:srgbClr val="000000">
                <a:alpha val="69804"/>
              </a:srgbClr>
            </a:solidFill>
            <a:prstDash val="sysDot"/>
            <a:headEnd type="none" len="sm" w="sm"/>
            <a:tailEnd type="none" len="sm" w="sm"/>
          </a:ln>
        </p:spPr>
      </p:sp>
      <p:sp>
        <p:nvSpPr>
          <p:cNvPr name="AutoShape 34" id="34"/>
          <p:cNvSpPr/>
          <p:nvPr/>
        </p:nvSpPr>
        <p:spPr>
          <a:xfrm>
            <a:off x="11735962" y="6005849"/>
            <a:ext cx="0" cy="733425"/>
          </a:xfrm>
          <a:prstGeom prst="line">
            <a:avLst/>
          </a:prstGeom>
          <a:ln cap="flat" w="28575">
            <a:solidFill>
              <a:srgbClr val="000000">
                <a:alpha val="69804"/>
              </a:srgbClr>
            </a:solidFill>
            <a:prstDash val="sysDot"/>
            <a:headEnd type="none" len="sm" w="sm"/>
            <a:tailEnd type="none" len="sm" w="sm"/>
          </a:ln>
        </p:spPr>
      </p:sp>
      <p:sp>
        <p:nvSpPr>
          <p:cNvPr name="AutoShape 35" id="35"/>
          <p:cNvSpPr/>
          <p:nvPr/>
        </p:nvSpPr>
        <p:spPr>
          <a:xfrm>
            <a:off x="11735962" y="7415549"/>
            <a:ext cx="0" cy="733425"/>
          </a:xfrm>
          <a:prstGeom prst="line">
            <a:avLst/>
          </a:prstGeom>
          <a:ln cap="flat" w="28575">
            <a:solidFill>
              <a:srgbClr val="000000">
                <a:alpha val="69804"/>
              </a:srgbClr>
            </a:solidFill>
            <a:prstDash val="sysDot"/>
            <a:headEnd type="none" len="sm" w="sm"/>
            <a:tailEnd type="none" len="sm" w="sm"/>
          </a:ln>
        </p:spPr>
      </p:sp>
      <p:sp>
        <p:nvSpPr>
          <p:cNvPr name="Freeform 36" id="36"/>
          <p:cNvSpPr/>
          <p:nvPr/>
        </p:nvSpPr>
        <p:spPr>
          <a:xfrm flipH="false" flipV="false" rot="0">
            <a:off x="7031780" y="8205787"/>
            <a:ext cx="611654" cy="611654"/>
          </a:xfrm>
          <a:custGeom>
            <a:avLst/>
            <a:gdLst/>
            <a:ahLst/>
            <a:cxnLst/>
            <a:rect r="r" b="b" t="t" l="l"/>
            <a:pathLst>
              <a:path h="611654" w="611654">
                <a:moveTo>
                  <a:pt x="0" y="0"/>
                </a:moveTo>
                <a:lnTo>
                  <a:pt x="611654" y="0"/>
                </a:lnTo>
                <a:lnTo>
                  <a:pt x="611654" y="611654"/>
                </a:lnTo>
                <a:lnTo>
                  <a:pt x="0" y="61165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7" id="37"/>
          <p:cNvSpPr/>
          <p:nvPr/>
        </p:nvSpPr>
        <p:spPr>
          <a:xfrm flipH="false" flipV="false" rot="0">
            <a:off x="4127914" y="8271875"/>
            <a:ext cx="545565" cy="545565"/>
          </a:xfrm>
          <a:custGeom>
            <a:avLst/>
            <a:gdLst/>
            <a:ahLst/>
            <a:cxnLst/>
            <a:rect r="r" b="b" t="t" l="l"/>
            <a:pathLst>
              <a:path h="545565" w="545565">
                <a:moveTo>
                  <a:pt x="0" y="0"/>
                </a:moveTo>
                <a:lnTo>
                  <a:pt x="545566" y="0"/>
                </a:lnTo>
                <a:lnTo>
                  <a:pt x="545566" y="545566"/>
                </a:lnTo>
                <a:lnTo>
                  <a:pt x="0" y="54556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8" id="38"/>
          <p:cNvSpPr/>
          <p:nvPr/>
        </p:nvSpPr>
        <p:spPr>
          <a:xfrm flipH="false" flipV="false" rot="0">
            <a:off x="2865249" y="8299166"/>
            <a:ext cx="518275" cy="518275"/>
          </a:xfrm>
          <a:custGeom>
            <a:avLst/>
            <a:gdLst/>
            <a:ahLst/>
            <a:cxnLst/>
            <a:rect r="r" b="b" t="t" l="l"/>
            <a:pathLst>
              <a:path h="518275" w="518275">
                <a:moveTo>
                  <a:pt x="0" y="0"/>
                </a:moveTo>
                <a:lnTo>
                  <a:pt x="518275" y="0"/>
                </a:lnTo>
                <a:lnTo>
                  <a:pt x="518275" y="518275"/>
                </a:lnTo>
                <a:lnTo>
                  <a:pt x="0" y="51827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9" id="39"/>
          <p:cNvSpPr/>
          <p:nvPr/>
        </p:nvSpPr>
        <p:spPr>
          <a:xfrm flipH="false" flipV="false" rot="0">
            <a:off x="5616249" y="8248650"/>
            <a:ext cx="568791" cy="568791"/>
          </a:xfrm>
          <a:custGeom>
            <a:avLst/>
            <a:gdLst/>
            <a:ahLst/>
            <a:cxnLst/>
            <a:rect r="r" b="b" t="t" l="l"/>
            <a:pathLst>
              <a:path h="568791" w="568791">
                <a:moveTo>
                  <a:pt x="0" y="0"/>
                </a:moveTo>
                <a:lnTo>
                  <a:pt x="568791" y="0"/>
                </a:lnTo>
                <a:lnTo>
                  <a:pt x="568791" y="568791"/>
                </a:lnTo>
                <a:lnTo>
                  <a:pt x="0" y="56879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0" id="40"/>
          <p:cNvSpPr/>
          <p:nvPr/>
        </p:nvSpPr>
        <p:spPr>
          <a:xfrm flipH="false" flipV="false" rot="0">
            <a:off x="8554490" y="8271875"/>
            <a:ext cx="499874" cy="545565"/>
          </a:xfrm>
          <a:custGeom>
            <a:avLst/>
            <a:gdLst/>
            <a:ahLst/>
            <a:cxnLst/>
            <a:rect r="r" b="b" t="t" l="l"/>
            <a:pathLst>
              <a:path h="545565" w="499874">
                <a:moveTo>
                  <a:pt x="0" y="0"/>
                </a:moveTo>
                <a:lnTo>
                  <a:pt x="499874" y="0"/>
                </a:lnTo>
                <a:lnTo>
                  <a:pt x="499874" y="545566"/>
                </a:lnTo>
                <a:lnTo>
                  <a:pt x="0" y="54556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1" id="41"/>
          <p:cNvSpPr txBox="true"/>
          <p:nvPr/>
        </p:nvSpPr>
        <p:spPr>
          <a:xfrm rot="0">
            <a:off x="1921163" y="866775"/>
            <a:ext cx="14438434" cy="742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59"/>
              </a:lnSpc>
            </a:pPr>
            <a:r>
              <a:rPr lang="en-US" sz="48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Pyramid of Success - 5 Stages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2317368" y="2943225"/>
            <a:ext cx="4263227" cy="5467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400">
                <a:solidFill>
                  <a:srgbClr val="000000">
                    <a:alpha val="64706"/>
                  </a:srgbClr>
                </a:solidFill>
                <a:latin typeface="Arimo"/>
                <a:ea typeface="Arimo"/>
                <a:cs typeface="Arimo"/>
                <a:sym typeface="Arimo"/>
              </a:rPr>
              <a:t>Ascend the Insight Summit, where </a:t>
            </a:r>
          </a:p>
          <a:p>
            <a:pPr algn="l">
              <a:lnSpc>
                <a:spcPts val="2100"/>
              </a:lnSpc>
            </a:pPr>
            <a:r>
              <a:rPr lang="en-US" sz="1400">
                <a:solidFill>
                  <a:srgbClr val="000000">
                    <a:alpha val="64706"/>
                  </a:srgbClr>
                </a:solidFill>
                <a:latin typeface="Arimo"/>
                <a:ea typeface="Arimo"/>
                <a:cs typeface="Arimo"/>
                <a:sym typeface="Arimo"/>
              </a:rPr>
              <a:t>market insights shine like the sun. 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2317368" y="2547937"/>
            <a:ext cx="4263227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39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Insight Summit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2317368" y="4352925"/>
            <a:ext cx="4263227" cy="5467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400">
                <a:solidFill>
                  <a:srgbClr val="000000">
                    <a:alpha val="64706"/>
                  </a:srgbClr>
                </a:solidFill>
                <a:latin typeface="Arimo"/>
                <a:ea typeface="Arimo"/>
                <a:cs typeface="Arimo"/>
                <a:sym typeface="Arimo"/>
              </a:rPr>
              <a:t>Reach the Strategy Apex, where plans unfold </a:t>
            </a:r>
          </a:p>
          <a:p>
            <a:pPr algn="l">
              <a:lnSpc>
                <a:spcPts val="2100"/>
              </a:lnSpc>
            </a:pPr>
            <a:r>
              <a:rPr lang="en-US" sz="1400">
                <a:solidFill>
                  <a:srgbClr val="000000">
                    <a:alpha val="64706"/>
                  </a:srgbClr>
                </a:solidFill>
                <a:latin typeface="Arimo"/>
                <a:ea typeface="Arimo"/>
                <a:cs typeface="Arimo"/>
                <a:sym typeface="Arimo"/>
              </a:rPr>
              <a:t>with the brilliance of a sunrise.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2317368" y="3957637"/>
            <a:ext cx="4263227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39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Strategy Apex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2317368" y="5762625"/>
            <a:ext cx="4263227" cy="5467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400">
                <a:solidFill>
                  <a:srgbClr val="000000">
                    <a:alpha val="64706"/>
                  </a:srgbClr>
                </a:solidFill>
                <a:latin typeface="Arimo"/>
                <a:ea typeface="Arimo"/>
                <a:cs typeface="Arimo"/>
                <a:sym typeface="Arimo"/>
              </a:rPr>
              <a:t>Conquer the Execution Pinnacle, bringing </a:t>
            </a:r>
          </a:p>
          <a:p>
            <a:pPr algn="l">
              <a:lnSpc>
                <a:spcPts val="2100"/>
              </a:lnSpc>
            </a:pPr>
            <a:r>
              <a:rPr lang="en-US" sz="1400">
                <a:solidFill>
                  <a:srgbClr val="000000">
                    <a:alpha val="64706"/>
                  </a:srgbClr>
                </a:solidFill>
                <a:latin typeface="Arimo"/>
                <a:ea typeface="Arimo"/>
                <a:cs typeface="Arimo"/>
                <a:sym typeface="Arimo"/>
              </a:rPr>
              <a:t>strategies to life with unparalleled precision. 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12317368" y="5367337"/>
            <a:ext cx="4263227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39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Execution Pinnacle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12317368" y="7172325"/>
            <a:ext cx="4263227" cy="5467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400">
                <a:solidFill>
                  <a:srgbClr val="000000">
                    <a:alpha val="64706"/>
                  </a:srgbClr>
                </a:solidFill>
                <a:latin typeface="Arimo"/>
                <a:ea typeface="Arimo"/>
                <a:cs typeface="Arimo"/>
                <a:sym typeface="Arimo"/>
              </a:rPr>
              <a:t>Stand tall on the Watchtower Vista, overseeing performance metrics on the horizon. 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12317368" y="6777037"/>
            <a:ext cx="4263227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39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Watchtower Vista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12317368" y="8582025"/>
            <a:ext cx="4263227" cy="5467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400">
                <a:solidFill>
                  <a:srgbClr val="000000">
                    <a:alpha val="64706"/>
                  </a:srgbClr>
                </a:solidFill>
                <a:latin typeface="Arimo"/>
                <a:ea typeface="Arimo"/>
                <a:cs typeface="Arimo"/>
                <a:sym typeface="Arimo"/>
              </a:rPr>
              <a:t>Soar through the Adaptation Skyline, navigating</a:t>
            </a:r>
          </a:p>
          <a:p>
            <a:pPr algn="l">
              <a:lnSpc>
                <a:spcPts val="2100"/>
              </a:lnSpc>
            </a:pPr>
            <a:r>
              <a:rPr lang="en-US" sz="1400">
                <a:solidFill>
                  <a:srgbClr val="000000">
                    <a:alpha val="64706"/>
                  </a:srgbClr>
                </a:solidFill>
                <a:latin typeface="Arimo"/>
                <a:ea typeface="Arimo"/>
                <a:cs typeface="Arimo"/>
                <a:sym typeface="Arimo"/>
              </a:rPr>
              <a:t> the dynamic currents of opportunity.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12317368" y="8186737"/>
            <a:ext cx="4263227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39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Adaptation Skyline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495870" y="866775"/>
            <a:ext cx="15289019" cy="742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59"/>
              </a:lnSpc>
            </a:pPr>
            <a:r>
              <a:rPr lang="en-US" sz="48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Pyramid of Innovation - 5 Stages 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3228101" y="2314575"/>
            <a:ext cx="5478018" cy="6934200"/>
          </a:xfrm>
          <a:custGeom>
            <a:avLst/>
            <a:gdLst/>
            <a:ahLst/>
            <a:cxnLst/>
            <a:rect r="r" b="b" t="t" l="l"/>
            <a:pathLst>
              <a:path h="6934200" w="5478018">
                <a:moveTo>
                  <a:pt x="0" y="0"/>
                </a:moveTo>
                <a:lnTo>
                  <a:pt x="5478018" y="0"/>
                </a:lnTo>
                <a:lnTo>
                  <a:pt x="5478018" y="6934200"/>
                </a:lnTo>
                <a:lnTo>
                  <a:pt x="0" y="69342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1936317" y="2905125"/>
            <a:ext cx="4162946" cy="5467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400">
                <a:solidFill>
                  <a:srgbClr val="000000">
                    <a:alpha val="64706"/>
                  </a:srgbClr>
                </a:solidFill>
                <a:latin typeface="Arimo"/>
                <a:ea typeface="Arimo"/>
                <a:cs typeface="Arimo"/>
                <a:sym typeface="Arimo"/>
              </a:rPr>
              <a:t>Ignite the Ideation Spark, where creative </a:t>
            </a:r>
          </a:p>
          <a:p>
            <a:pPr algn="l">
              <a:lnSpc>
                <a:spcPts val="2100"/>
              </a:lnSpc>
            </a:pPr>
            <a:r>
              <a:rPr lang="en-US" sz="1400">
                <a:solidFill>
                  <a:srgbClr val="000000">
                    <a:alpha val="64706"/>
                  </a:srgbClr>
                </a:solidFill>
                <a:latin typeface="Arimo"/>
                <a:ea typeface="Arimo"/>
                <a:cs typeface="Arimo"/>
                <a:sym typeface="Arimo"/>
              </a:rPr>
              <a:t>flames illuminate possibilities. 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1936317" y="2509837"/>
            <a:ext cx="4162946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39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Ideation Spark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1936317" y="4314825"/>
            <a:ext cx="4162946" cy="5467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400">
                <a:solidFill>
                  <a:srgbClr val="000000">
                    <a:alpha val="64706"/>
                  </a:srgbClr>
                </a:solidFill>
                <a:latin typeface="Arimo"/>
                <a:ea typeface="Arimo"/>
                <a:cs typeface="Arimo"/>
                <a:sym typeface="Arimo"/>
              </a:rPr>
              <a:t>Craft a Blueprint Brilliance, sketching the </a:t>
            </a:r>
          </a:p>
          <a:p>
            <a:pPr algn="l">
              <a:lnSpc>
                <a:spcPts val="2100"/>
              </a:lnSpc>
            </a:pPr>
            <a:r>
              <a:rPr lang="en-US" sz="1400">
                <a:solidFill>
                  <a:srgbClr val="000000">
                    <a:alpha val="64706"/>
                  </a:srgbClr>
                </a:solidFill>
                <a:latin typeface="Arimo"/>
                <a:ea typeface="Arimo"/>
                <a:cs typeface="Arimo"/>
                <a:sym typeface="Arimo"/>
              </a:rPr>
              <a:t>future with strategic foresight. 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1936317" y="3919537"/>
            <a:ext cx="4162945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39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Blueprint Brilliance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1936317" y="5724525"/>
            <a:ext cx="4162946" cy="5467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400">
                <a:solidFill>
                  <a:srgbClr val="000000">
                    <a:alpha val="64706"/>
                  </a:srgbClr>
                </a:solidFill>
                <a:latin typeface="Arimo"/>
                <a:ea typeface="Arimo"/>
                <a:cs typeface="Arimo"/>
                <a:sym typeface="Arimo"/>
              </a:rPr>
              <a:t>Execute with Excellence, transforming plans </a:t>
            </a:r>
          </a:p>
          <a:p>
            <a:pPr algn="l">
              <a:lnSpc>
                <a:spcPts val="2100"/>
              </a:lnSpc>
            </a:pPr>
            <a:r>
              <a:rPr lang="en-US" sz="1400">
                <a:solidFill>
                  <a:srgbClr val="000000">
                    <a:alpha val="64706"/>
                  </a:srgbClr>
                </a:solidFill>
                <a:latin typeface="Arimo"/>
                <a:ea typeface="Arimo"/>
                <a:cs typeface="Arimo"/>
                <a:sym typeface="Arimo"/>
              </a:rPr>
              <a:t>into a symphony of success.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1936317" y="5329237"/>
            <a:ext cx="4162946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39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Execution Excellence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1936317" y="7134225"/>
            <a:ext cx="4162946" cy="5467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400">
                <a:solidFill>
                  <a:srgbClr val="000000">
                    <a:alpha val="64706"/>
                  </a:srgbClr>
                </a:solidFill>
                <a:latin typeface="Arimo"/>
                <a:ea typeface="Arimo"/>
                <a:cs typeface="Arimo"/>
                <a:sym typeface="Arimo"/>
              </a:rPr>
              <a:t>Ascend the Performance Peaks, surveying key </a:t>
            </a:r>
          </a:p>
          <a:p>
            <a:pPr algn="l">
              <a:lnSpc>
                <a:spcPts val="2100"/>
              </a:lnSpc>
            </a:pPr>
            <a:r>
              <a:rPr lang="en-US" sz="1400">
                <a:solidFill>
                  <a:srgbClr val="000000">
                    <a:alpha val="64706"/>
                  </a:srgbClr>
                </a:solidFill>
                <a:latin typeface="Arimo"/>
                <a:ea typeface="Arimo"/>
                <a:cs typeface="Arimo"/>
                <a:sym typeface="Arimo"/>
              </a:rPr>
              <a:t>metrics from the strategic summit.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1936317" y="6738937"/>
            <a:ext cx="4162945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39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Performance Peaks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1936317" y="8543925"/>
            <a:ext cx="4162946" cy="5467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400">
                <a:solidFill>
                  <a:srgbClr val="000000">
                    <a:alpha val="64706"/>
                  </a:srgbClr>
                </a:solidFill>
                <a:latin typeface="Arimo"/>
                <a:ea typeface="Arimo"/>
                <a:cs typeface="Arimo"/>
                <a:sym typeface="Arimo"/>
              </a:rPr>
              <a:t>Reach the Innovation Zenith, a pinnacle where groundbreaking ideas flourish. 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1936317" y="8148637"/>
            <a:ext cx="4162945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39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Innovation Zenith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11079022" y="3914775"/>
            <a:ext cx="495300" cy="495300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1F14F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20"/>
                </a:lnSpc>
              </a:pPr>
              <a:r>
                <a:rPr lang="en-US" sz="1600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2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1079022" y="2495550"/>
            <a:ext cx="495300" cy="495300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6324F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20"/>
                </a:lnSpc>
              </a:pPr>
              <a:r>
                <a:rPr lang="en-US" sz="16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1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1079022" y="5334000"/>
            <a:ext cx="495300" cy="495300"/>
            <a:chOff x="0" y="0"/>
            <a:chExt cx="812800" cy="812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4E09A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20"/>
                </a:lnSpc>
              </a:pPr>
              <a:r>
                <a:rPr lang="en-US" sz="1600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3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1079022" y="6753225"/>
            <a:ext cx="495300" cy="495300"/>
            <a:chOff x="0" y="0"/>
            <a:chExt cx="812800" cy="8128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BE6F1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20"/>
                </a:lnSpc>
              </a:pPr>
              <a:r>
                <a:rPr lang="en-US" sz="1600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4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1079022" y="8172450"/>
            <a:ext cx="495300" cy="495300"/>
            <a:chOff x="0" y="0"/>
            <a:chExt cx="812800" cy="8128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9C88F6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20"/>
                </a:lnSpc>
              </a:pPr>
              <a:r>
                <a:rPr lang="en-US" sz="16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5</a:t>
              </a:r>
            </a:p>
          </p:txBody>
        </p:sp>
      </p:grpSp>
      <p:sp>
        <p:nvSpPr>
          <p:cNvPr name="AutoShape 29" id="29"/>
          <p:cNvSpPr/>
          <p:nvPr/>
        </p:nvSpPr>
        <p:spPr>
          <a:xfrm flipH="true">
            <a:off x="11326672" y="3086100"/>
            <a:ext cx="0" cy="733425"/>
          </a:xfrm>
          <a:prstGeom prst="line">
            <a:avLst/>
          </a:prstGeom>
          <a:ln cap="flat" w="28575">
            <a:solidFill>
              <a:srgbClr val="000000">
                <a:alpha val="60000"/>
              </a:srgbClr>
            </a:solidFill>
            <a:prstDash val="sysDot"/>
            <a:headEnd type="none" len="sm" w="sm"/>
            <a:tailEnd type="none" len="sm" w="sm"/>
          </a:ln>
        </p:spPr>
      </p:sp>
      <p:sp>
        <p:nvSpPr>
          <p:cNvPr name="AutoShape 30" id="30"/>
          <p:cNvSpPr/>
          <p:nvPr/>
        </p:nvSpPr>
        <p:spPr>
          <a:xfrm flipH="true">
            <a:off x="11326672" y="4505325"/>
            <a:ext cx="0" cy="733425"/>
          </a:xfrm>
          <a:prstGeom prst="line">
            <a:avLst/>
          </a:prstGeom>
          <a:ln cap="flat" w="28575">
            <a:solidFill>
              <a:srgbClr val="000000">
                <a:alpha val="60000"/>
              </a:srgbClr>
            </a:solidFill>
            <a:prstDash val="sysDot"/>
            <a:headEnd type="none" len="sm" w="sm"/>
            <a:tailEnd type="none" len="sm" w="sm"/>
          </a:ln>
        </p:spPr>
      </p:sp>
      <p:sp>
        <p:nvSpPr>
          <p:cNvPr name="AutoShape 31" id="31"/>
          <p:cNvSpPr/>
          <p:nvPr/>
        </p:nvSpPr>
        <p:spPr>
          <a:xfrm flipH="true">
            <a:off x="11326672" y="5924550"/>
            <a:ext cx="0" cy="733425"/>
          </a:xfrm>
          <a:prstGeom prst="line">
            <a:avLst/>
          </a:prstGeom>
          <a:ln cap="flat" w="28575">
            <a:solidFill>
              <a:srgbClr val="000000">
                <a:alpha val="60000"/>
              </a:srgbClr>
            </a:solidFill>
            <a:prstDash val="sysDot"/>
            <a:headEnd type="none" len="sm" w="sm"/>
            <a:tailEnd type="none" len="sm" w="sm"/>
          </a:ln>
        </p:spPr>
      </p:sp>
      <p:sp>
        <p:nvSpPr>
          <p:cNvPr name="AutoShape 32" id="32"/>
          <p:cNvSpPr/>
          <p:nvPr/>
        </p:nvSpPr>
        <p:spPr>
          <a:xfrm flipH="true">
            <a:off x="11326672" y="7343775"/>
            <a:ext cx="0" cy="733425"/>
          </a:xfrm>
          <a:prstGeom prst="line">
            <a:avLst/>
          </a:prstGeom>
          <a:ln cap="flat" w="28575">
            <a:solidFill>
              <a:srgbClr val="000000">
                <a:alpha val="60000"/>
              </a:srgbClr>
            </a:solidFill>
            <a:prstDash val="sysDot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455810" y="866775"/>
            <a:ext cx="15369140" cy="742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59"/>
              </a:lnSpc>
            </a:pPr>
            <a:r>
              <a:rPr lang="en-US" sz="48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Innovation Ascent - 5 Stages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2490065" y="2362200"/>
            <a:ext cx="4036040" cy="6943725"/>
          </a:xfrm>
          <a:custGeom>
            <a:avLst/>
            <a:gdLst/>
            <a:ahLst/>
            <a:cxnLst/>
            <a:rect r="r" b="b" t="t" l="l"/>
            <a:pathLst>
              <a:path h="6943725" w="4036040">
                <a:moveTo>
                  <a:pt x="0" y="0"/>
                </a:moveTo>
                <a:lnTo>
                  <a:pt x="4036040" y="0"/>
                </a:lnTo>
                <a:lnTo>
                  <a:pt x="4036040" y="6943725"/>
                </a:lnTo>
                <a:lnTo>
                  <a:pt x="0" y="694372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5210055" y="2543175"/>
            <a:ext cx="495300" cy="495300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1F14F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20"/>
                </a:lnSpc>
              </a:pPr>
              <a:r>
                <a:rPr lang="en-US" sz="1600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1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4424736" y="3952875"/>
            <a:ext cx="495300" cy="495300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4E09A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20"/>
                </a:lnSpc>
              </a:pPr>
              <a:r>
                <a:rPr lang="en-US" sz="1600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2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3639416" y="5362575"/>
            <a:ext cx="495300" cy="495300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BE6F1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20"/>
                </a:lnSpc>
              </a:pPr>
              <a:r>
                <a:rPr lang="en-US" sz="1600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3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2854097" y="6772275"/>
            <a:ext cx="495300" cy="495300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9C88F6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19"/>
                </a:lnSpc>
              </a:pPr>
              <a:r>
                <a:rPr lang="en-US" sz="1599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4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2068777" y="8181975"/>
            <a:ext cx="495300" cy="495300"/>
            <a:chOff x="0" y="0"/>
            <a:chExt cx="812800" cy="812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6324F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19"/>
                </a:lnSpc>
              </a:pPr>
              <a:r>
                <a:rPr lang="en-US" sz="1599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5</a:t>
              </a:r>
            </a:p>
          </p:txBody>
        </p:sp>
      </p:grpSp>
      <p:sp>
        <p:nvSpPr>
          <p:cNvPr name="AutoShape 19" id="19"/>
          <p:cNvSpPr/>
          <p:nvPr/>
        </p:nvSpPr>
        <p:spPr>
          <a:xfrm>
            <a:off x="12408718" y="3038475"/>
            <a:ext cx="1975947" cy="0"/>
          </a:xfrm>
          <a:prstGeom prst="line">
            <a:avLst/>
          </a:prstGeom>
          <a:ln cap="flat" w="28575">
            <a:solidFill>
              <a:srgbClr val="000000">
                <a:alpha val="49804"/>
              </a:srgbClr>
            </a:solidFill>
            <a:prstDash val="sysDot"/>
            <a:headEnd type="none" len="sm" w="sm"/>
            <a:tailEnd type="none" len="sm" w="sm"/>
          </a:ln>
        </p:spPr>
      </p:sp>
      <p:sp>
        <p:nvSpPr>
          <p:cNvPr name="AutoShape 20" id="20"/>
          <p:cNvSpPr/>
          <p:nvPr/>
        </p:nvSpPr>
        <p:spPr>
          <a:xfrm>
            <a:off x="12408718" y="4450556"/>
            <a:ext cx="1975947" cy="0"/>
          </a:xfrm>
          <a:prstGeom prst="line">
            <a:avLst/>
          </a:prstGeom>
          <a:ln cap="flat" w="28575">
            <a:solidFill>
              <a:srgbClr val="000000">
                <a:alpha val="49804"/>
              </a:srgbClr>
            </a:solidFill>
            <a:prstDash val="sysDot"/>
            <a:headEnd type="none" len="sm" w="sm"/>
            <a:tailEnd type="none" len="sm" w="sm"/>
          </a:ln>
        </p:spPr>
      </p:sp>
      <p:sp>
        <p:nvSpPr>
          <p:cNvPr name="AutoShape 21" id="21"/>
          <p:cNvSpPr/>
          <p:nvPr/>
        </p:nvSpPr>
        <p:spPr>
          <a:xfrm>
            <a:off x="12408718" y="5862638"/>
            <a:ext cx="1975947" cy="0"/>
          </a:xfrm>
          <a:prstGeom prst="line">
            <a:avLst/>
          </a:prstGeom>
          <a:ln cap="flat" w="28575">
            <a:solidFill>
              <a:srgbClr val="000000">
                <a:alpha val="49804"/>
              </a:srgbClr>
            </a:solidFill>
            <a:prstDash val="sysDot"/>
            <a:headEnd type="none" len="sm" w="sm"/>
            <a:tailEnd type="none" len="sm" w="sm"/>
          </a:ln>
        </p:spPr>
      </p:sp>
      <p:sp>
        <p:nvSpPr>
          <p:cNvPr name="AutoShape 22" id="22"/>
          <p:cNvSpPr/>
          <p:nvPr/>
        </p:nvSpPr>
        <p:spPr>
          <a:xfrm>
            <a:off x="12408718" y="7274719"/>
            <a:ext cx="1975947" cy="0"/>
          </a:xfrm>
          <a:prstGeom prst="line">
            <a:avLst/>
          </a:prstGeom>
          <a:ln cap="flat" w="28575">
            <a:solidFill>
              <a:srgbClr val="000000">
                <a:alpha val="49804"/>
              </a:srgbClr>
            </a:solidFill>
            <a:prstDash val="sysDot"/>
            <a:headEnd type="none" len="sm" w="sm"/>
            <a:tailEnd type="none" len="sm" w="sm"/>
          </a:ln>
        </p:spPr>
      </p:sp>
      <p:sp>
        <p:nvSpPr>
          <p:cNvPr name="AutoShape 23" id="23"/>
          <p:cNvSpPr/>
          <p:nvPr/>
        </p:nvSpPr>
        <p:spPr>
          <a:xfrm>
            <a:off x="12408718" y="8686800"/>
            <a:ext cx="1975947" cy="0"/>
          </a:xfrm>
          <a:prstGeom prst="line">
            <a:avLst/>
          </a:prstGeom>
          <a:ln cap="flat" w="28575">
            <a:solidFill>
              <a:srgbClr val="16324F">
                <a:alpha val="49804"/>
              </a:srgbClr>
            </a:solidFill>
            <a:prstDash val="sysDot"/>
            <a:headEnd type="none" len="sm" w="sm"/>
            <a:tailEnd type="none" len="sm" w="sm"/>
          </a:ln>
        </p:spPr>
      </p:sp>
      <p:grpSp>
        <p:nvGrpSpPr>
          <p:cNvPr name="Group 24" id="24"/>
          <p:cNvGrpSpPr/>
          <p:nvPr/>
        </p:nvGrpSpPr>
        <p:grpSpPr>
          <a:xfrm rot="0">
            <a:off x="15069862" y="2543175"/>
            <a:ext cx="952500" cy="952500"/>
            <a:chOff x="0" y="0"/>
            <a:chExt cx="812800" cy="8128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1F14F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5066108" y="3950494"/>
            <a:ext cx="952500" cy="952500"/>
            <a:chOff x="0" y="0"/>
            <a:chExt cx="812800" cy="8128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4E09A"/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5062353" y="5362575"/>
            <a:ext cx="952500" cy="952500"/>
            <a:chOff x="0" y="0"/>
            <a:chExt cx="812800" cy="8128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BE6F1"/>
            </a:solidFill>
          </p:spPr>
        </p:sp>
        <p:sp>
          <p:nvSpPr>
            <p:cNvPr name="TextBox 32" id="32"/>
            <p:cNvSpPr txBox="true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15058599" y="6772275"/>
            <a:ext cx="952500" cy="952500"/>
            <a:chOff x="0" y="0"/>
            <a:chExt cx="812800" cy="81280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9C88F6"/>
            </a:solidFill>
          </p:spPr>
        </p:sp>
        <p:sp>
          <p:nvSpPr>
            <p:cNvPr name="TextBox 35" id="35"/>
            <p:cNvSpPr txBox="true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15054844" y="8181975"/>
            <a:ext cx="952500" cy="952500"/>
            <a:chOff x="0" y="0"/>
            <a:chExt cx="812800" cy="81280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6324F"/>
            </a:solidFill>
          </p:spPr>
        </p:sp>
        <p:sp>
          <p:nvSpPr>
            <p:cNvPr name="TextBox 38" id="38"/>
            <p:cNvSpPr txBox="true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Freeform 39" id="39"/>
          <p:cNvSpPr/>
          <p:nvPr/>
        </p:nvSpPr>
        <p:spPr>
          <a:xfrm flipH="false" flipV="false" rot="0">
            <a:off x="15299013" y="5599234"/>
            <a:ext cx="479182" cy="479182"/>
          </a:xfrm>
          <a:custGeom>
            <a:avLst/>
            <a:gdLst/>
            <a:ahLst/>
            <a:cxnLst/>
            <a:rect r="r" b="b" t="t" l="l"/>
            <a:pathLst>
              <a:path h="479182" w="479182">
                <a:moveTo>
                  <a:pt x="0" y="0"/>
                </a:moveTo>
                <a:lnTo>
                  <a:pt x="479181" y="0"/>
                </a:lnTo>
                <a:lnTo>
                  <a:pt x="479181" y="479182"/>
                </a:lnTo>
                <a:lnTo>
                  <a:pt x="0" y="47918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0" id="40"/>
          <p:cNvSpPr/>
          <p:nvPr/>
        </p:nvSpPr>
        <p:spPr>
          <a:xfrm flipH="false" flipV="false" rot="0">
            <a:off x="15299963" y="7013639"/>
            <a:ext cx="469773" cy="469773"/>
          </a:xfrm>
          <a:custGeom>
            <a:avLst/>
            <a:gdLst/>
            <a:ahLst/>
            <a:cxnLst/>
            <a:rect r="r" b="b" t="t" l="l"/>
            <a:pathLst>
              <a:path h="469773" w="469773">
                <a:moveTo>
                  <a:pt x="0" y="0"/>
                </a:moveTo>
                <a:lnTo>
                  <a:pt x="469772" y="0"/>
                </a:lnTo>
                <a:lnTo>
                  <a:pt x="469772" y="469772"/>
                </a:lnTo>
                <a:lnTo>
                  <a:pt x="0" y="46977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1" id="41"/>
          <p:cNvSpPr/>
          <p:nvPr/>
        </p:nvSpPr>
        <p:spPr>
          <a:xfrm flipH="false" flipV="false" rot="0">
            <a:off x="15276632" y="8403763"/>
            <a:ext cx="508924" cy="508924"/>
          </a:xfrm>
          <a:custGeom>
            <a:avLst/>
            <a:gdLst/>
            <a:ahLst/>
            <a:cxnLst/>
            <a:rect r="r" b="b" t="t" l="l"/>
            <a:pathLst>
              <a:path h="508924" w="508924">
                <a:moveTo>
                  <a:pt x="0" y="0"/>
                </a:moveTo>
                <a:lnTo>
                  <a:pt x="508924" y="0"/>
                </a:lnTo>
                <a:lnTo>
                  <a:pt x="508924" y="508924"/>
                </a:lnTo>
                <a:lnTo>
                  <a:pt x="0" y="50892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2" id="42"/>
          <p:cNvSpPr/>
          <p:nvPr/>
        </p:nvSpPr>
        <p:spPr>
          <a:xfrm flipH="false" flipV="false" rot="0">
            <a:off x="15310186" y="4194572"/>
            <a:ext cx="464344" cy="464344"/>
          </a:xfrm>
          <a:custGeom>
            <a:avLst/>
            <a:gdLst/>
            <a:ahLst/>
            <a:cxnLst/>
            <a:rect r="r" b="b" t="t" l="l"/>
            <a:pathLst>
              <a:path h="464344" w="464344">
                <a:moveTo>
                  <a:pt x="0" y="0"/>
                </a:moveTo>
                <a:lnTo>
                  <a:pt x="464344" y="0"/>
                </a:lnTo>
                <a:lnTo>
                  <a:pt x="464344" y="464344"/>
                </a:lnTo>
                <a:lnTo>
                  <a:pt x="0" y="46434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3" id="43"/>
          <p:cNvSpPr/>
          <p:nvPr/>
        </p:nvSpPr>
        <p:spPr>
          <a:xfrm flipH="false" flipV="false" rot="0">
            <a:off x="15325338" y="2798651"/>
            <a:ext cx="441548" cy="441548"/>
          </a:xfrm>
          <a:custGeom>
            <a:avLst/>
            <a:gdLst/>
            <a:ahLst/>
            <a:cxnLst/>
            <a:rect r="r" b="b" t="t" l="l"/>
            <a:pathLst>
              <a:path h="441548" w="441548">
                <a:moveTo>
                  <a:pt x="0" y="0"/>
                </a:moveTo>
                <a:lnTo>
                  <a:pt x="441549" y="0"/>
                </a:lnTo>
                <a:lnTo>
                  <a:pt x="441549" y="441548"/>
                </a:lnTo>
                <a:lnTo>
                  <a:pt x="0" y="441548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4" id="44"/>
          <p:cNvSpPr txBox="true"/>
          <p:nvPr/>
        </p:nvSpPr>
        <p:spPr>
          <a:xfrm rot="0">
            <a:off x="7604880" y="2886075"/>
            <a:ext cx="3989438" cy="5467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400">
                <a:solidFill>
                  <a:srgbClr val="000000">
                    <a:alpha val="64706"/>
                  </a:srgbClr>
                </a:solidFill>
                <a:latin typeface="Arimo"/>
                <a:ea typeface="Arimo"/>
                <a:cs typeface="Arimo"/>
                <a:sym typeface="Arimo"/>
              </a:rPr>
              <a:t>Ignite the Spark of Creativity, illuminating the path to innovative ideas. 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7604880" y="4295775"/>
            <a:ext cx="3989438" cy="5467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400">
                <a:solidFill>
                  <a:srgbClr val="000000">
                    <a:alpha val="64706"/>
                  </a:srgbClr>
                </a:solidFill>
                <a:latin typeface="Arimo"/>
                <a:ea typeface="Arimo"/>
                <a:cs typeface="Arimo"/>
                <a:sym typeface="Arimo"/>
              </a:rPr>
              <a:t>Craft a Blueprint Brilliance, outlining a strategic roadmap for innovation. 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7604880" y="5705475"/>
            <a:ext cx="3989438" cy="5467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400">
                <a:solidFill>
                  <a:srgbClr val="000000">
                    <a:alpha val="64706"/>
                  </a:srgbClr>
                </a:solidFill>
                <a:latin typeface="Arimo"/>
                <a:ea typeface="Arimo"/>
                <a:cs typeface="Arimo"/>
                <a:sym typeface="Arimo"/>
              </a:rPr>
              <a:t>Execute with Precision, turning innovative plans into tangible results. 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7602430" y="7115175"/>
            <a:ext cx="3991888" cy="5467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400">
                <a:solidFill>
                  <a:srgbClr val="000000">
                    <a:alpha val="64706"/>
                  </a:srgbClr>
                </a:solidFill>
                <a:latin typeface="Arimo"/>
                <a:ea typeface="Arimo"/>
                <a:cs typeface="Arimo"/>
                <a:sym typeface="Arimo"/>
              </a:rPr>
              <a:t>Ascend the Performance Peaks, overseeing key metrics on the journey to success. 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7602430" y="8524875"/>
            <a:ext cx="4136107" cy="5467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400">
                <a:solidFill>
                  <a:srgbClr val="000000">
                    <a:alpha val="64706"/>
                  </a:srgbClr>
                </a:solidFill>
                <a:latin typeface="Arimo"/>
                <a:ea typeface="Arimo"/>
                <a:cs typeface="Arimo"/>
                <a:sym typeface="Arimo"/>
              </a:rPr>
              <a:t>Reach the Innovation Summit, where groundbreaking ideas redefine the landscape.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7604495" y="2490787"/>
            <a:ext cx="3272923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39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Spark of Creativity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7604495" y="3900487"/>
            <a:ext cx="3310784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39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Blueprint Brilliance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7604495" y="5310187"/>
            <a:ext cx="3436990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39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Precision Execution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7604495" y="6719887"/>
            <a:ext cx="3386507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39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Performance Peaks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7604495" y="8129587"/>
            <a:ext cx="3361266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39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Innovation Summit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-16318" y="4843462"/>
            <a:ext cx="7620000" cy="3267075"/>
          </a:xfrm>
          <a:custGeom>
            <a:avLst/>
            <a:gdLst/>
            <a:ahLst/>
            <a:cxnLst/>
            <a:rect r="r" b="b" t="t" l="l"/>
            <a:pathLst>
              <a:path h="3267075" w="7620000">
                <a:moveTo>
                  <a:pt x="0" y="0"/>
                </a:moveTo>
                <a:lnTo>
                  <a:pt x="7620000" y="0"/>
                </a:lnTo>
                <a:lnTo>
                  <a:pt x="7620000" y="3267076"/>
                </a:lnTo>
                <a:lnTo>
                  <a:pt x="0" y="326707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5336405" y="2667000"/>
            <a:ext cx="13176346" cy="8020547"/>
            <a:chOff x="0" y="0"/>
            <a:chExt cx="3470313" cy="211240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470313" cy="2112407"/>
            </a:xfrm>
            <a:custGeom>
              <a:avLst/>
              <a:gdLst/>
              <a:ahLst/>
              <a:cxnLst/>
              <a:rect r="r" b="b" t="t" l="l"/>
              <a:pathLst>
                <a:path h="2112407" w="3470313">
                  <a:moveTo>
                    <a:pt x="0" y="0"/>
                  </a:moveTo>
                  <a:lnTo>
                    <a:pt x="3470313" y="0"/>
                  </a:lnTo>
                  <a:lnTo>
                    <a:pt x="3470313" y="2112407"/>
                  </a:lnTo>
                  <a:lnTo>
                    <a:pt x="0" y="2112407"/>
                  </a:lnTo>
                  <a:close/>
                </a:path>
              </a:pathLst>
            </a:custGeom>
            <a:solidFill>
              <a:srgbClr val="DBE6F1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9525"/>
              <a:ext cx="3470313" cy="21219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5322691" y="2667000"/>
            <a:ext cx="13175821" cy="1478203"/>
            <a:chOff x="0" y="0"/>
            <a:chExt cx="3470261" cy="38927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470261" cy="389272"/>
            </a:xfrm>
            <a:custGeom>
              <a:avLst/>
              <a:gdLst/>
              <a:ahLst/>
              <a:cxnLst/>
              <a:rect r="r" b="b" t="t" l="l"/>
              <a:pathLst>
                <a:path h="389272" w="3470261">
                  <a:moveTo>
                    <a:pt x="3470261" y="6463"/>
                  </a:moveTo>
                  <a:lnTo>
                    <a:pt x="3470261" y="382809"/>
                  </a:lnTo>
                  <a:cubicBezTo>
                    <a:pt x="3470261" y="386378"/>
                    <a:pt x="3467367" y="389272"/>
                    <a:pt x="3463797" y="389272"/>
                  </a:cubicBezTo>
                  <a:lnTo>
                    <a:pt x="6463" y="389272"/>
                  </a:lnTo>
                  <a:cubicBezTo>
                    <a:pt x="2894" y="389272"/>
                    <a:pt x="0" y="386378"/>
                    <a:pt x="0" y="382809"/>
                  </a:cubicBezTo>
                  <a:lnTo>
                    <a:pt x="0" y="6463"/>
                  </a:lnTo>
                  <a:cubicBezTo>
                    <a:pt x="0" y="2894"/>
                    <a:pt x="2894" y="0"/>
                    <a:pt x="6463" y="0"/>
                  </a:cubicBezTo>
                  <a:lnTo>
                    <a:pt x="3463797" y="0"/>
                  </a:lnTo>
                  <a:cubicBezTo>
                    <a:pt x="3467367" y="0"/>
                    <a:pt x="3470261" y="2894"/>
                    <a:pt x="3470261" y="6463"/>
                  </a:cubicBezTo>
                  <a:close/>
                </a:path>
              </a:pathLst>
            </a:custGeom>
            <a:solidFill>
              <a:srgbClr val="E1F14F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9525"/>
              <a:ext cx="3470261" cy="3987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5223144" y="4495723"/>
            <a:ext cx="13492674" cy="1695527"/>
            <a:chOff x="0" y="0"/>
            <a:chExt cx="3553714" cy="446503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553714" cy="446503"/>
            </a:xfrm>
            <a:custGeom>
              <a:avLst/>
              <a:gdLst/>
              <a:ahLst/>
              <a:cxnLst/>
              <a:rect r="r" b="b" t="t" l="l"/>
              <a:pathLst>
                <a:path h="446503" w="3553714">
                  <a:moveTo>
                    <a:pt x="3553714" y="6312"/>
                  </a:moveTo>
                  <a:lnTo>
                    <a:pt x="3553714" y="440191"/>
                  </a:lnTo>
                  <a:cubicBezTo>
                    <a:pt x="3553714" y="443677"/>
                    <a:pt x="3550888" y="446503"/>
                    <a:pt x="3547402" y="446503"/>
                  </a:cubicBezTo>
                  <a:lnTo>
                    <a:pt x="6312" y="446503"/>
                  </a:lnTo>
                  <a:cubicBezTo>
                    <a:pt x="4638" y="446503"/>
                    <a:pt x="3032" y="445838"/>
                    <a:pt x="1849" y="444654"/>
                  </a:cubicBezTo>
                  <a:cubicBezTo>
                    <a:pt x="665" y="443470"/>
                    <a:pt x="0" y="441865"/>
                    <a:pt x="0" y="440191"/>
                  </a:cubicBezTo>
                  <a:lnTo>
                    <a:pt x="0" y="6312"/>
                  </a:lnTo>
                  <a:cubicBezTo>
                    <a:pt x="0" y="4638"/>
                    <a:pt x="665" y="3032"/>
                    <a:pt x="1849" y="1849"/>
                  </a:cubicBezTo>
                  <a:cubicBezTo>
                    <a:pt x="3032" y="665"/>
                    <a:pt x="4638" y="0"/>
                    <a:pt x="6312" y="0"/>
                  </a:cubicBezTo>
                  <a:lnTo>
                    <a:pt x="3547402" y="0"/>
                  </a:lnTo>
                  <a:cubicBezTo>
                    <a:pt x="3549076" y="0"/>
                    <a:pt x="3550681" y="665"/>
                    <a:pt x="3551865" y="1849"/>
                  </a:cubicBezTo>
                  <a:cubicBezTo>
                    <a:pt x="3553049" y="3032"/>
                    <a:pt x="3553714" y="4638"/>
                    <a:pt x="3553714" y="6312"/>
                  </a:cubicBezTo>
                  <a:close/>
                </a:path>
              </a:pathLst>
            </a:custGeom>
            <a:solidFill>
              <a:srgbClr val="64E09A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9525"/>
              <a:ext cx="3553714" cy="4560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5078137" y="6543675"/>
            <a:ext cx="13518613" cy="1697237"/>
            <a:chOff x="0" y="0"/>
            <a:chExt cx="3560545" cy="446953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560545" cy="446953"/>
            </a:xfrm>
            <a:custGeom>
              <a:avLst/>
              <a:gdLst/>
              <a:ahLst/>
              <a:cxnLst/>
              <a:rect r="r" b="b" t="t" l="l"/>
              <a:pathLst>
                <a:path h="446953" w="3560545">
                  <a:moveTo>
                    <a:pt x="3560545" y="6300"/>
                  </a:moveTo>
                  <a:lnTo>
                    <a:pt x="3560545" y="440653"/>
                  </a:lnTo>
                  <a:cubicBezTo>
                    <a:pt x="3560545" y="444133"/>
                    <a:pt x="3557725" y="446953"/>
                    <a:pt x="3554246" y="446953"/>
                  </a:cubicBezTo>
                  <a:lnTo>
                    <a:pt x="6300" y="446953"/>
                  </a:lnTo>
                  <a:cubicBezTo>
                    <a:pt x="2820" y="446953"/>
                    <a:pt x="0" y="444133"/>
                    <a:pt x="0" y="440653"/>
                  </a:cubicBezTo>
                  <a:lnTo>
                    <a:pt x="0" y="6300"/>
                  </a:lnTo>
                  <a:cubicBezTo>
                    <a:pt x="0" y="2820"/>
                    <a:pt x="2820" y="0"/>
                    <a:pt x="6300" y="0"/>
                  </a:cubicBezTo>
                  <a:lnTo>
                    <a:pt x="3554246" y="0"/>
                  </a:lnTo>
                  <a:cubicBezTo>
                    <a:pt x="3555917" y="0"/>
                    <a:pt x="3557519" y="664"/>
                    <a:pt x="3558700" y="1845"/>
                  </a:cubicBezTo>
                  <a:cubicBezTo>
                    <a:pt x="3559882" y="3026"/>
                    <a:pt x="3560545" y="4629"/>
                    <a:pt x="3560545" y="6300"/>
                  </a:cubicBezTo>
                  <a:close/>
                </a:path>
              </a:pathLst>
            </a:custGeom>
            <a:solidFill>
              <a:srgbClr val="9C88F6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9525"/>
              <a:ext cx="3560545" cy="4564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4932569" y="8575598"/>
            <a:ext cx="13783248" cy="1711402"/>
            <a:chOff x="0" y="0"/>
            <a:chExt cx="3630245" cy="450683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3630245" cy="450683"/>
            </a:xfrm>
            <a:custGeom>
              <a:avLst/>
              <a:gdLst/>
              <a:ahLst/>
              <a:cxnLst/>
              <a:rect r="r" b="b" t="t" l="l"/>
              <a:pathLst>
                <a:path h="450683" w="3630245">
                  <a:moveTo>
                    <a:pt x="3630245" y="6179"/>
                  </a:moveTo>
                  <a:lnTo>
                    <a:pt x="3630245" y="444505"/>
                  </a:lnTo>
                  <a:cubicBezTo>
                    <a:pt x="3630245" y="447917"/>
                    <a:pt x="3627479" y="450683"/>
                    <a:pt x="3624067" y="450683"/>
                  </a:cubicBezTo>
                  <a:lnTo>
                    <a:pt x="6179" y="450683"/>
                  </a:lnTo>
                  <a:cubicBezTo>
                    <a:pt x="2766" y="450683"/>
                    <a:pt x="0" y="447917"/>
                    <a:pt x="0" y="444505"/>
                  </a:cubicBezTo>
                  <a:lnTo>
                    <a:pt x="0" y="6179"/>
                  </a:lnTo>
                  <a:cubicBezTo>
                    <a:pt x="0" y="2766"/>
                    <a:pt x="2766" y="0"/>
                    <a:pt x="6179" y="0"/>
                  </a:cubicBezTo>
                  <a:lnTo>
                    <a:pt x="3624067" y="0"/>
                  </a:lnTo>
                  <a:cubicBezTo>
                    <a:pt x="3627479" y="0"/>
                    <a:pt x="3630245" y="2766"/>
                    <a:pt x="3630245" y="6179"/>
                  </a:cubicBezTo>
                  <a:close/>
                </a:path>
              </a:pathLst>
            </a:custGeom>
            <a:solidFill>
              <a:srgbClr val="16324F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9525"/>
              <a:ext cx="3630245" cy="4602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2310474" y="866775"/>
            <a:ext cx="13659811" cy="742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59"/>
              </a:lnSpc>
            </a:pPr>
            <a:r>
              <a:rPr lang="en-US" sz="48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Triumph Summit Pyramid - 4 Stages</a:t>
            </a:r>
          </a:p>
        </p:txBody>
      </p:sp>
      <p:sp>
        <p:nvSpPr>
          <p:cNvPr name="Freeform 19" id="19"/>
          <p:cNvSpPr/>
          <p:nvPr/>
        </p:nvSpPr>
        <p:spPr>
          <a:xfrm flipH="false" flipV="false" rot="0">
            <a:off x="16218758" y="3119438"/>
            <a:ext cx="571500" cy="571500"/>
          </a:xfrm>
          <a:custGeom>
            <a:avLst/>
            <a:gdLst/>
            <a:ahLst/>
            <a:cxnLst/>
            <a:rect r="r" b="b" t="t" l="l"/>
            <a:pathLst>
              <a:path h="571500" w="571500">
                <a:moveTo>
                  <a:pt x="0" y="0"/>
                </a:moveTo>
                <a:lnTo>
                  <a:pt x="571500" y="0"/>
                </a:lnTo>
                <a:lnTo>
                  <a:pt x="571500" y="571500"/>
                </a:lnTo>
                <a:lnTo>
                  <a:pt x="0" y="5715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14524265" y="9098591"/>
            <a:ext cx="668110" cy="668110"/>
          </a:xfrm>
          <a:custGeom>
            <a:avLst/>
            <a:gdLst/>
            <a:ahLst/>
            <a:cxnLst/>
            <a:rect r="r" b="b" t="t" l="l"/>
            <a:pathLst>
              <a:path h="668110" w="668110">
                <a:moveTo>
                  <a:pt x="0" y="0"/>
                </a:moveTo>
                <a:lnTo>
                  <a:pt x="668110" y="0"/>
                </a:lnTo>
                <a:lnTo>
                  <a:pt x="668110" y="668110"/>
                </a:lnTo>
                <a:lnTo>
                  <a:pt x="0" y="66811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15137458" y="7081876"/>
            <a:ext cx="619125" cy="619125"/>
          </a:xfrm>
          <a:custGeom>
            <a:avLst/>
            <a:gdLst/>
            <a:ahLst/>
            <a:cxnLst/>
            <a:rect r="r" b="b" t="t" l="l"/>
            <a:pathLst>
              <a:path h="619125" w="619125">
                <a:moveTo>
                  <a:pt x="0" y="0"/>
                </a:moveTo>
                <a:lnTo>
                  <a:pt x="619125" y="0"/>
                </a:lnTo>
                <a:lnTo>
                  <a:pt x="619125" y="619125"/>
                </a:lnTo>
                <a:lnTo>
                  <a:pt x="0" y="61912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15603967" y="4977168"/>
            <a:ext cx="732637" cy="732637"/>
          </a:xfrm>
          <a:custGeom>
            <a:avLst/>
            <a:gdLst/>
            <a:ahLst/>
            <a:cxnLst/>
            <a:rect r="r" b="b" t="t" l="l"/>
            <a:pathLst>
              <a:path h="732637" w="732637">
                <a:moveTo>
                  <a:pt x="0" y="0"/>
                </a:moveTo>
                <a:lnTo>
                  <a:pt x="732637" y="0"/>
                </a:lnTo>
                <a:lnTo>
                  <a:pt x="732637" y="732637"/>
                </a:lnTo>
                <a:lnTo>
                  <a:pt x="0" y="73263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5078137" y="3057525"/>
            <a:ext cx="1251106" cy="676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5220"/>
              </a:lnSpc>
            </a:pPr>
            <a:r>
              <a:rPr lang="en-US" sz="435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01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4379800" y="4995824"/>
            <a:ext cx="1251107" cy="676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5220"/>
              </a:lnSpc>
            </a:pPr>
            <a:r>
              <a:rPr lang="en-US" sz="435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02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3681463" y="7043776"/>
            <a:ext cx="1251106" cy="676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5220"/>
              </a:lnSpc>
            </a:pPr>
            <a:r>
              <a:rPr lang="en-US" sz="435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03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2983125" y="9084984"/>
            <a:ext cx="1251106" cy="676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5220"/>
              </a:lnSpc>
            </a:pPr>
            <a:r>
              <a:rPr lang="en-US" sz="435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04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9509449" y="9121355"/>
            <a:ext cx="4001000" cy="5467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4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Stand at the Pinnacle Triumph, celebrating strategic victories and excellence.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6074920" y="9242146"/>
            <a:ext cx="2809875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Pinnacle Triumph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9812093" y="7080148"/>
            <a:ext cx="4001000" cy="5467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4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Master Execution, seamlessly turning strategies into impactful triumphs.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6442573" y="7200939"/>
            <a:ext cx="2809875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Execution Mastery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9904157" y="5032195"/>
            <a:ext cx="4001000" cy="5467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4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Ascend the peaks of Strategic Rise, where plans elevate towards triumphant success.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6885397" y="5152986"/>
            <a:ext cx="2809875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Strategic Rise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0111551" y="3093896"/>
            <a:ext cx="4001000" cy="5467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4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Establish Core Insight, revealing opportunities at the foundation of success.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7423470" y="3214688"/>
            <a:ext cx="2258508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Core Insight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14131" y="866775"/>
            <a:ext cx="14859737" cy="742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59"/>
              </a:lnSpc>
            </a:pPr>
            <a:r>
              <a:rPr lang="en-US" sz="48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Visionary Venture Odyssey - 5 Stages</a:t>
            </a:r>
          </a:p>
        </p:txBody>
      </p:sp>
      <p:sp>
        <p:nvSpPr>
          <p:cNvPr name="Freeform 3" id="3"/>
          <p:cNvSpPr/>
          <p:nvPr/>
        </p:nvSpPr>
        <p:spPr>
          <a:xfrm flipH="false" flipV="true" rot="0">
            <a:off x="4810351" y="2419350"/>
            <a:ext cx="8667299" cy="6858000"/>
          </a:xfrm>
          <a:custGeom>
            <a:avLst/>
            <a:gdLst/>
            <a:ahLst/>
            <a:cxnLst/>
            <a:rect r="r" b="b" t="t" l="l"/>
            <a:pathLst>
              <a:path h="6858000" w="8667299">
                <a:moveTo>
                  <a:pt x="0" y="6858000"/>
                </a:moveTo>
                <a:lnTo>
                  <a:pt x="8667298" y="6858000"/>
                </a:lnTo>
                <a:lnTo>
                  <a:pt x="8667298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8892873" y="2729563"/>
            <a:ext cx="584436" cy="584436"/>
          </a:xfrm>
          <a:custGeom>
            <a:avLst/>
            <a:gdLst/>
            <a:ahLst/>
            <a:cxnLst/>
            <a:rect r="r" b="b" t="t" l="l"/>
            <a:pathLst>
              <a:path h="584436" w="584436">
                <a:moveTo>
                  <a:pt x="0" y="0"/>
                </a:moveTo>
                <a:lnTo>
                  <a:pt x="584436" y="0"/>
                </a:lnTo>
                <a:lnTo>
                  <a:pt x="584436" y="584436"/>
                </a:lnTo>
                <a:lnTo>
                  <a:pt x="0" y="58443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8939963" y="4169352"/>
            <a:ext cx="565477" cy="565477"/>
          </a:xfrm>
          <a:custGeom>
            <a:avLst/>
            <a:gdLst/>
            <a:ahLst/>
            <a:cxnLst/>
            <a:rect r="r" b="b" t="t" l="l"/>
            <a:pathLst>
              <a:path h="565477" w="565477">
                <a:moveTo>
                  <a:pt x="0" y="0"/>
                </a:moveTo>
                <a:lnTo>
                  <a:pt x="565477" y="0"/>
                </a:lnTo>
                <a:lnTo>
                  <a:pt x="565477" y="565478"/>
                </a:lnTo>
                <a:lnTo>
                  <a:pt x="0" y="56547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8834438" y="8326225"/>
            <a:ext cx="619125" cy="619125"/>
          </a:xfrm>
          <a:custGeom>
            <a:avLst/>
            <a:gdLst/>
            <a:ahLst/>
            <a:cxnLst/>
            <a:rect r="r" b="b" t="t" l="l"/>
            <a:pathLst>
              <a:path h="619125" w="619125">
                <a:moveTo>
                  <a:pt x="0" y="0"/>
                </a:moveTo>
                <a:lnTo>
                  <a:pt x="619124" y="0"/>
                </a:lnTo>
                <a:lnTo>
                  <a:pt x="619124" y="619125"/>
                </a:lnTo>
                <a:lnTo>
                  <a:pt x="0" y="61912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8923262" y="5538787"/>
            <a:ext cx="619125" cy="619125"/>
          </a:xfrm>
          <a:custGeom>
            <a:avLst/>
            <a:gdLst/>
            <a:ahLst/>
            <a:cxnLst/>
            <a:rect r="r" b="b" t="t" l="l"/>
            <a:pathLst>
              <a:path h="619125" w="619125">
                <a:moveTo>
                  <a:pt x="0" y="0"/>
                </a:moveTo>
                <a:lnTo>
                  <a:pt x="619125" y="0"/>
                </a:lnTo>
                <a:lnTo>
                  <a:pt x="619125" y="619125"/>
                </a:lnTo>
                <a:lnTo>
                  <a:pt x="0" y="61912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8834438" y="7049167"/>
            <a:ext cx="644900" cy="361950"/>
          </a:xfrm>
          <a:custGeom>
            <a:avLst/>
            <a:gdLst/>
            <a:ahLst/>
            <a:cxnLst/>
            <a:rect r="r" b="b" t="t" l="l"/>
            <a:pathLst>
              <a:path h="361950" w="644900">
                <a:moveTo>
                  <a:pt x="0" y="0"/>
                </a:moveTo>
                <a:lnTo>
                  <a:pt x="644899" y="0"/>
                </a:lnTo>
                <a:lnTo>
                  <a:pt x="644899" y="361950"/>
                </a:lnTo>
                <a:lnTo>
                  <a:pt x="0" y="36195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0420969" y="2758422"/>
            <a:ext cx="3264214" cy="5467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400">
                <a:solidFill>
                  <a:srgbClr val="000000">
                    <a:alpha val="64706"/>
                  </a:srgbClr>
                </a:solidFill>
                <a:latin typeface="Arimo"/>
                <a:ea typeface="Arimo"/>
                <a:cs typeface="Arimo"/>
                <a:sym typeface="Arimo"/>
              </a:rPr>
              <a:t>Ignite the Creative Catalyst, illuminating pathways to visionary breakthroughs. 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3685183" y="8324868"/>
            <a:ext cx="3574117" cy="5467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400">
                <a:solidFill>
                  <a:srgbClr val="000000">
                    <a:alpha val="64706"/>
                  </a:srgbClr>
                </a:solidFill>
                <a:latin typeface="Arimo"/>
                <a:ea typeface="Arimo"/>
                <a:cs typeface="Arimo"/>
                <a:sym typeface="Arimo"/>
              </a:rPr>
              <a:t>Reach the Summit of Innovation, where exceptional ideas flourish.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910765" y="4150034"/>
            <a:ext cx="3053526" cy="5467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400">
                <a:solidFill>
                  <a:srgbClr val="000000">
                    <a:alpha val="64706"/>
                  </a:srgbClr>
                </a:solidFill>
                <a:latin typeface="Arimo"/>
                <a:ea typeface="Arimo"/>
                <a:cs typeface="Arimo"/>
                <a:sym typeface="Arimo"/>
              </a:rPr>
              <a:t>Craft a Blueprint Brilliance, outlining the.  future with strategic ingenuity. 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1386137" y="5541645"/>
            <a:ext cx="3685392" cy="5467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400">
                <a:solidFill>
                  <a:srgbClr val="000000">
                    <a:alpha val="64706"/>
                  </a:srgbClr>
                </a:solidFill>
                <a:latin typeface="Arimo"/>
                <a:ea typeface="Arimo"/>
                <a:cs typeface="Arimo"/>
                <a:sym typeface="Arimo"/>
              </a:rPr>
              <a:t>Execu</a:t>
            </a:r>
            <a:r>
              <a:rPr lang="en-US" sz="1400">
                <a:solidFill>
                  <a:srgbClr val="000000">
                    <a:alpha val="64706"/>
                  </a:srgbClr>
                </a:solidFill>
                <a:latin typeface="Arimo"/>
                <a:ea typeface="Arimo"/>
                <a:cs typeface="Arimo"/>
                <a:sym typeface="Arimo"/>
              </a:rPr>
              <a:t>te with Precision, transforming visionary concepts into tangible success stories. 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358318" y="6933257"/>
            <a:ext cx="4194807" cy="5467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400">
                <a:solidFill>
                  <a:srgbClr val="000000">
                    <a:alpha val="64706"/>
                  </a:srgbClr>
                </a:solidFill>
                <a:latin typeface="Arimo"/>
                <a:ea typeface="Arimo"/>
                <a:cs typeface="Arimo"/>
                <a:sym typeface="Arimo"/>
              </a:rPr>
              <a:t>Asc</a:t>
            </a:r>
            <a:r>
              <a:rPr lang="en-US" sz="1400">
                <a:solidFill>
                  <a:srgbClr val="000000">
                    <a:alpha val="64706"/>
                  </a:srgbClr>
                </a:solidFill>
                <a:latin typeface="Arimo"/>
                <a:ea typeface="Arimo"/>
                <a:cs typeface="Arimo"/>
                <a:sym typeface="Arimo"/>
              </a:rPr>
              <a:t>end the Performance Peaks, surveying key metrics from the strategic summit. 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4677032" y="2824683"/>
            <a:ext cx="472351" cy="489316"/>
            <a:chOff x="0" y="0"/>
            <a:chExt cx="885128" cy="91691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85128" cy="916919"/>
            </a:xfrm>
            <a:custGeom>
              <a:avLst/>
              <a:gdLst/>
              <a:ahLst/>
              <a:cxnLst/>
              <a:rect r="r" b="b" t="t" l="l"/>
              <a:pathLst>
                <a:path h="916919" w="885128">
                  <a:moveTo>
                    <a:pt x="442564" y="0"/>
                  </a:moveTo>
                  <a:cubicBezTo>
                    <a:pt x="198143" y="0"/>
                    <a:pt x="0" y="205259"/>
                    <a:pt x="0" y="458460"/>
                  </a:cubicBezTo>
                  <a:cubicBezTo>
                    <a:pt x="0" y="711660"/>
                    <a:pt x="198143" y="916919"/>
                    <a:pt x="442564" y="916919"/>
                  </a:cubicBezTo>
                  <a:cubicBezTo>
                    <a:pt x="686985" y="916919"/>
                    <a:pt x="885128" y="711660"/>
                    <a:pt x="885128" y="458460"/>
                  </a:cubicBezTo>
                  <a:cubicBezTo>
                    <a:pt x="885128" y="205259"/>
                    <a:pt x="686985" y="0"/>
                    <a:pt x="442564" y="0"/>
                  </a:cubicBezTo>
                  <a:close/>
                </a:path>
              </a:pathLst>
            </a:custGeom>
            <a:solidFill>
              <a:srgbClr val="E1F14F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82981" y="66911"/>
              <a:ext cx="719166" cy="7640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19"/>
                </a:lnSpc>
              </a:pPr>
              <a:r>
                <a:rPr lang="en-US" sz="1599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1</a:t>
              </a: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5387508" y="2874627"/>
            <a:ext cx="2659289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Creative Catalyst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1618881" y="8391129"/>
            <a:ext cx="472351" cy="489316"/>
            <a:chOff x="0" y="0"/>
            <a:chExt cx="885128" cy="916919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85128" cy="916919"/>
            </a:xfrm>
            <a:custGeom>
              <a:avLst/>
              <a:gdLst/>
              <a:ahLst/>
              <a:cxnLst/>
              <a:rect r="r" b="b" t="t" l="l"/>
              <a:pathLst>
                <a:path h="916919" w="885128">
                  <a:moveTo>
                    <a:pt x="442564" y="0"/>
                  </a:moveTo>
                  <a:cubicBezTo>
                    <a:pt x="198143" y="0"/>
                    <a:pt x="0" y="205259"/>
                    <a:pt x="0" y="458460"/>
                  </a:cubicBezTo>
                  <a:cubicBezTo>
                    <a:pt x="0" y="711660"/>
                    <a:pt x="198143" y="916919"/>
                    <a:pt x="442564" y="916919"/>
                  </a:cubicBezTo>
                  <a:cubicBezTo>
                    <a:pt x="686985" y="916919"/>
                    <a:pt x="885128" y="711660"/>
                    <a:pt x="885128" y="458460"/>
                  </a:cubicBezTo>
                  <a:cubicBezTo>
                    <a:pt x="885128" y="205259"/>
                    <a:pt x="686985" y="0"/>
                    <a:pt x="442564" y="0"/>
                  </a:cubicBezTo>
                  <a:close/>
                </a:path>
              </a:pathLst>
            </a:custGeom>
            <a:solidFill>
              <a:srgbClr val="16324F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82981" y="66911"/>
              <a:ext cx="719166" cy="7640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19"/>
                </a:lnSpc>
              </a:pPr>
              <a:r>
                <a:rPr lang="en-US" sz="1599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5</a:t>
              </a: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2329357" y="8441073"/>
            <a:ext cx="2889865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Z</a:t>
            </a:r>
            <a:r>
              <a:rPr lang="en-US" sz="24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enith of Innovation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4007745" y="4216294"/>
            <a:ext cx="472351" cy="489316"/>
            <a:chOff x="0" y="0"/>
            <a:chExt cx="885128" cy="916919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85128" cy="916919"/>
            </a:xfrm>
            <a:custGeom>
              <a:avLst/>
              <a:gdLst/>
              <a:ahLst/>
              <a:cxnLst/>
              <a:rect r="r" b="b" t="t" l="l"/>
              <a:pathLst>
                <a:path h="916919" w="885128">
                  <a:moveTo>
                    <a:pt x="442564" y="0"/>
                  </a:moveTo>
                  <a:cubicBezTo>
                    <a:pt x="198143" y="0"/>
                    <a:pt x="0" y="205259"/>
                    <a:pt x="0" y="458460"/>
                  </a:cubicBezTo>
                  <a:cubicBezTo>
                    <a:pt x="0" y="711660"/>
                    <a:pt x="198143" y="916919"/>
                    <a:pt x="442564" y="916919"/>
                  </a:cubicBezTo>
                  <a:cubicBezTo>
                    <a:pt x="686985" y="916919"/>
                    <a:pt x="885128" y="711660"/>
                    <a:pt x="885128" y="458460"/>
                  </a:cubicBezTo>
                  <a:cubicBezTo>
                    <a:pt x="885128" y="205259"/>
                    <a:pt x="686985" y="0"/>
                    <a:pt x="442564" y="0"/>
                  </a:cubicBezTo>
                  <a:close/>
                </a:path>
              </a:pathLst>
            </a:custGeom>
            <a:solidFill>
              <a:srgbClr val="64E09A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82981" y="66911"/>
              <a:ext cx="719166" cy="7640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19"/>
                </a:lnSpc>
              </a:pPr>
              <a:r>
                <a:rPr lang="en-US" sz="1599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2</a:t>
              </a: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4713775" y="4266238"/>
            <a:ext cx="2864163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Bluep</a:t>
            </a:r>
            <a:r>
              <a:rPr lang="en-US" sz="24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rint Brilliance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3342696" y="5607906"/>
            <a:ext cx="472351" cy="489316"/>
            <a:chOff x="0" y="0"/>
            <a:chExt cx="885128" cy="916919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885128" cy="916919"/>
            </a:xfrm>
            <a:custGeom>
              <a:avLst/>
              <a:gdLst/>
              <a:ahLst/>
              <a:cxnLst/>
              <a:rect r="r" b="b" t="t" l="l"/>
              <a:pathLst>
                <a:path h="916919" w="885128">
                  <a:moveTo>
                    <a:pt x="442564" y="0"/>
                  </a:moveTo>
                  <a:cubicBezTo>
                    <a:pt x="198143" y="0"/>
                    <a:pt x="0" y="205259"/>
                    <a:pt x="0" y="458460"/>
                  </a:cubicBezTo>
                  <a:cubicBezTo>
                    <a:pt x="0" y="711660"/>
                    <a:pt x="198143" y="916919"/>
                    <a:pt x="442564" y="916919"/>
                  </a:cubicBezTo>
                  <a:cubicBezTo>
                    <a:pt x="686985" y="916919"/>
                    <a:pt x="885128" y="711660"/>
                    <a:pt x="885128" y="458460"/>
                  </a:cubicBezTo>
                  <a:cubicBezTo>
                    <a:pt x="885128" y="205259"/>
                    <a:pt x="686985" y="0"/>
                    <a:pt x="442564" y="0"/>
                  </a:cubicBezTo>
                  <a:close/>
                </a:path>
              </a:pathLst>
            </a:custGeom>
            <a:solidFill>
              <a:srgbClr val="DBE6F1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82981" y="66911"/>
              <a:ext cx="719166" cy="7640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19"/>
                </a:lnSpc>
              </a:pPr>
              <a:r>
                <a:rPr lang="en-US" sz="1599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3</a:t>
              </a:r>
            </a:p>
          </p:txBody>
        </p:sp>
      </p:grpSp>
      <p:sp>
        <p:nvSpPr>
          <p:cNvPr name="TextBox 29" id="29"/>
          <p:cNvSpPr txBox="true"/>
          <p:nvPr/>
        </p:nvSpPr>
        <p:spPr>
          <a:xfrm rot="0">
            <a:off x="4050274" y="5657850"/>
            <a:ext cx="3096297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P</a:t>
            </a:r>
            <a:r>
              <a:rPr lang="en-US" sz="24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recision Execution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2478669" y="6999517"/>
            <a:ext cx="472351" cy="489316"/>
            <a:chOff x="0" y="0"/>
            <a:chExt cx="885128" cy="916919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885128" cy="916919"/>
            </a:xfrm>
            <a:custGeom>
              <a:avLst/>
              <a:gdLst/>
              <a:ahLst/>
              <a:cxnLst/>
              <a:rect r="r" b="b" t="t" l="l"/>
              <a:pathLst>
                <a:path h="916919" w="885128">
                  <a:moveTo>
                    <a:pt x="442564" y="0"/>
                  </a:moveTo>
                  <a:cubicBezTo>
                    <a:pt x="198143" y="0"/>
                    <a:pt x="0" y="205259"/>
                    <a:pt x="0" y="458460"/>
                  </a:cubicBezTo>
                  <a:cubicBezTo>
                    <a:pt x="0" y="711660"/>
                    <a:pt x="198143" y="916919"/>
                    <a:pt x="442564" y="916919"/>
                  </a:cubicBezTo>
                  <a:cubicBezTo>
                    <a:pt x="686985" y="916919"/>
                    <a:pt x="885128" y="711660"/>
                    <a:pt x="885128" y="458460"/>
                  </a:cubicBezTo>
                  <a:cubicBezTo>
                    <a:pt x="885128" y="205259"/>
                    <a:pt x="686985" y="0"/>
                    <a:pt x="442564" y="0"/>
                  </a:cubicBezTo>
                  <a:close/>
                </a:path>
              </a:pathLst>
            </a:custGeom>
            <a:solidFill>
              <a:srgbClr val="9C88F6"/>
            </a:solidFill>
          </p:spPr>
        </p:sp>
        <p:sp>
          <p:nvSpPr>
            <p:cNvPr name="TextBox 32" id="32"/>
            <p:cNvSpPr txBox="true"/>
            <p:nvPr/>
          </p:nvSpPr>
          <p:spPr>
            <a:xfrm>
              <a:off x="82981" y="66911"/>
              <a:ext cx="719166" cy="7640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19"/>
                </a:lnSpc>
              </a:pPr>
              <a:r>
                <a:rPr lang="en-US" sz="1599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4</a:t>
              </a:r>
            </a:p>
          </p:txBody>
        </p:sp>
      </p:grpSp>
      <p:sp>
        <p:nvSpPr>
          <p:cNvPr name="TextBox 33" id="33"/>
          <p:cNvSpPr txBox="true"/>
          <p:nvPr/>
        </p:nvSpPr>
        <p:spPr>
          <a:xfrm rot="0">
            <a:off x="3192258" y="7049462"/>
            <a:ext cx="2751547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Perfo</a:t>
            </a:r>
            <a:r>
              <a:rPr lang="en-US" sz="24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rmance Peaks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822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921918" y="866775"/>
            <a:ext cx="14455976" cy="742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59"/>
              </a:lnSpc>
            </a:pPr>
            <a:r>
              <a:rPr lang="en-US" sz="48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Elevation Triumph Pyramid - 4 Stages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2036768" y="2667000"/>
            <a:ext cx="7320969" cy="6259428"/>
          </a:xfrm>
          <a:custGeom>
            <a:avLst/>
            <a:gdLst/>
            <a:ahLst/>
            <a:cxnLst/>
            <a:rect r="r" b="b" t="t" l="l"/>
            <a:pathLst>
              <a:path h="6259428" w="7320969">
                <a:moveTo>
                  <a:pt x="0" y="0"/>
                </a:moveTo>
                <a:lnTo>
                  <a:pt x="7320969" y="0"/>
                </a:lnTo>
                <a:lnTo>
                  <a:pt x="7320969" y="6259428"/>
                </a:lnTo>
                <a:lnTo>
                  <a:pt x="0" y="625942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5615779" y="3320150"/>
            <a:ext cx="630673" cy="630673"/>
          </a:xfrm>
          <a:custGeom>
            <a:avLst/>
            <a:gdLst/>
            <a:ahLst/>
            <a:cxnLst/>
            <a:rect r="r" b="b" t="t" l="l"/>
            <a:pathLst>
              <a:path h="630673" w="630673">
                <a:moveTo>
                  <a:pt x="0" y="0"/>
                </a:moveTo>
                <a:lnTo>
                  <a:pt x="630672" y="0"/>
                </a:lnTo>
                <a:lnTo>
                  <a:pt x="630672" y="630672"/>
                </a:lnTo>
                <a:lnTo>
                  <a:pt x="0" y="63067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5403244" y="4680784"/>
            <a:ext cx="588017" cy="588017"/>
          </a:xfrm>
          <a:custGeom>
            <a:avLst/>
            <a:gdLst/>
            <a:ahLst/>
            <a:cxnLst/>
            <a:rect r="r" b="b" t="t" l="l"/>
            <a:pathLst>
              <a:path h="588017" w="588017">
                <a:moveTo>
                  <a:pt x="0" y="0"/>
                </a:moveTo>
                <a:lnTo>
                  <a:pt x="588017" y="0"/>
                </a:lnTo>
                <a:lnTo>
                  <a:pt x="588017" y="588017"/>
                </a:lnTo>
                <a:lnTo>
                  <a:pt x="0" y="58801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5119713" y="6295801"/>
            <a:ext cx="621172" cy="621172"/>
          </a:xfrm>
          <a:custGeom>
            <a:avLst/>
            <a:gdLst/>
            <a:ahLst/>
            <a:cxnLst/>
            <a:rect r="r" b="b" t="t" l="l"/>
            <a:pathLst>
              <a:path h="621172" w="621172">
                <a:moveTo>
                  <a:pt x="0" y="0"/>
                </a:moveTo>
                <a:lnTo>
                  <a:pt x="621172" y="0"/>
                </a:lnTo>
                <a:lnTo>
                  <a:pt x="621172" y="621172"/>
                </a:lnTo>
                <a:lnTo>
                  <a:pt x="0" y="62117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5449531" y="7889977"/>
            <a:ext cx="598433" cy="598433"/>
          </a:xfrm>
          <a:custGeom>
            <a:avLst/>
            <a:gdLst/>
            <a:ahLst/>
            <a:cxnLst/>
            <a:rect r="r" b="b" t="t" l="l"/>
            <a:pathLst>
              <a:path h="598433" w="598433">
                <a:moveTo>
                  <a:pt x="0" y="0"/>
                </a:moveTo>
                <a:lnTo>
                  <a:pt x="598433" y="0"/>
                </a:lnTo>
                <a:lnTo>
                  <a:pt x="598433" y="598433"/>
                </a:lnTo>
                <a:lnTo>
                  <a:pt x="0" y="59843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10576857" y="3030276"/>
            <a:ext cx="571288" cy="567290"/>
            <a:chOff x="0" y="0"/>
            <a:chExt cx="885128" cy="87893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85128" cy="878933"/>
            </a:xfrm>
            <a:custGeom>
              <a:avLst/>
              <a:gdLst/>
              <a:ahLst/>
              <a:cxnLst/>
              <a:rect r="r" b="b" t="t" l="l"/>
              <a:pathLst>
                <a:path h="878933" w="885128">
                  <a:moveTo>
                    <a:pt x="442564" y="0"/>
                  </a:moveTo>
                  <a:cubicBezTo>
                    <a:pt x="198143" y="0"/>
                    <a:pt x="0" y="196756"/>
                    <a:pt x="0" y="439466"/>
                  </a:cubicBezTo>
                  <a:cubicBezTo>
                    <a:pt x="0" y="682177"/>
                    <a:pt x="198143" y="878933"/>
                    <a:pt x="442564" y="878933"/>
                  </a:cubicBezTo>
                  <a:cubicBezTo>
                    <a:pt x="686985" y="878933"/>
                    <a:pt x="885128" y="682177"/>
                    <a:pt x="885128" y="439466"/>
                  </a:cubicBezTo>
                  <a:cubicBezTo>
                    <a:pt x="885128" y="196756"/>
                    <a:pt x="686985" y="0"/>
                    <a:pt x="442564" y="0"/>
                  </a:cubicBezTo>
                  <a:close/>
                </a:path>
              </a:pathLst>
            </a:custGeom>
            <a:solidFill>
              <a:srgbClr val="E1F14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82981" y="63350"/>
              <a:ext cx="719166" cy="7331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19"/>
                </a:lnSpc>
              </a:pPr>
              <a:r>
                <a:rPr lang="en-US" sz="1599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1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0576857" y="8008219"/>
            <a:ext cx="571288" cy="567290"/>
            <a:chOff x="0" y="0"/>
            <a:chExt cx="885128" cy="878933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85128" cy="878933"/>
            </a:xfrm>
            <a:custGeom>
              <a:avLst/>
              <a:gdLst/>
              <a:ahLst/>
              <a:cxnLst/>
              <a:rect r="r" b="b" t="t" l="l"/>
              <a:pathLst>
                <a:path h="878933" w="885128">
                  <a:moveTo>
                    <a:pt x="442564" y="0"/>
                  </a:moveTo>
                  <a:cubicBezTo>
                    <a:pt x="198143" y="0"/>
                    <a:pt x="0" y="196756"/>
                    <a:pt x="0" y="439466"/>
                  </a:cubicBezTo>
                  <a:cubicBezTo>
                    <a:pt x="0" y="682177"/>
                    <a:pt x="198143" y="878933"/>
                    <a:pt x="442564" y="878933"/>
                  </a:cubicBezTo>
                  <a:cubicBezTo>
                    <a:pt x="686985" y="878933"/>
                    <a:pt x="885128" y="682177"/>
                    <a:pt x="885128" y="439466"/>
                  </a:cubicBezTo>
                  <a:cubicBezTo>
                    <a:pt x="885128" y="196756"/>
                    <a:pt x="686985" y="0"/>
                    <a:pt x="442564" y="0"/>
                  </a:cubicBezTo>
                  <a:close/>
                </a:path>
              </a:pathLst>
            </a:custGeom>
            <a:solidFill>
              <a:srgbClr val="9C88F6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82981" y="63350"/>
              <a:ext cx="719166" cy="7331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19"/>
                </a:lnSpc>
              </a:pPr>
              <a:r>
                <a:rPr lang="en-US" sz="1599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4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0576857" y="4691148"/>
            <a:ext cx="571288" cy="567290"/>
            <a:chOff x="0" y="0"/>
            <a:chExt cx="885128" cy="878933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85128" cy="878933"/>
            </a:xfrm>
            <a:custGeom>
              <a:avLst/>
              <a:gdLst/>
              <a:ahLst/>
              <a:cxnLst/>
              <a:rect r="r" b="b" t="t" l="l"/>
              <a:pathLst>
                <a:path h="878933" w="885128">
                  <a:moveTo>
                    <a:pt x="442564" y="0"/>
                  </a:moveTo>
                  <a:cubicBezTo>
                    <a:pt x="198143" y="0"/>
                    <a:pt x="0" y="196756"/>
                    <a:pt x="0" y="439466"/>
                  </a:cubicBezTo>
                  <a:cubicBezTo>
                    <a:pt x="0" y="682177"/>
                    <a:pt x="198143" y="878933"/>
                    <a:pt x="442564" y="878933"/>
                  </a:cubicBezTo>
                  <a:cubicBezTo>
                    <a:pt x="686985" y="878933"/>
                    <a:pt x="885128" y="682177"/>
                    <a:pt x="885128" y="439466"/>
                  </a:cubicBezTo>
                  <a:cubicBezTo>
                    <a:pt x="885128" y="196756"/>
                    <a:pt x="686985" y="0"/>
                    <a:pt x="442564" y="0"/>
                  </a:cubicBezTo>
                  <a:close/>
                </a:path>
              </a:pathLst>
            </a:custGeom>
            <a:solidFill>
              <a:srgbClr val="64E09A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82981" y="63350"/>
              <a:ext cx="719166" cy="7331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19"/>
                </a:lnSpc>
              </a:pPr>
              <a:r>
                <a:rPr lang="en-US" sz="1599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2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0576857" y="6349683"/>
            <a:ext cx="571288" cy="567290"/>
            <a:chOff x="0" y="0"/>
            <a:chExt cx="885128" cy="878933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85128" cy="878933"/>
            </a:xfrm>
            <a:custGeom>
              <a:avLst/>
              <a:gdLst/>
              <a:ahLst/>
              <a:cxnLst/>
              <a:rect r="r" b="b" t="t" l="l"/>
              <a:pathLst>
                <a:path h="878933" w="885128">
                  <a:moveTo>
                    <a:pt x="442564" y="0"/>
                  </a:moveTo>
                  <a:cubicBezTo>
                    <a:pt x="198143" y="0"/>
                    <a:pt x="0" y="196756"/>
                    <a:pt x="0" y="439466"/>
                  </a:cubicBezTo>
                  <a:cubicBezTo>
                    <a:pt x="0" y="682177"/>
                    <a:pt x="198143" y="878933"/>
                    <a:pt x="442564" y="878933"/>
                  </a:cubicBezTo>
                  <a:cubicBezTo>
                    <a:pt x="686985" y="878933"/>
                    <a:pt x="885128" y="682177"/>
                    <a:pt x="885128" y="439466"/>
                  </a:cubicBezTo>
                  <a:cubicBezTo>
                    <a:pt x="885128" y="196756"/>
                    <a:pt x="686985" y="0"/>
                    <a:pt x="442564" y="0"/>
                  </a:cubicBezTo>
                  <a:close/>
                </a:path>
              </a:pathLst>
            </a:custGeom>
            <a:solidFill>
              <a:srgbClr val="DBE6F1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82981" y="63350"/>
              <a:ext cx="719166" cy="7331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19"/>
                </a:lnSpc>
              </a:pPr>
              <a:r>
                <a:rPr lang="en-US" sz="1599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3</a:t>
              </a:r>
            </a:p>
          </p:txBody>
        </p:sp>
      </p:grpSp>
      <p:sp>
        <p:nvSpPr>
          <p:cNvPr name="AutoShape 20" id="20"/>
          <p:cNvSpPr/>
          <p:nvPr/>
        </p:nvSpPr>
        <p:spPr>
          <a:xfrm flipV="true">
            <a:off x="11552958" y="3030276"/>
            <a:ext cx="0" cy="920546"/>
          </a:xfrm>
          <a:prstGeom prst="line">
            <a:avLst/>
          </a:prstGeom>
          <a:ln cap="flat" w="47625">
            <a:solidFill>
              <a:srgbClr val="E1F14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1" id="21"/>
          <p:cNvSpPr/>
          <p:nvPr/>
        </p:nvSpPr>
        <p:spPr>
          <a:xfrm flipV="true">
            <a:off x="11552958" y="8008219"/>
            <a:ext cx="0" cy="918210"/>
          </a:xfrm>
          <a:prstGeom prst="line">
            <a:avLst/>
          </a:prstGeom>
          <a:ln cap="flat" w="47625">
            <a:solidFill>
              <a:srgbClr val="9C88F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2" id="22"/>
          <p:cNvSpPr/>
          <p:nvPr/>
        </p:nvSpPr>
        <p:spPr>
          <a:xfrm flipV="true">
            <a:off x="11552958" y="4691148"/>
            <a:ext cx="0" cy="918210"/>
          </a:xfrm>
          <a:prstGeom prst="line">
            <a:avLst/>
          </a:prstGeom>
          <a:ln cap="flat" w="47625">
            <a:solidFill>
              <a:srgbClr val="64E09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3" id="23"/>
          <p:cNvSpPr/>
          <p:nvPr/>
        </p:nvSpPr>
        <p:spPr>
          <a:xfrm flipV="true">
            <a:off x="11552958" y="6349683"/>
            <a:ext cx="0" cy="918210"/>
          </a:xfrm>
          <a:prstGeom prst="line">
            <a:avLst/>
          </a:prstGeom>
          <a:ln cap="flat" w="47625">
            <a:solidFill>
              <a:srgbClr val="DBE6F1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4" id="24"/>
          <p:cNvSpPr txBox="true"/>
          <p:nvPr/>
        </p:nvSpPr>
        <p:spPr>
          <a:xfrm rot="0">
            <a:off x="11961803" y="3404088"/>
            <a:ext cx="4289429" cy="5467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400">
                <a:solidFill>
                  <a:srgbClr val="FFFFFF">
                    <a:alpha val="74902"/>
                  </a:srgbClr>
                </a:solidFill>
                <a:latin typeface="Arimo"/>
                <a:ea typeface="Arimo"/>
                <a:cs typeface="Arimo"/>
                <a:sym typeface="Arimo"/>
              </a:rPr>
              <a:t>Build on an Insightful Foundation, unearthing opportunities at the bedrock of success.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1961803" y="3020751"/>
            <a:ext cx="3581080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Insightful Foundation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1961803" y="8379694"/>
            <a:ext cx="4289429" cy="5467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400">
                <a:solidFill>
                  <a:srgbClr val="FFFFFF">
                    <a:alpha val="74902"/>
                  </a:srgbClr>
                </a:solidFill>
                <a:latin typeface="Arimo"/>
                <a:ea typeface="Arimo"/>
                <a:cs typeface="Arimo"/>
                <a:sym typeface="Arimo"/>
              </a:rPr>
              <a:t>Build on an Insightful Foundation, unearthing opportunities at the bedrock of success.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1961803" y="7998694"/>
            <a:ext cx="3581080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Insightful Foundation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1961803" y="5062623"/>
            <a:ext cx="4289429" cy="5467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400">
                <a:solidFill>
                  <a:srgbClr val="FFFFFF">
                    <a:alpha val="74902"/>
                  </a:srgbClr>
                </a:solidFill>
                <a:latin typeface="Arimo"/>
                <a:ea typeface="Arimo"/>
                <a:cs typeface="Arimo"/>
                <a:sym typeface="Arimo"/>
              </a:rPr>
              <a:t>Build on an Insightful Foundation, unearthing opportunities at the bedrock of success.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1961803" y="4681623"/>
            <a:ext cx="3581080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Insightful Foundation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1961803" y="6721158"/>
            <a:ext cx="4289429" cy="5467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400">
                <a:solidFill>
                  <a:srgbClr val="FFFFFF">
                    <a:alpha val="74902"/>
                  </a:srgbClr>
                </a:solidFill>
                <a:latin typeface="Arimo"/>
                <a:ea typeface="Arimo"/>
                <a:cs typeface="Arimo"/>
                <a:sym typeface="Arimo"/>
              </a:rPr>
              <a:t>Build on an Insightful Foundation, unearthing opportunities at the bedrock of success.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1961803" y="6340158"/>
            <a:ext cx="3581080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Insightful Foundation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383584" y="3955711"/>
            <a:ext cx="7520831" cy="4653514"/>
          </a:xfrm>
          <a:custGeom>
            <a:avLst/>
            <a:gdLst/>
            <a:ahLst/>
            <a:cxnLst/>
            <a:rect r="r" b="b" t="t" l="l"/>
            <a:pathLst>
              <a:path h="4653514" w="7520831">
                <a:moveTo>
                  <a:pt x="0" y="0"/>
                </a:moveTo>
                <a:lnTo>
                  <a:pt x="7520832" y="0"/>
                </a:lnTo>
                <a:lnTo>
                  <a:pt x="7520832" y="4653514"/>
                </a:lnTo>
                <a:lnTo>
                  <a:pt x="0" y="46535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7177632" y="2828157"/>
            <a:ext cx="3932736" cy="3116693"/>
          </a:xfrm>
          <a:custGeom>
            <a:avLst/>
            <a:gdLst/>
            <a:ahLst/>
            <a:cxnLst/>
            <a:rect r="r" b="b" t="t" l="l"/>
            <a:pathLst>
              <a:path h="3116693" w="3932736">
                <a:moveTo>
                  <a:pt x="0" y="0"/>
                </a:moveTo>
                <a:lnTo>
                  <a:pt x="3932736" y="0"/>
                </a:lnTo>
                <a:lnTo>
                  <a:pt x="3932736" y="3116693"/>
                </a:lnTo>
                <a:lnTo>
                  <a:pt x="0" y="311669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4" id="4"/>
          <p:cNvSpPr/>
          <p:nvPr/>
        </p:nvSpPr>
        <p:spPr>
          <a:xfrm flipH="true" flipV="true">
            <a:off x="5782635" y="2801448"/>
            <a:ext cx="0" cy="1076325"/>
          </a:xfrm>
          <a:prstGeom prst="line">
            <a:avLst/>
          </a:prstGeom>
          <a:ln cap="flat" w="38100">
            <a:solidFill>
              <a:srgbClr val="16324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>
            <a:off x="13590205" y="5260660"/>
            <a:ext cx="0" cy="1076325"/>
          </a:xfrm>
          <a:prstGeom prst="line">
            <a:avLst/>
          </a:prstGeom>
          <a:ln cap="flat" w="38100">
            <a:solidFill>
              <a:srgbClr val="DBE6F1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>
            <a:off x="12500769" y="2801448"/>
            <a:ext cx="0" cy="1089660"/>
          </a:xfrm>
          <a:prstGeom prst="line">
            <a:avLst/>
          </a:prstGeom>
          <a:ln cap="flat" w="38100">
            <a:solidFill>
              <a:srgbClr val="52559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>
            <a:off x="5782635" y="8007695"/>
            <a:ext cx="0" cy="1089660"/>
          </a:xfrm>
          <a:prstGeom prst="line">
            <a:avLst/>
          </a:prstGeom>
          <a:ln cap="flat" w="38100">
            <a:solidFill>
              <a:srgbClr val="64E09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" id="8"/>
          <p:cNvSpPr/>
          <p:nvPr/>
        </p:nvSpPr>
        <p:spPr>
          <a:xfrm>
            <a:off x="4697784" y="5233988"/>
            <a:ext cx="0" cy="1102997"/>
          </a:xfrm>
          <a:prstGeom prst="line">
            <a:avLst/>
          </a:prstGeom>
          <a:ln cap="flat" w="38100">
            <a:solidFill>
              <a:srgbClr val="9C88F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" id="9"/>
          <p:cNvSpPr/>
          <p:nvPr/>
        </p:nvSpPr>
        <p:spPr>
          <a:xfrm>
            <a:off x="12500769" y="7994358"/>
            <a:ext cx="0" cy="1102997"/>
          </a:xfrm>
          <a:prstGeom prst="line">
            <a:avLst/>
          </a:prstGeom>
          <a:ln cap="flat" w="38100">
            <a:solidFill>
              <a:srgbClr val="E1F14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0" id="10"/>
          <p:cNvSpPr txBox="true"/>
          <p:nvPr/>
        </p:nvSpPr>
        <p:spPr>
          <a:xfrm rot="0">
            <a:off x="1861227" y="866775"/>
            <a:ext cx="14565546" cy="742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59"/>
              </a:lnSpc>
            </a:pPr>
            <a:r>
              <a:rPr lang="en-US" sz="48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Summit of Excellence - 6 Stages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833914" y="3077673"/>
            <a:ext cx="2549670" cy="8134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00"/>
              </a:lnSpc>
            </a:pPr>
            <a:r>
              <a:rPr lang="en-US" sz="1400">
                <a:solidFill>
                  <a:srgbClr val="000000">
                    <a:alpha val="64706"/>
                  </a:srgbClr>
                </a:solidFill>
                <a:latin typeface="Arimo"/>
                <a:ea typeface="Arimo"/>
                <a:cs typeface="Arimo"/>
                <a:sym typeface="Arimo"/>
              </a:rPr>
              <a:t>Ascend the peak of Market Mastery, gaining panoramic views of industry trends.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833914" y="2701435"/>
            <a:ext cx="2549670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879"/>
              </a:lnSpc>
            </a:pPr>
            <a:r>
              <a:rPr lang="en-US" sz="239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Market Mastery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3990281" y="5534887"/>
            <a:ext cx="3042779" cy="8134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400">
                <a:solidFill>
                  <a:srgbClr val="000000">
                    <a:alpha val="64706"/>
                  </a:srgbClr>
                </a:solidFill>
                <a:latin typeface="Arimo"/>
                <a:ea typeface="Arimo"/>
                <a:cs typeface="Arimo"/>
                <a:sym typeface="Arimo"/>
              </a:rPr>
              <a:t>Soar over the horizon of Performance Watch, a watchtower for key </a:t>
            </a:r>
          </a:p>
          <a:p>
            <a:pPr algn="l">
              <a:lnSpc>
                <a:spcPts val="2100"/>
              </a:lnSpc>
            </a:pPr>
            <a:r>
              <a:rPr lang="en-US" sz="1400">
                <a:solidFill>
                  <a:srgbClr val="000000">
                    <a:alpha val="64706"/>
                  </a:srgbClr>
                </a:solidFill>
                <a:latin typeface="Arimo"/>
                <a:ea typeface="Arimo"/>
                <a:cs typeface="Arimo"/>
                <a:sym typeface="Arimo"/>
              </a:rPr>
              <a:t>strategic metrics.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3990281" y="5158647"/>
            <a:ext cx="3042779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39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Performance Watch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904416" y="3077673"/>
            <a:ext cx="2600650" cy="8134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400">
                <a:solidFill>
                  <a:srgbClr val="000000">
                    <a:alpha val="64706"/>
                  </a:srgbClr>
                </a:solidFill>
                <a:latin typeface="Arimo"/>
                <a:ea typeface="Arimo"/>
                <a:cs typeface="Arimo"/>
                <a:sym typeface="Arimo"/>
              </a:rPr>
              <a:t>Scale heights with the Strategic Blueprint, crafting a visionary path to excellence.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904416" y="2701435"/>
            <a:ext cx="3019850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39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Strategic Blueprint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2782935" y="8275345"/>
            <a:ext cx="2600650" cy="8134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00"/>
              </a:lnSpc>
            </a:pPr>
            <a:r>
              <a:rPr lang="en-US" sz="1400">
                <a:solidFill>
                  <a:srgbClr val="000000">
                    <a:alpha val="64706"/>
                  </a:srgbClr>
                </a:solidFill>
                <a:latin typeface="Arimo"/>
                <a:ea typeface="Arimo"/>
                <a:cs typeface="Arimo"/>
                <a:sym typeface="Arimo"/>
              </a:rPr>
              <a:t>Glide through Adaptive Agility, navigating dynamic currents in the ever-evolving landscape.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782935" y="7894345"/>
            <a:ext cx="2600650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879"/>
              </a:lnSpc>
            </a:pPr>
            <a:r>
              <a:rPr lang="en-US" sz="239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Adaptive Agility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472827" y="5534887"/>
            <a:ext cx="2824907" cy="8134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00"/>
              </a:lnSpc>
            </a:pPr>
            <a:r>
              <a:rPr lang="en-US" sz="1400">
                <a:solidFill>
                  <a:srgbClr val="000000">
                    <a:alpha val="64706"/>
                  </a:srgbClr>
                </a:solidFill>
                <a:latin typeface="Arimo"/>
                <a:ea typeface="Arimo"/>
                <a:cs typeface="Arimo"/>
                <a:sym typeface="Arimo"/>
              </a:rPr>
              <a:t>Summit Execution with Flawless Precision, bringing strategies </a:t>
            </a:r>
          </a:p>
          <a:p>
            <a:pPr algn="r">
              <a:lnSpc>
                <a:spcPts val="2100"/>
              </a:lnSpc>
            </a:pPr>
            <a:r>
              <a:rPr lang="en-US" sz="1400">
                <a:solidFill>
                  <a:srgbClr val="000000">
                    <a:alpha val="64706"/>
                  </a:srgbClr>
                </a:solidFill>
                <a:latin typeface="Arimo"/>
                <a:ea typeface="Arimo"/>
                <a:cs typeface="Arimo"/>
                <a:sym typeface="Arimo"/>
              </a:rPr>
              <a:t>to life seamlessly.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472827" y="5158647"/>
            <a:ext cx="2824907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879"/>
              </a:lnSpc>
            </a:pPr>
            <a:r>
              <a:rPr lang="en-US" sz="239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Flawless Execution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2904416" y="8275345"/>
            <a:ext cx="3257957" cy="8134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400">
                <a:solidFill>
                  <a:srgbClr val="000000">
                    <a:alpha val="64706"/>
                  </a:srgbClr>
                </a:solidFill>
                <a:latin typeface="Arimo"/>
                <a:ea typeface="Arimo"/>
                <a:cs typeface="Arimo"/>
                <a:sym typeface="Arimo"/>
              </a:rPr>
              <a:t>Reach the Innovation Summit, standing tall where groundbreaking ideas converge for unparalleled excellence.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2904416" y="7894345"/>
            <a:ext cx="3257957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39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Innovation Summit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822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812777" y="2445343"/>
            <a:ext cx="7821935" cy="6850936"/>
            <a:chOff x="0" y="0"/>
            <a:chExt cx="811286" cy="71057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8302" y="11493"/>
              <a:ext cx="794682" cy="699081"/>
            </a:xfrm>
            <a:custGeom>
              <a:avLst/>
              <a:gdLst/>
              <a:ahLst/>
              <a:cxnLst/>
              <a:rect r="r" b="b" t="t" l="l"/>
              <a:pathLst>
                <a:path h="699081" w="794682">
                  <a:moveTo>
                    <a:pt x="407155" y="5698"/>
                  </a:moveTo>
                  <a:lnTo>
                    <a:pt x="793170" y="681890"/>
                  </a:lnTo>
                  <a:cubicBezTo>
                    <a:pt x="795200" y="685447"/>
                    <a:pt x="795185" y="689817"/>
                    <a:pt x="793128" y="693359"/>
                  </a:cubicBezTo>
                  <a:cubicBezTo>
                    <a:pt x="791071" y="696901"/>
                    <a:pt x="787284" y="699081"/>
                    <a:pt x="783188" y="699081"/>
                  </a:cubicBezTo>
                  <a:lnTo>
                    <a:pt x="11493" y="699081"/>
                  </a:lnTo>
                  <a:cubicBezTo>
                    <a:pt x="7397" y="699081"/>
                    <a:pt x="3611" y="696901"/>
                    <a:pt x="1554" y="693359"/>
                  </a:cubicBezTo>
                  <a:cubicBezTo>
                    <a:pt x="-503" y="689817"/>
                    <a:pt x="-519" y="685447"/>
                    <a:pt x="1512" y="681890"/>
                  </a:cubicBezTo>
                  <a:lnTo>
                    <a:pt x="387527" y="5698"/>
                  </a:lnTo>
                  <a:cubicBezTo>
                    <a:pt x="389538" y="2175"/>
                    <a:pt x="393284" y="0"/>
                    <a:pt x="397341" y="0"/>
                  </a:cubicBezTo>
                  <a:cubicBezTo>
                    <a:pt x="401398" y="0"/>
                    <a:pt x="405144" y="2175"/>
                    <a:pt x="407155" y="5698"/>
                  </a:cubicBezTo>
                  <a:close/>
                </a:path>
              </a:pathLst>
            </a:custGeom>
            <a:solidFill>
              <a:srgbClr val="16324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126763" y="310860"/>
              <a:ext cx="557759" cy="348960"/>
            </a:xfrm>
            <a:prstGeom prst="rect">
              <a:avLst/>
            </a:prstGeom>
          </p:spPr>
          <p:txBody>
            <a:bodyPr anchor="ctr" rtlCol="false" tIns="52674" lIns="52674" bIns="52674" rIns="52674"/>
            <a:lstStyle/>
            <a:p>
              <a:pPr algn="ctr">
                <a:lnSpc>
                  <a:spcPts val="15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1632411" y="2930227"/>
            <a:ext cx="2182667" cy="1145866"/>
            <a:chOff x="0" y="0"/>
            <a:chExt cx="571181" cy="29986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71181" cy="299861"/>
            </a:xfrm>
            <a:custGeom>
              <a:avLst/>
              <a:gdLst/>
              <a:ahLst/>
              <a:cxnLst/>
              <a:rect r="r" b="b" t="t" l="l"/>
              <a:pathLst>
                <a:path h="299861" w="571181">
                  <a:moveTo>
                    <a:pt x="149931" y="0"/>
                  </a:moveTo>
                  <a:lnTo>
                    <a:pt x="421250" y="0"/>
                  </a:lnTo>
                  <a:cubicBezTo>
                    <a:pt x="461014" y="0"/>
                    <a:pt x="499150" y="15796"/>
                    <a:pt x="527267" y="43914"/>
                  </a:cubicBezTo>
                  <a:cubicBezTo>
                    <a:pt x="555385" y="72031"/>
                    <a:pt x="571181" y="110166"/>
                    <a:pt x="571181" y="149931"/>
                  </a:cubicBezTo>
                  <a:lnTo>
                    <a:pt x="571181" y="149931"/>
                  </a:lnTo>
                  <a:cubicBezTo>
                    <a:pt x="571181" y="189695"/>
                    <a:pt x="555385" y="227830"/>
                    <a:pt x="527267" y="255947"/>
                  </a:cubicBezTo>
                  <a:cubicBezTo>
                    <a:pt x="499150" y="284065"/>
                    <a:pt x="461014" y="299861"/>
                    <a:pt x="421250" y="299861"/>
                  </a:cubicBezTo>
                  <a:lnTo>
                    <a:pt x="149931" y="299861"/>
                  </a:lnTo>
                  <a:cubicBezTo>
                    <a:pt x="110166" y="299861"/>
                    <a:pt x="72031" y="284065"/>
                    <a:pt x="43914" y="255947"/>
                  </a:cubicBezTo>
                  <a:cubicBezTo>
                    <a:pt x="15796" y="227830"/>
                    <a:pt x="0" y="189695"/>
                    <a:pt x="0" y="149931"/>
                  </a:cubicBezTo>
                  <a:lnTo>
                    <a:pt x="0" y="149931"/>
                  </a:lnTo>
                  <a:cubicBezTo>
                    <a:pt x="0" y="110166"/>
                    <a:pt x="15796" y="72031"/>
                    <a:pt x="43914" y="43914"/>
                  </a:cubicBezTo>
                  <a:cubicBezTo>
                    <a:pt x="72031" y="15796"/>
                    <a:pt x="110166" y="0"/>
                    <a:pt x="149931" y="0"/>
                  </a:cubicBezTo>
                  <a:close/>
                </a:path>
              </a:pathLst>
            </a:custGeom>
            <a:solidFill>
              <a:srgbClr val="E1F14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571181" cy="328436"/>
            </a:xfrm>
            <a:prstGeom prst="rect">
              <a:avLst/>
            </a:prstGeom>
          </p:spPr>
          <p:txBody>
            <a:bodyPr anchor="ctr" rtlCol="false" tIns="52674" lIns="52674" bIns="52674" rIns="52674"/>
            <a:lstStyle/>
            <a:p>
              <a:pPr algn="ctr">
                <a:lnSpc>
                  <a:spcPts val="600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1033992" y="4164826"/>
            <a:ext cx="3379506" cy="1145866"/>
            <a:chOff x="0" y="0"/>
            <a:chExt cx="884381" cy="29986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84381" cy="299861"/>
            </a:xfrm>
            <a:custGeom>
              <a:avLst/>
              <a:gdLst/>
              <a:ahLst/>
              <a:cxnLst/>
              <a:rect r="r" b="b" t="t" l="l"/>
              <a:pathLst>
                <a:path h="299861" w="884381">
                  <a:moveTo>
                    <a:pt x="149931" y="0"/>
                  </a:moveTo>
                  <a:lnTo>
                    <a:pt x="734450" y="0"/>
                  </a:lnTo>
                  <a:cubicBezTo>
                    <a:pt x="817255" y="0"/>
                    <a:pt x="884381" y="67126"/>
                    <a:pt x="884381" y="149931"/>
                  </a:cubicBezTo>
                  <a:lnTo>
                    <a:pt x="884381" y="149931"/>
                  </a:lnTo>
                  <a:cubicBezTo>
                    <a:pt x="884381" y="189695"/>
                    <a:pt x="868585" y="227830"/>
                    <a:pt x="840467" y="255947"/>
                  </a:cubicBezTo>
                  <a:cubicBezTo>
                    <a:pt x="812350" y="284065"/>
                    <a:pt x="774214" y="299861"/>
                    <a:pt x="734450" y="299861"/>
                  </a:cubicBezTo>
                  <a:lnTo>
                    <a:pt x="149931" y="299861"/>
                  </a:lnTo>
                  <a:cubicBezTo>
                    <a:pt x="110166" y="299861"/>
                    <a:pt x="72031" y="284065"/>
                    <a:pt x="43914" y="255947"/>
                  </a:cubicBezTo>
                  <a:cubicBezTo>
                    <a:pt x="15796" y="227830"/>
                    <a:pt x="0" y="189695"/>
                    <a:pt x="0" y="149931"/>
                  </a:cubicBezTo>
                  <a:lnTo>
                    <a:pt x="0" y="149931"/>
                  </a:lnTo>
                  <a:cubicBezTo>
                    <a:pt x="0" y="110166"/>
                    <a:pt x="15796" y="72031"/>
                    <a:pt x="43914" y="43914"/>
                  </a:cubicBezTo>
                  <a:cubicBezTo>
                    <a:pt x="72031" y="15796"/>
                    <a:pt x="110166" y="0"/>
                    <a:pt x="149931" y="0"/>
                  </a:cubicBezTo>
                  <a:close/>
                </a:path>
              </a:pathLst>
            </a:custGeom>
            <a:solidFill>
              <a:srgbClr val="64E09A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19050"/>
              <a:ext cx="884381" cy="318911"/>
            </a:xfrm>
            <a:prstGeom prst="rect">
              <a:avLst/>
            </a:prstGeom>
          </p:spPr>
          <p:txBody>
            <a:bodyPr anchor="ctr" rtlCol="false" tIns="52674" lIns="52674" bIns="52674" rIns="52674"/>
            <a:lstStyle/>
            <a:p>
              <a:pPr algn="ctr">
                <a:lnSpc>
                  <a:spcPts val="15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0386250" y="5420985"/>
            <a:ext cx="4674988" cy="1145866"/>
            <a:chOff x="0" y="0"/>
            <a:chExt cx="1223395" cy="29986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223395" cy="299861"/>
            </a:xfrm>
            <a:custGeom>
              <a:avLst/>
              <a:gdLst/>
              <a:ahLst/>
              <a:cxnLst/>
              <a:rect r="r" b="b" t="t" l="l"/>
              <a:pathLst>
                <a:path h="299861" w="1223395">
                  <a:moveTo>
                    <a:pt x="149931" y="0"/>
                  </a:moveTo>
                  <a:lnTo>
                    <a:pt x="1073464" y="0"/>
                  </a:lnTo>
                  <a:cubicBezTo>
                    <a:pt x="1113228" y="0"/>
                    <a:pt x="1151364" y="15796"/>
                    <a:pt x="1179481" y="43914"/>
                  </a:cubicBezTo>
                  <a:cubicBezTo>
                    <a:pt x="1207599" y="72031"/>
                    <a:pt x="1223395" y="110166"/>
                    <a:pt x="1223395" y="149931"/>
                  </a:cubicBezTo>
                  <a:lnTo>
                    <a:pt x="1223395" y="149931"/>
                  </a:lnTo>
                  <a:cubicBezTo>
                    <a:pt x="1223395" y="189695"/>
                    <a:pt x="1207599" y="227830"/>
                    <a:pt x="1179481" y="255947"/>
                  </a:cubicBezTo>
                  <a:cubicBezTo>
                    <a:pt x="1151364" y="284065"/>
                    <a:pt x="1113228" y="299861"/>
                    <a:pt x="1073464" y="299861"/>
                  </a:cubicBezTo>
                  <a:lnTo>
                    <a:pt x="149931" y="299861"/>
                  </a:lnTo>
                  <a:cubicBezTo>
                    <a:pt x="110166" y="299861"/>
                    <a:pt x="72031" y="284065"/>
                    <a:pt x="43914" y="255947"/>
                  </a:cubicBezTo>
                  <a:cubicBezTo>
                    <a:pt x="15796" y="227830"/>
                    <a:pt x="0" y="189695"/>
                    <a:pt x="0" y="149931"/>
                  </a:cubicBezTo>
                  <a:lnTo>
                    <a:pt x="0" y="149931"/>
                  </a:lnTo>
                  <a:cubicBezTo>
                    <a:pt x="0" y="110166"/>
                    <a:pt x="15796" y="72031"/>
                    <a:pt x="43914" y="43914"/>
                  </a:cubicBezTo>
                  <a:cubicBezTo>
                    <a:pt x="72031" y="15796"/>
                    <a:pt x="110166" y="0"/>
                    <a:pt x="149931" y="0"/>
                  </a:cubicBezTo>
                  <a:close/>
                </a:path>
              </a:pathLst>
            </a:custGeom>
            <a:solidFill>
              <a:srgbClr val="DBE6F1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19050"/>
              <a:ext cx="1223395" cy="318911"/>
            </a:xfrm>
            <a:prstGeom prst="rect">
              <a:avLst/>
            </a:prstGeom>
          </p:spPr>
          <p:txBody>
            <a:bodyPr anchor="ctr" rtlCol="false" tIns="52674" lIns="52674" bIns="52674" rIns="52674"/>
            <a:lstStyle/>
            <a:p>
              <a:pPr algn="ctr">
                <a:lnSpc>
                  <a:spcPts val="15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9672741" y="6674698"/>
            <a:ext cx="6102007" cy="1145866"/>
            <a:chOff x="0" y="0"/>
            <a:chExt cx="1596831" cy="29986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596831" cy="299861"/>
            </a:xfrm>
            <a:custGeom>
              <a:avLst/>
              <a:gdLst/>
              <a:ahLst/>
              <a:cxnLst/>
              <a:rect r="r" b="b" t="t" l="l"/>
              <a:pathLst>
                <a:path h="299861" w="1596831">
                  <a:moveTo>
                    <a:pt x="126875" y="0"/>
                  </a:moveTo>
                  <a:lnTo>
                    <a:pt x="1469956" y="0"/>
                  </a:lnTo>
                  <a:cubicBezTo>
                    <a:pt x="1540027" y="0"/>
                    <a:pt x="1596831" y="56804"/>
                    <a:pt x="1596831" y="126875"/>
                  </a:cubicBezTo>
                  <a:lnTo>
                    <a:pt x="1596831" y="172986"/>
                  </a:lnTo>
                  <a:cubicBezTo>
                    <a:pt x="1596831" y="243057"/>
                    <a:pt x="1540027" y="299861"/>
                    <a:pt x="1469956" y="299861"/>
                  </a:cubicBezTo>
                  <a:lnTo>
                    <a:pt x="126875" y="299861"/>
                  </a:lnTo>
                  <a:cubicBezTo>
                    <a:pt x="56804" y="299861"/>
                    <a:pt x="0" y="243057"/>
                    <a:pt x="0" y="172986"/>
                  </a:cubicBezTo>
                  <a:lnTo>
                    <a:pt x="0" y="126875"/>
                  </a:lnTo>
                  <a:cubicBezTo>
                    <a:pt x="0" y="56804"/>
                    <a:pt x="56804" y="0"/>
                    <a:pt x="126875" y="0"/>
                  </a:cubicBezTo>
                  <a:close/>
                </a:path>
              </a:pathLst>
            </a:custGeom>
            <a:solidFill>
              <a:srgbClr val="9C88F6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19050"/>
              <a:ext cx="1596831" cy="318911"/>
            </a:xfrm>
            <a:prstGeom prst="rect">
              <a:avLst/>
            </a:prstGeom>
          </p:spPr>
          <p:txBody>
            <a:bodyPr anchor="ctr" rtlCol="false" tIns="52674" lIns="52674" bIns="52674" rIns="52674"/>
            <a:lstStyle/>
            <a:p>
              <a:pPr algn="ctr">
                <a:lnSpc>
                  <a:spcPts val="155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8992112" y="7930790"/>
            <a:ext cx="7463265" cy="1145866"/>
            <a:chOff x="0" y="0"/>
            <a:chExt cx="1953058" cy="299861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953058" cy="299861"/>
            </a:xfrm>
            <a:custGeom>
              <a:avLst/>
              <a:gdLst/>
              <a:ahLst/>
              <a:cxnLst/>
              <a:rect r="r" b="b" t="t" l="l"/>
              <a:pathLst>
                <a:path h="299861" w="1953058">
                  <a:moveTo>
                    <a:pt x="103734" y="0"/>
                  </a:moveTo>
                  <a:lnTo>
                    <a:pt x="1849324" y="0"/>
                  </a:lnTo>
                  <a:cubicBezTo>
                    <a:pt x="1876836" y="0"/>
                    <a:pt x="1903221" y="10929"/>
                    <a:pt x="1922675" y="30383"/>
                  </a:cubicBezTo>
                  <a:cubicBezTo>
                    <a:pt x="1942129" y="49837"/>
                    <a:pt x="1953058" y="76222"/>
                    <a:pt x="1953058" y="103734"/>
                  </a:cubicBezTo>
                  <a:lnTo>
                    <a:pt x="1953058" y="196127"/>
                  </a:lnTo>
                  <a:cubicBezTo>
                    <a:pt x="1953058" y="253418"/>
                    <a:pt x="1906614" y="299861"/>
                    <a:pt x="1849324" y="299861"/>
                  </a:cubicBezTo>
                  <a:lnTo>
                    <a:pt x="103734" y="299861"/>
                  </a:lnTo>
                  <a:cubicBezTo>
                    <a:pt x="46443" y="299861"/>
                    <a:pt x="0" y="253418"/>
                    <a:pt x="0" y="196127"/>
                  </a:cubicBezTo>
                  <a:lnTo>
                    <a:pt x="0" y="103734"/>
                  </a:lnTo>
                  <a:cubicBezTo>
                    <a:pt x="0" y="46443"/>
                    <a:pt x="46443" y="0"/>
                    <a:pt x="103734" y="0"/>
                  </a:cubicBezTo>
                  <a:close/>
                </a:path>
              </a:pathLst>
            </a:custGeom>
            <a:solidFill>
              <a:srgbClr val="525599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19050"/>
              <a:ext cx="1953058" cy="318911"/>
            </a:xfrm>
            <a:prstGeom prst="rect">
              <a:avLst/>
            </a:prstGeom>
          </p:spPr>
          <p:txBody>
            <a:bodyPr anchor="ctr" rtlCol="false" tIns="52674" lIns="52674" bIns="52674" rIns="52674"/>
            <a:lstStyle/>
            <a:p>
              <a:pPr algn="ctr">
                <a:lnSpc>
                  <a:spcPts val="1559"/>
                </a:lnSpc>
              </a:pP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12485619" y="3265035"/>
            <a:ext cx="476250" cy="476250"/>
          </a:xfrm>
          <a:custGeom>
            <a:avLst/>
            <a:gdLst/>
            <a:ahLst/>
            <a:cxnLst/>
            <a:rect r="r" b="b" t="t" l="l"/>
            <a:pathLst>
              <a:path h="476250" w="476250">
                <a:moveTo>
                  <a:pt x="0" y="0"/>
                </a:moveTo>
                <a:lnTo>
                  <a:pt x="476250" y="0"/>
                </a:lnTo>
                <a:lnTo>
                  <a:pt x="476250" y="476250"/>
                </a:lnTo>
                <a:lnTo>
                  <a:pt x="0" y="4762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12485619" y="4499634"/>
            <a:ext cx="476250" cy="476250"/>
          </a:xfrm>
          <a:custGeom>
            <a:avLst/>
            <a:gdLst/>
            <a:ahLst/>
            <a:cxnLst/>
            <a:rect r="r" b="b" t="t" l="l"/>
            <a:pathLst>
              <a:path h="476250" w="476250">
                <a:moveTo>
                  <a:pt x="0" y="0"/>
                </a:moveTo>
                <a:lnTo>
                  <a:pt x="476250" y="0"/>
                </a:lnTo>
                <a:lnTo>
                  <a:pt x="476250" y="476250"/>
                </a:lnTo>
                <a:lnTo>
                  <a:pt x="0" y="47625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12485619" y="8265598"/>
            <a:ext cx="476250" cy="476250"/>
          </a:xfrm>
          <a:custGeom>
            <a:avLst/>
            <a:gdLst/>
            <a:ahLst/>
            <a:cxnLst/>
            <a:rect r="r" b="b" t="t" l="l"/>
            <a:pathLst>
              <a:path h="476250" w="476250">
                <a:moveTo>
                  <a:pt x="0" y="0"/>
                </a:moveTo>
                <a:lnTo>
                  <a:pt x="476250" y="0"/>
                </a:lnTo>
                <a:lnTo>
                  <a:pt x="476250" y="476250"/>
                </a:lnTo>
                <a:lnTo>
                  <a:pt x="0" y="47625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12476094" y="5746268"/>
            <a:ext cx="495300" cy="495300"/>
          </a:xfrm>
          <a:custGeom>
            <a:avLst/>
            <a:gdLst/>
            <a:ahLst/>
            <a:cxnLst/>
            <a:rect r="r" b="b" t="t" l="l"/>
            <a:pathLst>
              <a:path h="495300" w="495300">
                <a:moveTo>
                  <a:pt x="0" y="0"/>
                </a:moveTo>
                <a:lnTo>
                  <a:pt x="495300" y="0"/>
                </a:lnTo>
                <a:lnTo>
                  <a:pt x="495300" y="495300"/>
                </a:lnTo>
                <a:lnTo>
                  <a:pt x="0" y="4953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12457044" y="6980931"/>
            <a:ext cx="533400" cy="533400"/>
          </a:xfrm>
          <a:custGeom>
            <a:avLst/>
            <a:gdLst/>
            <a:ahLst/>
            <a:cxnLst/>
            <a:rect r="r" b="b" t="t" l="l"/>
            <a:pathLst>
              <a:path h="533400" w="533400">
                <a:moveTo>
                  <a:pt x="0" y="0"/>
                </a:moveTo>
                <a:lnTo>
                  <a:pt x="533400" y="0"/>
                </a:lnTo>
                <a:lnTo>
                  <a:pt x="533400" y="533400"/>
                </a:lnTo>
                <a:lnTo>
                  <a:pt x="0" y="5334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25" id="25"/>
          <p:cNvSpPr/>
          <p:nvPr/>
        </p:nvSpPr>
        <p:spPr>
          <a:xfrm>
            <a:off x="3005148" y="3114778"/>
            <a:ext cx="0" cy="757964"/>
          </a:xfrm>
          <a:prstGeom prst="line">
            <a:avLst/>
          </a:prstGeom>
          <a:ln cap="flat" w="19050">
            <a:solidFill>
              <a:srgbClr val="FFFFFF">
                <a:alpha val="25882"/>
              </a:srgbClr>
            </a:solidFill>
            <a:prstDash val="sysDot"/>
            <a:headEnd type="none" len="sm" w="sm"/>
            <a:tailEnd type="none" len="sm" w="sm"/>
          </a:ln>
        </p:spPr>
      </p:sp>
      <p:sp>
        <p:nvSpPr>
          <p:cNvPr name="AutoShape 26" id="26"/>
          <p:cNvSpPr/>
          <p:nvPr/>
        </p:nvSpPr>
        <p:spPr>
          <a:xfrm>
            <a:off x="3005148" y="4543056"/>
            <a:ext cx="0" cy="757964"/>
          </a:xfrm>
          <a:prstGeom prst="line">
            <a:avLst/>
          </a:prstGeom>
          <a:ln cap="flat" w="19050">
            <a:solidFill>
              <a:srgbClr val="FFFFFF">
                <a:alpha val="25882"/>
              </a:srgbClr>
            </a:solidFill>
            <a:prstDash val="sysDot"/>
            <a:headEnd type="none" len="sm" w="sm"/>
            <a:tailEnd type="none" len="sm" w="sm"/>
          </a:ln>
        </p:spPr>
      </p:sp>
      <p:grpSp>
        <p:nvGrpSpPr>
          <p:cNvPr name="Group 27" id="27"/>
          <p:cNvGrpSpPr/>
          <p:nvPr/>
        </p:nvGrpSpPr>
        <p:grpSpPr>
          <a:xfrm rot="0">
            <a:off x="2722744" y="2491481"/>
            <a:ext cx="558462" cy="576585"/>
            <a:chOff x="0" y="0"/>
            <a:chExt cx="812800" cy="839177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812800" cy="839177"/>
            </a:xfrm>
            <a:custGeom>
              <a:avLst/>
              <a:gdLst/>
              <a:ahLst/>
              <a:cxnLst/>
              <a:rect r="r" b="b" t="t" l="l"/>
              <a:pathLst>
                <a:path h="839177" w="812800">
                  <a:moveTo>
                    <a:pt x="406400" y="0"/>
                  </a:moveTo>
                  <a:cubicBezTo>
                    <a:pt x="181951" y="0"/>
                    <a:pt x="0" y="187856"/>
                    <a:pt x="0" y="419588"/>
                  </a:cubicBezTo>
                  <a:cubicBezTo>
                    <a:pt x="0" y="651321"/>
                    <a:pt x="181951" y="839177"/>
                    <a:pt x="406400" y="839177"/>
                  </a:cubicBezTo>
                  <a:cubicBezTo>
                    <a:pt x="630849" y="839177"/>
                    <a:pt x="812800" y="651321"/>
                    <a:pt x="812800" y="419588"/>
                  </a:cubicBezTo>
                  <a:cubicBezTo>
                    <a:pt x="812800" y="18785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1F14F"/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76200" y="59623"/>
              <a:ext cx="660400" cy="7008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19"/>
                </a:lnSpc>
              </a:pPr>
              <a:r>
                <a:rPr lang="en-US" sz="1599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1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2722744" y="3919454"/>
            <a:ext cx="558462" cy="576585"/>
            <a:chOff x="0" y="0"/>
            <a:chExt cx="812800" cy="839177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812800" cy="839177"/>
            </a:xfrm>
            <a:custGeom>
              <a:avLst/>
              <a:gdLst/>
              <a:ahLst/>
              <a:cxnLst/>
              <a:rect r="r" b="b" t="t" l="l"/>
              <a:pathLst>
                <a:path h="839177" w="812800">
                  <a:moveTo>
                    <a:pt x="406400" y="0"/>
                  </a:moveTo>
                  <a:cubicBezTo>
                    <a:pt x="181951" y="0"/>
                    <a:pt x="0" y="187856"/>
                    <a:pt x="0" y="419588"/>
                  </a:cubicBezTo>
                  <a:cubicBezTo>
                    <a:pt x="0" y="651321"/>
                    <a:pt x="181951" y="839177"/>
                    <a:pt x="406400" y="839177"/>
                  </a:cubicBezTo>
                  <a:cubicBezTo>
                    <a:pt x="630849" y="839177"/>
                    <a:pt x="812800" y="651321"/>
                    <a:pt x="812800" y="419588"/>
                  </a:cubicBezTo>
                  <a:cubicBezTo>
                    <a:pt x="812800" y="18785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4E09A"/>
            </a:solidFill>
          </p:spPr>
        </p:sp>
        <p:sp>
          <p:nvSpPr>
            <p:cNvPr name="TextBox 32" id="32"/>
            <p:cNvSpPr txBox="true"/>
            <p:nvPr/>
          </p:nvSpPr>
          <p:spPr>
            <a:xfrm>
              <a:off x="76200" y="59623"/>
              <a:ext cx="660400" cy="7008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19"/>
                </a:lnSpc>
              </a:pPr>
              <a:r>
                <a:rPr lang="en-US" sz="1599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2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2722744" y="5347428"/>
            <a:ext cx="558462" cy="576585"/>
            <a:chOff x="0" y="0"/>
            <a:chExt cx="812800" cy="839177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812800" cy="839177"/>
            </a:xfrm>
            <a:custGeom>
              <a:avLst/>
              <a:gdLst/>
              <a:ahLst/>
              <a:cxnLst/>
              <a:rect r="r" b="b" t="t" l="l"/>
              <a:pathLst>
                <a:path h="839177" w="812800">
                  <a:moveTo>
                    <a:pt x="406400" y="0"/>
                  </a:moveTo>
                  <a:cubicBezTo>
                    <a:pt x="181951" y="0"/>
                    <a:pt x="0" y="187856"/>
                    <a:pt x="0" y="419588"/>
                  </a:cubicBezTo>
                  <a:cubicBezTo>
                    <a:pt x="0" y="651321"/>
                    <a:pt x="181951" y="839177"/>
                    <a:pt x="406400" y="839177"/>
                  </a:cubicBezTo>
                  <a:cubicBezTo>
                    <a:pt x="630849" y="839177"/>
                    <a:pt x="812800" y="651321"/>
                    <a:pt x="812800" y="419588"/>
                  </a:cubicBezTo>
                  <a:cubicBezTo>
                    <a:pt x="812800" y="18785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BE6F1"/>
            </a:solidFill>
          </p:spPr>
        </p:sp>
        <p:sp>
          <p:nvSpPr>
            <p:cNvPr name="TextBox 35" id="35"/>
            <p:cNvSpPr txBox="true"/>
            <p:nvPr/>
          </p:nvSpPr>
          <p:spPr>
            <a:xfrm>
              <a:off x="76200" y="59623"/>
              <a:ext cx="660400" cy="7008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19"/>
                </a:lnSpc>
              </a:pPr>
              <a:r>
                <a:rPr lang="en-US" sz="1599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3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2722744" y="6775401"/>
            <a:ext cx="558462" cy="576585"/>
            <a:chOff x="0" y="0"/>
            <a:chExt cx="812800" cy="839177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812800" cy="839177"/>
            </a:xfrm>
            <a:custGeom>
              <a:avLst/>
              <a:gdLst/>
              <a:ahLst/>
              <a:cxnLst/>
              <a:rect r="r" b="b" t="t" l="l"/>
              <a:pathLst>
                <a:path h="839177" w="812800">
                  <a:moveTo>
                    <a:pt x="406400" y="0"/>
                  </a:moveTo>
                  <a:cubicBezTo>
                    <a:pt x="181951" y="0"/>
                    <a:pt x="0" y="187856"/>
                    <a:pt x="0" y="419588"/>
                  </a:cubicBezTo>
                  <a:cubicBezTo>
                    <a:pt x="0" y="651321"/>
                    <a:pt x="181951" y="839177"/>
                    <a:pt x="406400" y="839177"/>
                  </a:cubicBezTo>
                  <a:cubicBezTo>
                    <a:pt x="630849" y="839177"/>
                    <a:pt x="812800" y="651321"/>
                    <a:pt x="812800" y="419588"/>
                  </a:cubicBezTo>
                  <a:cubicBezTo>
                    <a:pt x="812800" y="18785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9C88F6"/>
            </a:solidFill>
          </p:spPr>
        </p:sp>
        <p:sp>
          <p:nvSpPr>
            <p:cNvPr name="TextBox 38" id="38"/>
            <p:cNvSpPr txBox="true"/>
            <p:nvPr/>
          </p:nvSpPr>
          <p:spPr>
            <a:xfrm>
              <a:off x="76200" y="59623"/>
              <a:ext cx="660400" cy="7008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19"/>
                </a:lnSpc>
              </a:pPr>
              <a:r>
                <a:rPr lang="en-US" sz="1599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4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2722744" y="8203375"/>
            <a:ext cx="558462" cy="576585"/>
            <a:chOff x="0" y="0"/>
            <a:chExt cx="812800" cy="839177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812800" cy="839177"/>
            </a:xfrm>
            <a:custGeom>
              <a:avLst/>
              <a:gdLst/>
              <a:ahLst/>
              <a:cxnLst/>
              <a:rect r="r" b="b" t="t" l="l"/>
              <a:pathLst>
                <a:path h="839177" w="812800">
                  <a:moveTo>
                    <a:pt x="406400" y="0"/>
                  </a:moveTo>
                  <a:cubicBezTo>
                    <a:pt x="181951" y="0"/>
                    <a:pt x="0" y="187856"/>
                    <a:pt x="0" y="419588"/>
                  </a:cubicBezTo>
                  <a:cubicBezTo>
                    <a:pt x="0" y="651321"/>
                    <a:pt x="181951" y="839177"/>
                    <a:pt x="406400" y="839177"/>
                  </a:cubicBezTo>
                  <a:cubicBezTo>
                    <a:pt x="630849" y="839177"/>
                    <a:pt x="812800" y="651321"/>
                    <a:pt x="812800" y="419588"/>
                  </a:cubicBezTo>
                  <a:cubicBezTo>
                    <a:pt x="812800" y="18785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25599"/>
            </a:solidFill>
          </p:spPr>
        </p:sp>
        <p:sp>
          <p:nvSpPr>
            <p:cNvPr name="TextBox 41" id="41"/>
            <p:cNvSpPr txBox="true"/>
            <p:nvPr/>
          </p:nvSpPr>
          <p:spPr>
            <a:xfrm>
              <a:off x="76200" y="59623"/>
              <a:ext cx="660400" cy="7008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19"/>
                </a:lnSpc>
              </a:pPr>
              <a:r>
                <a:rPr lang="en-US" sz="1599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5</a:t>
              </a:r>
            </a:p>
          </p:txBody>
        </p:sp>
      </p:grpSp>
      <p:sp>
        <p:nvSpPr>
          <p:cNvPr name="AutoShape 42" id="42"/>
          <p:cNvSpPr/>
          <p:nvPr/>
        </p:nvSpPr>
        <p:spPr>
          <a:xfrm>
            <a:off x="3005148" y="5971333"/>
            <a:ext cx="0" cy="757964"/>
          </a:xfrm>
          <a:prstGeom prst="line">
            <a:avLst/>
          </a:prstGeom>
          <a:ln cap="flat" w="19050">
            <a:solidFill>
              <a:srgbClr val="FFFFFF">
                <a:alpha val="25882"/>
              </a:srgbClr>
            </a:solidFill>
            <a:prstDash val="sysDot"/>
            <a:headEnd type="none" len="sm" w="sm"/>
            <a:tailEnd type="none" len="sm" w="sm"/>
          </a:ln>
        </p:spPr>
      </p:sp>
      <p:sp>
        <p:nvSpPr>
          <p:cNvPr name="AutoShape 43" id="43"/>
          <p:cNvSpPr/>
          <p:nvPr/>
        </p:nvSpPr>
        <p:spPr>
          <a:xfrm>
            <a:off x="3005148" y="7399611"/>
            <a:ext cx="0" cy="757964"/>
          </a:xfrm>
          <a:prstGeom prst="line">
            <a:avLst/>
          </a:prstGeom>
          <a:ln cap="flat" w="19050">
            <a:solidFill>
              <a:srgbClr val="FFFFFF">
                <a:alpha val="25882"/>
              </a:srgbClr>
            </a:solidFill>
            <a:prstDash val="sysDot"/>
            <a:headEnd type="none" len="sm" w="sm"/>
            <a:tailEnd type="none" len="sm" w="sm"/>
          </a:ln>
        </p:spPr>
      </p:sp>
      <p:sp>
        <p:nvSpPr>
          <p:cNvPr name="TextBox 44" id="44"/>
          <p:cNvSpPr txBox="true"/>
          <p:nvPr/>
        </p:nvSpPr>
        <p:spPr>
          <a:xfrm rot="0">
            <a:off x="3727916" y="866775"/>
            <a:ext cx="10824928" cy="742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59"/>
              </a:lnSpc>
            </a:pPr>
            <a:r>
              <a:rPr lang="en-US" sz="48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Visionary Pursuit Odyssey - 5 Stages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3707614" y="5418371"/>
            <a:ext cx="3997626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398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Precision Execution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3707614" y="6846345"/>
            <a:ext cx="4486611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398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Performance Peaks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3707614" y="8274318"/>
            <a:ext cx="3997626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398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Zenith of Innovation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3707614" y="2982341"/>
            <a:ext cx="4072302" cy="5467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400">
                <a:solidFill>
                  <a:srgbClr val="FFFFFF">
                    <a:alpha val="74902"/>
                  </a:srgbClr>
                </a:solidFill>
                <a:latin typeface="Arimo"/>
                <a:ea typeface="Arimo"/>
                <a:cs typeface="Arimo"/>
                <a:sym typeface="Arimo"/>
              </a:rPr>
              <a:t>Ignite the Spark of Innovation, illuminating</a:t>
            </a:r>
          </a:p>
          <a:p>
            <a:pPr algn="l">
              <a:lnSpc>
                <a:spcPts val="2100"/>
              </a:lnSpc>
            </a:pPr>
            <a:r>
              <a:rPr lang="en-US" sz="1400">
                <a:solidFill>
                  <a:srgbClr val="FFFFFF">
                    <a:alpha val="74902"/>
                  </a:srgbClr>
                </a:solidFill>
                <a:latin typeface="Arimo"/>
                <a:ea typeface="Arimo"/>
                <a:cs typeface="Arimo"/>
                <a:sym typeface="Arimo"/>
              </a:rPr>
              <a:t>the path to visionary breakthroughs. 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3707614" y="2562424"/>
            <a:ext cx="4072302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398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Spark of Innovation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3707614" y="4410314"/>
            <a:ext cx="3997626" cy="5467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400">
                <a:solidFill>
                  <a:srgbClr val="FFFFFF">
                    <a:alpha val="74902"/>
                  </a:srgbClr>
                </a:solidFill>
                <a:latin typeface="Arimo"/>
                <a:ea typeface="Arimo"/>
                <a:cs typeface="Arimo"/>
                <a:sym typeface="Arimo"/>
              </a:rPr>
              <a:t>Craft a Blueprint Mastery, outlining the</a:t>
            </a:r>
          </a:p>
          <a:p>
            <a:pPr algn="l">
              <a:lnSpc>
                <a:spcPts val="2100"/>
              </a:lnSpc>
            </a:pPr>
            <a:r>
              <a:rPr lang="en-US" sz="1400">
                <a:solidFill>
                  <a:srgbClr val="FFFFFF">
                    <a:alpha val="74902"/>
                  </a:srgbClr>
                </a:solidFill>
                <a:latin typeface="Arimo"/>
                <a:ea typeface="Arimo"/>
                <a:cs typeface="Arimo"/>
                <a:sym typeface="Arimo"/>
              </a:rPr>
              <a:t>future with strategic ingenuity. 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3707614" y="3990398"/>
            <a:ext cx="4072302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398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Blueprint Mastery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3707614" y="5838288"/>
            <a:ext cx="3903819" cy="5467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400">
                <a:solidFill>
                  <a:srgbClr val="FFFFFF">
                    <a:alpha val="74902"/>
                  </a:srgbClr>
                </a:solidFill>
                <a:latin typeface="Arimo"/>
                <a:ea typeface="Arimo"/>
                <a:cs typeface="Arimo"/>
                <a:sym typeface="Arimo"/>
              </a:rPr>
              <a:t>Execute with Precision, transforming visionary concepts into tangible success stories.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3707614" y="7266261"/>
            <a:ext cx="3784691" cy="5467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400">
                <a:solidFill>
                  <a:srgbClr val="FFFFFF">
                    <a:alpha val="74902"/>
                  </a:srgbClr>
                </a:solidFill>
                <a:latin typeface="Arimo"/>
                <a:ea typeface="Arimo"/>
                <a:cs typeface="Arimo"/>
                <a:sym typeface="Arimo"/>
              </a:rPr>
              <a:t>Ascend the Performance Peaks, surveying key metrics from the strategic summit. 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3707614" y="8694235"/>
            <a:ext cx="3997626" cy="5467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400">
                <a:solidFill>
                  <a:srgbClr val="FFFFFF">
                    <a:alpha val="74902"/>
                  </a:srgbClr>
                </a:solidFill>
                <a:latin typeface="Arimo"/>
                <a:ea typeface="Arimo"/>
                <a:cs typeface="Arimo"/>
                <a:sym typeface="Arimo"/>
              </a:rPr>
              <a:t>Reach the Peak of Innovation, where groundbreaking ideas thrive.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838873" y="3036868"/>
            <a:ext cx="6610253" cy="5726132"/>
          </a:xfrm>
          <a:custGeom>
            <a:avLst/>
            <a:gdLst/>
            <a:ahLst/>
            <a:cxnLst/>
            <a:rect r="r" b="b" t="t" l="l"/>
            <a:pathLst>
              <a:path h="5726132" w="6610253">
                <a:moveTo>
                  <a:pt x="0" y="0"/>
                </a:moveTo>
                <a:lnTo>
                  <a:pt x="6610254" y="0"/>
                </a:lnTo>
                <a:lnTo>
                  <a:pt x="6610254" y="5726132"/>
                </a:lnTo>
                <a:lnTo>
                  <a:pt x="0" y="572613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204612" y="866775"/>
            <a:ext cx="15862009" cy="742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59"/>
              </a:lnSpc>
            </a:pPr>
            <a:r>
              <a:rPr lang="en-US" sz="48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Apex Ascendancy Pyramid - 4 Stages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2545993" y="3752850"/>
            <a:ext cx="3686636" cy="5467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400">
                <a:solidFill>
                  <a:srgbClr val="000000">
                    <a:alpha val="64706"/>
                  </a:srgbClr>
                </a:solidFill>
                <a:latin typeface="Arimo"/>
                <a:ea typeface="Arimo"/>
                <a:cs typeface="Arimo"/>
                <a:sym typeface="Arimo"/>
              </a:rPr>
              <a:t>Master Execution, seamlessly turning strategies into impactful triumphs.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362496" y="3781425"/>
            <a:ext cx="3686635" cy="5467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00"/>
              </a:lnSpc>
            </a:pPr>
            <a:r>
              <a:rPr lang="en-US" sz="1400">
                <a:solidFill>
                  <a:srgbClr val="000000">
                    <a:alpha val="64706"/>
                  </a:srgbClr>
                </a:solidFill>
                <a:latin typeface="Arimo"/>
                <a:ea typeface="Arimo"/>
                <a:cs typeface="Arimo"/>
                <a:sym typeface="Arimo"/>
              </a:rPr>
              <a:t>Establish Core Insight, revealing opportunities at the heart of success. 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38355" y="6429375"/>
            <a:ext cx="3686636" cy="5467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00"/>
              </a:lnSpc>
            </a:pPr>
            <a:r>
              <a:rPr lang="en-US" sz="1400">
                <a:solidFill>
                  <a:srgbClr val="000000">
                    <a:alpha val="64706"/>
                  </a:srgbClr>
                </a:solidFill>
                <a:latin typeface="Arimo"/>
                <a:ea typeface="Arimo"/>
                <a:cs typeface="Arimo"/>
                <a:sym typeface="Arimo"/>
              </a:rPr>
              <a:t>Reach the Strategic Summit, ascending towards unparalleled achievements.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555769" y="6400800"/>
            <a:ext cx="3686636" cy="5467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400">
                <a:solidFill>
                  <a:srgbClr val="000000">
                    <a:alpha val="64706"/>
                  </a:srgbClr>
                </a:solidFill>
                <a:latin typeface="Arimo"/>
                <a:ea typeface="Arimo"/>
                <a:cs typeface="Arimo"/>
                <a:sym typeface="Arimo"/>
              </a:rPr>
              <a:t>Stand at the Pinnacle Apex, celebrating strategic victories and ascendency. 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545993" y="3376612"/>
            <a:ext cx="3459984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39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Execution Mastery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065754" y="3405187"/>
            <a:ext cx="2983377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879"/>
              </a:lnSpc>
            </a:pPr>
            <a:r>
              <a:rPr lang="en-US" sz="239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Core Insight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406517" y="6053137"/>
            <a:ext cx="3318473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879"/>
              </a:lnSpc>
            </a:pPr>
            <a:r>
              <a:rPr lang="en-US" sz="239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Strategic Summit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3555769" y="6024562"/>
            <a:ext cx="2949567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39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Pinnacle Apex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7001693" y="3432034"/>
            <a:ext cx="491380" cy="492266"/>
            <a:chOff x="0" y="0"/>
            <a:chExt cx="1034911" cy="1036777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34911" cy="1036777"/>
            </a:xfrm>
            <a:custGeom>
              <a:avLst/>
              <a:gdLst/>
              <a:ahLst/>
              <a:cxnLst/>
              <a:rect r="r" b="b" t="t" l="l"/>
              <a:pathLst>
                <a:path h="1036777" w="1034911">
                  <a:moveTo>
                    <a:pt x="517455" y="0"/>
                  </a:moveTo>
                  <a:cubicBezTo>
                    <a:pt x="231673" y="0"/>
                    <a:pt x="0" y="232090"/>
                    <a:pt x="0" y="518389"/>
                  </a:cubicBezTo>
                  <a:cubicBezTo>
                    <a:pt x="0" y="804687"/>
                    <a:pt x="231673" y="1036777"/>
                    <a:pt x="517455" y="1036777"/>
                  </a:cubicBezTo>
                  <a:cubicBezTo>
                    <a:pt x="803238" y="1036777"/>
                    <a:pt x="1034911" y="804687"/>
                    <a:pt x="1034911" y="518389"/>
                  </a:cubicBezTo>
                  <a:cubicBezTo>
                    <a:pt x="1034911" y="232090"/>
                    <a:pt x="803238" y="0"/>
                    <a:pt x="517455" y="0"/>
                  </a:cubicBezTo>
                  <a:close/>
                </a:path>
              </a:pathLst>
            </a:custGeom>
            <a:solidFill>
              <a:srgbClr val="E1F14F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97023" y="78148"/>
              <a:ext cx="840865" cy="8614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19"/>
                </a:lnSpc>
              </a:pPr>
              <a:r>
                <a:rPr lang="en-US" sz="1599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1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5684364" y="6079984"/>
            <a:ext cx="491380" cy="492266"/>
            <a:chOff x="0" y="0"/>
            <a:chExt cx="1034911" cy="1036777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34911" cy="1036777"/>
            </a:xfrm>
            <a:custGeom>
              <a:avLst/>
              <a:gdLst/>
              <a:ahLst/>
              <a:cxnLst/>
              <a:rect r="r" b="b" t="t" l="l"/>
              <a:pathLst>
                <a:path h="1036777" w="1034911">
                  <a:moveTo>
                    <a:pt x="517455" y="0"/>
                  </a:moveTo>
                  <a:cubicBezTo>
                    <a:pt x="231673" y="0"/>
                    <a:pt x="0" y="232090"/>
                    <a:pt x="0" y="518389"/>
                  </a:cubicBezTo>
                  <a:cubicBezTo>
                    <a:pt x="0" y="804687"/>
                    <a:pt x="231673" y="1036777"/>
                    <a:pt x="517455" y="1036777"/>
                  </a:cubicBezTo>
                  <a:cubicBezTo>
                    <a:pt x="803238" y="1036777"/>
                    <a:pt x="1034911" y="804687"/>
                    <a:pt x="1034911" y="518389"/>
                  </a:cubicBezTo>
                  <a:cubicBezTo>
                    <a:pt x="1034911" y="232090"/>
                    <a:pt x="803238" y="0"/>
                    <a:pt x="517455" y="0"/>
                  </a:cubicBezTo>
                  <a:close/>
                </a:path>
              </a:pathLst>
            </a:custGeom>
            <a:solidFill>
              <a:srgbClr val="64E09A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97023" y="78148"/>
              <a:ext cx="840865" cy="8614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19"/>
                </a:lnSpc>
              </a:pPr>
              <a:r>
                <a:rPr lang="en-US" sz="1599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3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1117065" y="3432034"/>
            <a:ext cx="491380" cy="492266"/>
            <a:chOff x="0" y="0"/>
            <a:chExt cx="1034911" cy="1036777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034911" cy="1036777"/>
            </a:xfrm>
            <a:custGeom>
              <a:avLst/>
              <a:gdLst/>
              <a:ahLst/>
              <a:cxnLst/>
              <a:rect r="r" b="b" t="t" l="l"/>
              <a:pathLst>
                <a:path h="1036777" w="1034911">
                  <a:moveTo>
                    <a:pt x="517455" y="0"/>
                  </a:moveTo>
                  <a:cubicBezTo>
                    <a:pt x="231673" y="0"/>
                    <a:pt x="0" y="232090"/>
                    <a:pt x="0" y="518389"/>
                  </a:cubicBezTo>
                  <a:cubicBezTo>
                    <a:pt x="0" y="804687"/>
                    <a:pt x="231673" y="1036777"/>
                    <a:pt x="517455" y="1036777"/>
                  </a:cubicBezTo>
                  <a:cubicBezTo>
                    <a:pt x="803238" y="1036777"/>
                    <a:pt x="1034911" y="804687"/>
                    <a:pt x="1034911" y="518389"/>
                  </a:cubicBezTo>
                  <a:cubicBezTo>
                    <a:pt x="1034911" y="232090"/>
                    <a:pt x="803238" y="0"/>
                    <a:pt x="517455" y="0"/>
                  </a:cubicBezTo>
                  <a:close/>
                </a:path>
              </a:pathLst>
            </a:custGeom>
            <a:solidFill>
              <a:srgbClr val="9C88F6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97023" y="78148"/>
              <a:ext cx="840865" cy="8614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19"/>
                </a:lnSpc>
              </a:pPr>
              <a:r>
                <a:rPr lang="en-US" sz="1599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2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2128832" y="6079984"/>
            <a:ext cx="491380" cy="492266"/>
            <a:chOff x="0" y="0"/>
            <a:chExt cx="1034911" cy="1036777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034911" cy="1036777"/>
            </a:xfrm>
            <a:custGeom>
              <a:avLst/>
              <a:gdLst/>
              <a:ahLst/>
              <a:cxnLst/>
              <a:rect r="r" b="b" t="t" l="l"/>
              <a:pathLst>
                <a:path h="1036777" w="1034911">
                  <a:moveTo>
                    <a:pt x="517455" y="0"/>
                  </a:moveTo>
                  <a:cubicBezTo>
                    <a:pt x="231673" y="0"/>
                    <a:pt x="0" y="232090"/>
                    <a:pt x="0" y="518389"/>
                  </a:cubicBezTo>
                  <a:cubicBezTo>
                    <a:pt x="0" y="804687"/>
                    <a:pt x="231673" y="1036777"/>
                    <a:pt x="517455" y="1036777"/>
                  </a:cubicBezTo>
                  <a:cubicBezTo>
                    <a:pt x="803238" y="1036777"/>
                    <a:pt x="1034911" y="804687"/>
                    <a:pt x="1034911" y="518389"/>
                  </a:cubicBezTo>
                  <a:cubicBezTo>
                    <a:pt x="1034911" y="232090"/>
                    <a:pt x="803238" y="0"/>
                    <a:pt x="517455" y="0"/>
                  </a:cubicBezTo>
                  <a:close/>
                </a:path>
              </a:pathLst>
            </a:custGeom>
            <a:solidFill>
              <a:srgbClr val="DBE6F1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97023" y="78148"/>
              <a:ext cx="840865" cy="8614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19"/>
                </a:lnSpc>
              </a:pPr>
              <a:r>
                <a:rPr lang="en-US" sz="1599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4</a:t>
              </a:r>
            </a:p>
          </p:txBody>
        </p:sp>
      </p:grpSp>
      <p:sp>
        <p:nvSpPr>
          <p:cNvPr name="AutoShape 24" id="24"/>
          <p:cNvSpPr/>
          <p:nvPr/>
        </p:nvSpPr>
        <p:spPr>
          <a:xfrm>
            <a:off x="5201303" y="6153150"/>
            <a:ext cx="0" cy="885825"/>
          </a:xfrm>
          <a:prstGeom prst="line">
            <a:avLst/>
          </a:prstGeom>
          <a:ln cap="flat" w="38100">
            <a:solidFill>
              <a:srgbClr val="DBE6F1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5" id="25"/>
          <p:cNvSpPr/>
          <p:nvPr/>
        </p:nvSpPr>
        <p:spPr>
          <a:xfrm>
            <a:off x="6525412" y="3505200"/>
            <a:ext cx="0" cy="885825"/>
          </a:xfrm>
          <a:prstGeom prst="line">
            <a:avLst/>
          </a:prstGeom>
          <a:ln cap="flat" w="38100">
            <a:solidFill>
              <a:srgbClr val="E1F14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6" id="26"/>
          <p:cNvSpPr/>
          <p:nvPr/>
        </p:nvSpPr>
        <p:spPr>
          <a:xfrm>
            <a:off x="12145891" y="3481387"/>
            <a:ext cx="0" cy="885825"/>
          </a:xfrm>
          <a:prstGeom prst="line">
            <a:avLst/>
          </a:prstGeom>
          <a:ln cap="flat" w="38100">
            <a:solidFill>
              <a:srgbClr val="64E09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7" id="27"/>
          <p:cNvSpPr/>
          <p:nvPr/>
        </p:nvSpPr>
        <p:spPr>
          <a:xfrm>
            <a:off x="13155667" y="6129337"/>
            <a:ext cx="0" cy="885825"/>
          </a:xfrm>
          <a:prstGeom prst="line">
            <a:avLst/>
          </a:prstGeom>
          <a:ln cap="flat" w="38100">
            <a:solidFill>
              <a:srgbClr val="9C88F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28" id="28"/>
          <p:cNvSpPr/>
          <p:nvPr/>
        </p:nvSpPr>
        <p:spPr>
          <a:xfrm flipH="false" flipV="false" rot="0">
            <a:off x="8861773" y="6572250"/>
            <a:ext cx="571500" cy="571500"/>
          </a:xfrm>
          <a:custGeom>
            <a:avLst/>
            <a:gdLst/>
            <a:ahLst/>
            <a:cxnLst/>
            <a:rect r="r" b="b" t="t" l="l"/>
            <a:pathLst>
              <a:path h="571500" w="571500">
                <a:moveTo>
                  <a:pt x="0" y="0"/>
                </a:moveTo>
                <a:lnTo>
                  <a:pt x="571500" y="0"/>
                </a:lnTo>
                <a:lnTo>
                  <a:pt x="571500" y="571500"/>
                </a:lnTo>
                <a:lnTo>
                  <a:pt x="0" y="5715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10234253" y="7420924"/>
            <a:ext cx="685800" cy="685800"/>
          </a:xfrm>
          <a:custGeom>
            <a:avLst/>
            <a:gdLst/>
            <a:ahLst/>
            <a:cxnLst/>
            <a:rect r="r" b="b" t="t" l="l"/>
            <a:pathLst>
              <a:path h="685800" w="685800">
                <a:moveTo>
                  <a:pt x="0" y="0"/>
                </a:moveTo>
                <a:lnTo>
                  <a:pt x="685800" y="0"/>
                </a:lnTo>
                <a:lnTo>
                  <a:pt x="685800" y="685800"/>
                </a:lnTo>
                <a:lnTo>
                  <a:pt x="0" y="685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7247382" y="7420924"/>
            <a:ext cx="685800" cy="685800"/>
          </a:xfrm>
          <a:custGeom>
            <a:avLst/>
            <a:gdLst/>
            <a:ahLst/>
            <a:cxnLst/>
            <a:rect r="r" b="b" t="t" l="l"/>
            <a:pathLst>
              <a:path h="685800" w="685800">
                <a:moveTo>
                  <a:pt x="0" y="0"/>
                </a:moveTo>
                <a:lnTo>
                  <a:pt x="685800" y="0"/>
                </a:lnTo>
                <a:lnTo>
                  <a:pt x="685800" y="685800"/>
                </a:lnTo>
                <a:lnTo>
                  <a:pt x="0" y="685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0">
            <a:off x="8861773" y="4833938"/>
            <a:ext cx="619125" cy="619125"/>
          </a:xfrm>
          <a:custGeom>
            <a:avLst/>
            <a:gdLst/>
            <a:ahLst/>
            <a:cxnLst/>
            <a:rect r="r" b="b" t="t" l="l"/>
            <a:pathLst>
              <a:path h="619125" w="619125">
                <a:moveTo>
                  <a:pt x="0" y="0"/>
                </a:moveTo>
                <a:lnTo>
                  <a:pt x="619125" y="0"/>
                </a:lnTo>
                <a:lnTo>
                  <a:pt x="619125" y="619124"/>
                </a:lnTo>
                <a:lnTo>
                  <a:pt x="0" y="61912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477817" y="866775"/>
            <a:ext cx="15315600" cy="742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59"/>
              </a:lnSpc>
            </a:pPr>
            <a:r>
              <a:rPr lang="en-US" sz="48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Victory Summit Pyramid - 4 Stages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8446681" y="7662382"/>
            <a:ext cx="11150187" cy="1672118"/>
            <a:chOff x="0" y="0"/>
            <a:chExt cx="2218219" cy="33265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218219" cy="332651"/>
            </a:xfrm>
            <a:custGeom>
              <a:avLst/>
              <a:gdLst/>
              <a:ahLst/>
              <a:cxnLst/>
              <a:rect r="r" b="b" t="t" l="l"/>
              <a:pathLst>
                <a:path h="332651" w="2218219">
                  <a:moveTo>
                    <a:pt x="2015019" y="0"/>
                  </a:moveTo>
                  <a:lnTo>
                    <a:pt x="0" y="0"/>
                  </a:lnTo>
                  <a:lnTo>
                    <a:pt x="203200" y="332651"/>
                  </a:lnTo>
                  <a:lnTo>
                    <a:pt x="2218219" y="332651"/>
                  </a:lnTo>
                  <a:lnTo>
                    <a:pt x="2015019" y="0"/>
                  </a:lnTo>
                  <a:close/>
                </a:path>
              </a:pathLst>
            </a:custGeom>
            <a:solidFill>
              <a:srgbClr val="9C88F6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101600" y="-19050"/>
              <a:ext cx="2015019" cy="3517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39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952500" y="2667000"/>
            <a:ext cx="7798246" cy="6667500"/>
          </a:xfrm>
          <a:custGeom>
            <a:avLst/>
            <a:gdLst/>
            <a:ahLst/>
            <a:cxnLst/>
            <a:rect r="r" b="b" t="t" l="l"/>
            <a:pathLst>
              <a:path h="6667500" w="7798246">
                <a:moveTo>
                  <a:pt x="0" y="0"/>
                </a:moveTo>
                <a:lnTo>
                  <a:pt x="7798246" y="0"/>
                </a:lnTo>
                <a:lnTo>
                  <a:pt x="7798246" y="6667500"/>
                </a:lnTo>
                <a:lnTo>
                  <a:pt x="0" y="66675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5371246" y="2667000"/>
            <a:ext cx="14225623" cy="1632845"/>
            <a:chOff x="0" y="0"/>
            <a:chExt cx="2898114" cy="33265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898114" cy="332651"/>
            </a:xfrm>
            <a:custGeom>
              <a:avLst/>
              <a:gdLst/>
              <a:ahLst/>
              <a:cxnLst/>
              <a:rect r="r" b="b" t="t" l="l"/>
              <a:pathLst>
                <a:path h="332651" w="2898114">
                  <a:moveTo>
                    <a:pt x="2694914" y="0"/>
                  </a:moveTo>
                  <a:lnTo>
                    <a:pt x="0" y="0"/>
                  </a:lnTo>
                  <a:lnTo>
                    <a:pt x="203200" y="332651"/>
                  </a:lnTo>
                  <a:lnTo>
                    <a:pt x="2898114" y="332651"/>
                  </a:lnTo>
                  <a:lnTo>
                    <a:pt x="2694914" y="0"/>
                  </a:lnTo>
                  <a:close/>
                </a:path>
              </a:pathLst>
            </a:custGeom>
            <a:solidFill>
              <a:srgbClr val="E1F14F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101600" y="-19050"/>
              <a:ext cx="2694914" cy="3517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39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6372225" y="4288013"/>
            <a:ext cx="13224644" cy="1717806"/>
            <a:chOff x="0" y="0"/>
            <a:chExt cx="2560938" cy="33265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560938" cy="332651"/>
            </a:xfrm>
            <a:custGeom>
              <a:avLst/>
              <a:gdLst/>
              <a:ahLst/>
              <a:cxnLst/>
              <a:rect r="r" b="b" t="t" l="l"/>
              <a:pathLst>
                <a:path h="332651" w="2560938">
                  <a:moveTo>
                    <a:pt x="2357738" y="0"/>
                  </a:moveTo>
                  <a:lnTo>
                    <a:pt x="0" y="0"/>
                  </a:lnTo>
                  <a:lnTo>
                    <a:pt x="203200" y="332651"/>
                  </a:lnTo>
                  <a:lnTo>
                    <a:pt x="2560938" y="332651"/>
                  </a:lnTo>
                  <a:lnTo>
                    <a:pt x="2357738" y="0"/>
                  </a:lnTo>
                  <a:close/>
                </a:path>
              </a:pathLst>
            </a:custGeom>
            <a:solidFill>
              <a:srgbClr val="64E09A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101600" y="-19050"/>
              <a:ext cx="2357738" cy="3517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39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7429161" y="6001075"/>
            <a:ext cx="12167708" cy="1669662"/>
            <a:chOff x="0" y="0"/>
            <a:chExt cx="2442747" cy="335196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442747" cy="335196"/>
            </a:xfrm>
            <a:custGeom>
              <a:avLst/>
              <a:gdLst/>
              <a:ahLst/>
              <a:cxnLst/>
              <a:rect r="r" b="b" t="t" l="l"/>
              <a:pathLst>
                <a:path h="335196" w="2442747">
                  <a:moveTo>
                    <a:pt x="2239547" y="0"/>
                  </a:moveTo>
                  <a:lnTo>
                    <a:pt x="0" y="0"/>
                  </a:lnTo>
                  <a:lnTo>
                    <a:pt x="203200" y="335196"/>
                  </a:lnTo>
                  <a:lnTo>
                    <a:pt x="2442747" y="335196"/>
                  </a:lnTo>
                  <a:lnTo>
                    <a:pt x="2239547" y="0"/>
                  </a:lnTo>
                  <a:close/>
                </a:path>
              </a:pathLst>
            </a:custGeom>
            <a:solidFill>
              <a:srgbClr val="DBE6F1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101600" y="-19050"/>
              <a:ext cx="2239547" cy="3542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399"/>
                </a:lnSpc>
              </a:pP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4651598" y="3361467"/>
            <a:ext cx="400050" cy="533400"/>
          </a:xfrm>
          <a:custGeom>
            <a:avLst/>
            <a:gdLst/>
            <a:ahLst/>
            <a:cxnLst/>
            <a:rect r="r" b="b" t="t" l="l"/>
            <a:pathLst>
              <a:path h="533400" w="400050">
                <a:moveTo>
                  <a:pt x="0" y="0"/>
                </a:moveTo>
                <a:lnTo>
                  <a:pt x="400050" y="0"/>
                </a:lnTo>
                <a:lnTo>
                  <a:pt x="400050" y="533400"/>
                </a:lnTo>
                <a:lnTo>
                  <a:pt x="0" y="5334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4565873" y="4861165"/>
            <a:ext cx="571500" cy="571500"/>
          </a:xfrm>
          <a:custGeom>
            <a:avLst/>
            <a:gdLst/>
            <a:ahLst/>
            <a:cxnLst/>
            <a:rect r="r" b="b" t="t" l="l"/>
            <a:pathLst>
              <a:path h="571500" w="571500">
                <a:moveTo>
                  <a:pt x="0" y="0"/>
                </a:moveTo>
                <a:lnTo>
                  <a:pt x="571500" y="0"/>
                </a:lnTo>
                <a:lnTo>
                  <a:pt x="571500" y="571500"/>
                </a:lnTo>
                <a:lnTo>
                  <a:pt x="0" y="5715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4542060" y="6526344"/>
            <a:ext cx="619125" cy="619125"/>
          </a:xfrm>
          <a:custGeom>
            <a:avLst/>
            <a:gdLst/>
            <a:ahLst/>
            <a:cxnLst/>
            <a:rect r="r" b="b" t="t" l="l"/>
            <a:pathLst>
              <a:path h="619125" w="619125">
                <a:moveTo>
                  <a:pt x="0" y="0"/>
                </a:moveTo>
                <a:lnTo>
                  <a:pt x="619125" y="0"/>
                </a:lnTo>
                <a:lnTo>
                  <a:pt x="619125" y="619125"/>
                </a:lnTo>
                <a:lnTo>
                  <a:pt x="0" y="61912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4546204" y="8193022"/>
            <a:ext cx="610838" cy="610838"/>
          </a:xfrm>
          <a:custGeom>
            <a:avLst/>
            <a:gdLst/>
            <a:ahLst/>
            <a:cxnLst/>
            <a:rect r="r" b="b" t="t" l="l"/>
            <a:pathLst>
              <a:path h="610838" w="610838">
                <a:moveTo>
                  <a:pt x="0" y="0"/>
                </a:moveTo>
                <a:lnTo>
                  <a:pt x="610838" y="0"/>
                </a:lnTo>
                <a:lnTo>
                  <a:pt x="610838" y="610838"/>
                </a:lnTo>
                <a:lnTo>
                  <a:pt x="0" y="61083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10329843" y="3195768"/>
            <a:ext cx="4189528" cy="518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99"/>
              </a:lnSpc>
            </a:pPr>
            <a:r>
              <a:rPr lang="en-US" sz="139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Build on the Foundation Triumph, discovering success at its very core. 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1167891" y="4867440"/>
            <a:ext cx="4189528" cy="518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99"/>
              </a:lnSpc>
            </a:pPr>
            <a:r>
              <a:rPr lang="en-US" sz="139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Elevate with Strategic Elevation, reaching new heights in visionary plans. 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2005939" y="6539113"/>
            <a:ext cx="4239939" cy="518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99"/>
              </a:lnSpc>
            </a:pPr>
            <a:r>
              <a:rPr lang="en-US" sz="139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Master Execution, seamlessly turning strategies into triumphant achievements. 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2894398" y="8210786"/>
            <a:ext cx="4585436" cy="518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99"/>
              </a:lnSpc>
            </a:pPr>
            <a:r>
              <a:rPr lang="en-US" sz="13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Stand at the Pinnacle of Victory, celebrating strategic triumphs and excellence. 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6827846" y="3292923"/>
            <a:ext cx="3218621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Foundation Triumph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7926935" y="4964596"/>
            <a:ext cx="2999170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Strategic Elevation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8806574" y="6636268"/>
            <a:ext cx="2959270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Execution Mastery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9646312" y="8307941"/>
            <a:ext cx="2959270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Pinnacle of Victory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036812" y="866775"/>
            <a:ext cx="14207136" cy="742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59"/>
              </a:lnSpc>
            </a:pPr>
            <a:r>
              <a:rPr lang="en-US" sz="48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Visionary Voyage Odyssey - 5 Stages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295562" y="8143875"/>
            <a:ext cx="2495862" cy="8134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400">
                <a:solidFill>
                  <a:srgbClr val="000000">
                    <a:alpha val="64706"/>
                  </a:srgbClr>
                </a:solidFill>
                <a:latin typeface="Arimo"/>
                <a:ea typeface="Arimo"/>
                <a:cs typeface="Arimo"/>
                <a:sym typeface="Arimo"/>
              </a:rPr>
              <a:t>Ignite the Spark of Discovery, illuminating pathways to visionary breakthroughs. 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295562" y="7691437"/>
            <a:ext cx="2613352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39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Spark of Discovery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4610676" y="8143875"/>
            <a:ext cx="2495862" cy="8134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400">
                <a:solidFill>
                  <a:srgbClr val="000000">
                    <a:alpha val="64706"/>
                  </a:srgbClr>
                </a:solidFill>
                <a:latin typeface="Arimo"/>
                <a:ea typeface="Arimo"/>
                <a:cs typeface="Arimo"/>
                <a:sym typeface="Arimo"/>
              </a:rPr>
              <a:t>Craft a Blueprint Brilliance, outlining the future with strategic ingenuity. 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4610676" y="7691437"/>
            <a:ext cx="2680035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39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Blueprint Brilliance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925791" y="8143875"/>
            <a:ext cx="2753069" cy="8134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400">
                <a:solidFill>
                  <a:srgbClr val="000000">
                    <a:alpha val="64706"/>
                  </a:srgbClr>
                </a:solidFill>
                <a:latin typeface="Arimo"/>
                <a:ea typeface="Arimo"/>
                <a:cs typeface="Arimo"/>
                <a:sym typeface="Arimo"/>
              </a:rPr>
              <a:t>Execute with Precision, transforming visionary concepts into tangible success stories.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925791" y="7691437"/>
            <a:ext cx="2994399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39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Precision Execution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1240905" y="8143875"/>
            <a:ext cx="2495862" cy="8134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400">
                <a:solidFill>
                  <a:srgbClr val="000000">
                    <a:alpha val="64706"/>
                  </a:srgbClr>
                </a:solidFill>
                <a:latin typeface="Arimo"/>
                <a:ea typeface="Arimo"/>
                <a:cs typeface="Arimo"/>
                <a:sym typeface="Arimo"/>
              </a:rPr>
              <a:t>Ascend the Performance Peaks, surveying key metrics from the strategic summit.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1240905" y="7691437"/>
            <a:ext cx="2727666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39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Performance Peaks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4556019" y="8143875"/>
            <a:ext cx="2657807" cy="8134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400">
                <a:solidFill>
                  <a:srgbClr val="000000">
                    <a:alpha val="64706"/>
                  </a:srgbClr>
                </a:solidFill>
                <a:latin typeface="Arimo"/>
                <a:ea typeface="Arimo"/>
                <a:cs typeface="Arimo"/>
                <a:sym typeface="Arimo"/>
              </a:rPr>
              <a:t>Reach the Zenith of Innovation, where groundbreaking ideas flourish in the rarefied air.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4556020" y="7691437"/>
            <a:ext cx="2794349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39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Zenith of Innovation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2181443" y="2396821"/>
            <a:ext cx="14577917" cy="4537377"/>
          </a:xfrm>
          <a:custGeom>
            <a:avLst/>
            <a:gdLst/>
            <a:ahLst/>
            <a:cxnLst/>
            <a:rect r="r" b="b" t="t" l="l"/>
            <a:pathLst>
              <a:path h="4537377" w="14577917">
                <a:moveTo>
                  <a:pt x="0" y="0"/>
                </a:moveTo>
                <a:lnTo>
                  <a:pt x="14577917" y="0"/>
                </a:lnTo>
                <a:lnTo>
                  <a:pt x="14577917" y="4537377"/>
                </a:lnTo>
                <a:lnTo>
                  <a:pt x="0" y="45373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4" id="14"/>
          <p:cNvGrpSpPr/>
          <p:nvPr/>
        </p:nvGrpSpPr>
        <p:grpSpPr>
          <a:xfrm rot="0">
            <a:off x="2129325" y="4381500"/>
            <a:ext cx="828336" cy="828336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6324F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499"/>
                </a:lnSpc>
              </a:pP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0">
            <a:off x="2335178" y="4587353"/>
            <a:ext cx="416631" cy="416631"/>
          </a:xfrm>
          <a:custGeom>
            <a:avLst/>
            <a:gdLst/>
            <a:ahLst/>
            <a:cxnLst/>
            <a:rect r="r" b="b" t="t" l="l"/>
            <a:pathLst>
              <a:path h="416631" w="416631">
                <a:moveTo>
                  <a:pt x="0" y="0"/>
                </a:moveTo>
                <a:lnTo>
                  <a:pt x="416630" y="0"/>
                </a:lnTo>
                <a:lnTo>
                  <a:pt x="416630" y="416631"/>
                </a:lnTo>
                <a:lnTo>
                  <a:pt x="0" y="41663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8" id="18"/>
          <p:cNvGrpSpPr/>
          <p:nvPr/>
        </p:nvGrpSpPr>
        <p:grpSpPr>
          <a:xfrm rot="0">
            <a:off x="4774541" y="3863700"/>
            <a:ext cx="817131" cy="817131"/>
            <a:chOff x="0" y="0"/>
            <a:chExt cx="812800" cy="8128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9C88F6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499"/>
                </a:lnSpc>
              </a:pPr>
            </a:p>
          </p:txBody>
        </p:sp>
      </p:grpSp>
      <p:sp>
        <p:nvSpPr>
          <p:cNvPr name="Freeform 21" id="21"/>
          <p:cNvSpPr/>
          <p:nvPr/>
        </p:nvSpPr>
        <p:spPr>
          <a:xfrm flipH="false" flipV="false" rot="0">
            <a:off x="4973276" y="4062435"/>
            <a:ext cx="419661" cy="419661"/>
          </a:xfrm>
          <a:custGeom>
            <a:avLst/>
            <a:gdLst/>
            <a:ahLst/>
            <a:cxnLst/>
            <a:rect r="r" b="b" t="t" l="l"/>
            <a:pathLst>
              <a:path h="419661" w="419661">
                <a:moveTo>
                  <a:pt x="0" y="0"/>
                </a:moveTo>
                <a:lnTo>
                  <a:pt x="419661" y="0"/>
                </a:lnTo>
                <a:lnTo>
                  <a:pt x="419661" y="419661"/>
                </a:lnTo>
                <a:lnTo>
                  <a:pt x="0" y="41966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2" id="22"/>
          <p:cNvGrpSpPr/>
          <p:nvPr/>
        </p:nvGrpSpPr>
        <p:grpSpPr>
          <a:xfrm rot="0">
            <a:off x="7408552" y="3324478"/>
            <a:ext cx="838553" cy="838553"/>
            <a:chOff x="0" y="0"/>
            <a:chExt cx="812800" cy="8128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BE6F1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499"/>
                </a:lnSpc>
              </a:pPr>
            </a:p>
          </p:txBody>
        </p:sp>
      </p:grpSp>
      <p:sp>
        <p:nvSpPr>
          <p:cNvPr name="Freeform 25" id="25"/>
          <p:cNvSpPr/>
          <p:nvPr/>
        </p:nvSpPr>
        <p:spPr>
          <a:xfrm flipH="false" flipV="false" rot="0">
            <a:off x="7605940" y="3521866"/>
            <a:ext cx="443776" cy="443776"/>
          </a:xfrm>
          <a:custGeom>
            <a:avLst/>
            <a:gdLst/>
            <a:ahLst/>
            <a:cxnLst/>
            <a:rect r="r" b="b" t="t" l="l"/>
            <a:pathLst>
              <a:path h="443776" w="443776">
                <a:moveTo>
                  <a:pt x="0" y="0"/>
                </a:moveTo>
                <a:lnTo>
                  <a:pt x="443776" y="0"/>
                </a:lnTo>
                <a:lnTo>
                  <a:pt x="443776" y="443776"/>
                </a:lnTo>
                <a:lnTo>
                  <a:pt x="0" y="44377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6" id="26"/>
          <p:cNvGrpSpPr/>
          <p:nvPr/>
        </p:nvGrpSpPr>
        <p:grpSpPr>
          <a:xfrm rot="0">
            <a:off x="10063984" y="2786382"/>
            <a:ext cx="837426" cy="837426"/>
            <a:chOff x="0" y="0"/>
            <a:chExt cx="812800" cy="8128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4E09A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499"/>
                </a:lnSpc>
              </a:pPr>
            </a:p>
          </p:txBody>
        </p:sp>
      </p:grpSp>
      <p:sp>
        <p:nvSpPr>
          <p:cNvPr name="Freeform 29" id="29"/>
          <p:cNvSpPr/>
          <p:nvPr/>
        </p:nvSpPr>
        <p:spPr>
          <a:xfrm flipH="false" flipV="false" rot="0">
            <a:off x="10238067" y="2960465"/>
            <a:ext cx="489262" cy="489262"/>
          </a:xfrm>
          <a:custGeom>
            <a:avLst/>
            <a:gdLst/>
            <a:ahLst/>
            <a:cxnLst/>
            <a:rect r="r" b="b" t="t" l="l"/>
            <a:pathLst>
              <a:path h="489262" w="489262">
                <a:moveTo>
                  <a:pt x="0" y="0"/>
                </a:moveTo>
                <a:lnTo>
                  <a:pt x="489261" y="0"/>
                </a:lnTo>
                <a:lnTo>
                  <a:pt x="489261" y="489261"/>
                </a:lnTo>
                <a:lnTo>
                  <a:pt x="0" y="48926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0" id="30"/>
          <p:cNvGrpSpPr/>
          <p:nvPr/>
        </p:nvGrpSpPr>
        <p:grpSpPr>
          <a:xfrm rot="0">
            <a:off x="12718291" y="2248287"/>
            <a:ext cx="837426" cy="837426"/>
            <a:chOff x="0" y="0"/>
            <a:chExt cx="812800" cy="8128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1F14F"/>
            </a:solidFill>
          </p:spPr>
        </p:sp>
        <p:sp>
          <p:nvSpPr>
            <p:cNvPr name="TextBox 32" id="32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499"/>
                </a:lnSpc>
              </a:pPr>
            </a:p>
          </p:txBody>
        </p:sp>
      </p:grpSp>
      <p:sp>
        <p:nvSpPr>
          <p:cNvPr name="Freeform 33" id="33"/>
          <p:cNvSpPr/>
          <p:nvPr/>
        </p:nvSpPr>
        <p:spPr>
          <a:xfrm flipH="false" flipV="false" rot="0">
            <a:off x="12958802" y="2488798"/>
            <a:ext cx="356404" cy="356404"/>
          </a:xfrm>
          <a:custGeom>
            <a:avLst/>
            <a:gdLst/>
            <a:ahLst/>
            <a:cxnLst/>
            <a:rect r="r" b="b" t="t" l="l"/>
            <a:pathLst>
              <a:path h="356404" w="356404">
                <a:moveTo>
                  <a:pt x="0" y="0"/>
                </a:moveTo>
                <a:lnTo>
                  <a:pt x="356404" y="0"/>
                </a:lnTo>
                <a:lnTo>
                  <a:pt x="356404" y="356404"/>
                </a:lnTo>
                <a:lnTo>
                  <a:pt x="0" y="356404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34" id="34"/>
          <p:cNvSpPr/>
          <p:nvPr/>
        </p:nvSpPr>
        <p:spPr>
          <a:xfrm>
            <a:off x="1295562" y="7572373"/>
            <a:ext cx="885881" cy="0"/>
          </a:xfrm>
          <a:prstGeom prst="line">
            <a:avLst/>
          </a:prstGeom>
          <a:ln cap="flat" w="38100">
            <a:solidFill>
              <a:srgbClr val="16324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5" id="35"/>
          <p:cNvSpPr/>
          <p:nvPr/>
        </p:nvSpPr>
        <p:spPr>
          <a:xfrm>
            <a:off x="4610732" y="7572373"/>
            <a:ext cx="885881" cy="0"/>
          </a:xfrm>
          <a:prstGeom prst="line">
            <a:avLst/>
          </a:prstGeom>
          <a:ln cap="flat" w="38100">
            <a:solidFill>
              <a:srgbClr val="9C88F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6" id="36"/>
          <p:cNvSpPr/>
          <p:nvPr/>
        </p:nvSpPr>
        <p:spPr>
          <a:xfrm>
            <a:off x="7925901" y="7572373"/>
            <a:ext cx="885881" cy="0"/>
          </a:xfrm>
          <a:prstGeom prst="line">
            <a:avLst/>
          </a:prstGeom>
          <a:ln cap="flat" w="38100">
            <a:solidFill>
              <a:srgbClr val="DBE6F1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7" id="37"/>
          <p:cNvSpPr/>
          <p:nvPr/>
        </p:nvSpPr>
        <p:spPr>
          <a:xfrm>
            <a:off x="11241071" y="7572373"/>
            <a:ext cx="885881" cy="0"/>
          </a:xfrm>
          <a:prstGeom prst="line">
            <a:avLst/>
          </a:prstGeom>
          <a:ln cap="flat" w="38100">
            <a:solidFill>
              <a:srgbClr val="64E09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8" id="38"/>
          <p:cNvSpPr/>
          <p:nvPr/>
        </p:nvSpPr>
        <p:spPr>
          <a:xfrm>
            <a:off x="14556240" y="7572373"/>
            <a:ext cx="885881" cy="0"/>
          </a:xfrm>
          <a:prstGeom prst="line">
            <a:avLst/>
          </a:prstGeom>
          <a:ln cap="flat" w="38100">
            <a:solidFill>
              <a:srgbClr val="E1F14F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888833" y="866775"/>
            <a:ext cx="14503093" cy="742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59"/>
              </a:lnSpc>
            </a:pPr>
            <a:r>
              <a:rPr lang="en-US" sz="48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Visionary Voyage Odyssey - 5 Stages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818117" y="2718435"/>
            <a:ext cx="8064000" cy="6400800"/>
          </a:xfrm>
          <a:custGeom>
            <a:avLst/>
            <a:gdLst/>
            <a:ahLst/>
            <a:cxnLst/>
            <a:rect r="r" b="b" t="t" l="l"/>
            <a:pathLst>
              <a:path h="6400800" w="8064000">
                <a:moveTo>
                  <a:pt x="0" y="0"/>
                </a:moveTo>
                <a:lnTo>
                  <a:pt x="8064000" y="0"/>
                </a:lnTo>
                <a:lnTo>
                  <a:pt x="8064000" y="6400800"/>
                </a:lnTo>
                <a:lnTo>
                  <a:pt x="0" y="6400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5366277" y="2733097"/>
            <a:ext cx="1026327" cy="1026327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1F14F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9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6392604" y="3975558"/>
            <a:ext cx="1026327" cy="1026327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4E09A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9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7201936" y="5265715"/>
            <a:ext cx="1026327" cy="1026327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BE6F1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9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8155321" y="6563795"/>
            <a:ext cx="1026327" cy="1026327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9C88F6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99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8995225" y="7863261"/>
            <a:ext cx="1026327" cy="1026327"/>
            <a:chOff x="0" y="0"/>
            <a:chExt cx="812800" cy="812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6324F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99"/>
                </a:lnSpc>
              </a:pPr>
            </a:p>
          </p:txBody>
        </p:sp>
      </p:grpSp>
      <p:sp>
        <p:nvSpPr>
          <p:cNvPr name="Freeform 19" id="19"/>
          <p:cNvSpPr/>
          <p:nvPr/>
        </p:nvSpPr>
        <p:spPr>
          <a:xfrm flipH="false" flipV="false" rot="0">
            <a:off x="9261059" y="8129095"/>
            <a:ext cx="494659" cy="494659"/>
          </a:xfrm>
          <a:custGeom>
            <a:avLst/>
            <a:gdLst/>
            <a:ahLst/>
            <a:cxnLst/>
            <a:rect r="r" b="b" t="t" l="l"/>
            <a:pathLst>
              <a:path h="494659" w="494659">
                <a:moveTo>
                  <a:pt x="0" y="0"/>
                </a:moveTo>
                <a:lnTo>
                  <a:pt x="494659" y="0"/>
                </a:lnTo>
                <a:lnTo>
                  <a:pt x="494659" y="494659"/>
                </a:lnTo>
                <a:lnTo>
                  <a:pt x="0" y="49465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6665377" y="4248331"/>
            <a:ext cx="480781" cy="480781"/>
          </a:xfrm>
          <a:custGeom>
            <a:avLst/>
            <a:gdLst/>
            <a:ahLst/>
            <a:cxnLst/>
            <a:rect r="r" b="b" t="t" l="l"/>
            <a:pathLst>
              <a:path h="480781" w="480781">
                <a:moveTo>
                  <a:pt x="0" y="0"/>
                </a:moveTo>
                <a:lnTo>
                  <a:pt x="480781" y="0"/>
                </a:lnTo>
                <a:lnTo>
                  <a:pt x="480781" y="480781"/>
                </a:lnTo>
                <a:lnTo>
                  <a:pt x="0" y="48078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8411903" y="6820377"/>
            <a:ext cx="513164" cy="513164"/>
          </a:xfrm>
          <a:custGeom>
            <a:avLst/>
            <a:gdLst/>
            <a:ahLst/>
            <a:cxnLst/>
            <a:rect r="r" b="b" t="t" l="l"/>
            <a:pathLst>
              <a:path h="513164" w="513164">
                <a:moveTo>
                  <a:pt x="0" y="0"/>
                </a:moveTo>
                <a:lnTo>
                  <a:pt x="513163" y="0"/>
                </a:lnTo>
                <a:lnTo>
                  <a:pt x="513163" y="513164"/>
                </a:lnTo>
                <a:lnTo>
                  <a:pt x="0" y="51316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7458518" y="5522297"/>
            <a:ext cx="513164" cy="513164"/>
          </a:xfrm>
          <a:custGeom>
            <a:avLst/>
            <a:gdLst/>
            <a:ahLst/>
            <a:cxnLst/>
            <a:rect r="r" b="b" t="t" l="l"/>
            <a:pathLst>
              <a:path h="513164" w="513164">
                <a:moveTo>
                  <a:pt x="0" y="0"/>
                </a:moveTo>
                <a:lnTo>
                  <a:pt x="513164" y="0"/>
                </a:lnTo>
                <a:lnTo>
                  <a:pt x="513164" y="513163"/>
                </a:lnTo>
                <a:lnTo>
                  <a:pt x="0" y="51316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5638856" y="3005676"/>
            <a:ext cx="481168" cy="481168"/>
          </a:xfrm>
          <a:custGeom>
            <a:avLst/>
            <a:gdLst/>
            <a:ahLst/>
            <a:cxnLst/>
            <a:rect r="r" b="b" t="t" l="l"/>
            <a:pathLst>
              <a:path h="481168" w="481168">
                <a:moveTo>
                  <a:pt x="0" y="0"/>
                </a:moveTo>
                <a:lnTo>
                  <a:pt x="481168" y="0"/>
                </a:lnTo>
                <a:lnTo>
                  <a:pt x="481168" y="481168"/>
                </a:lnTo>
                <a:lnTo>
                  <a:pt x="0" y="481168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4" id="24"/>
          <p:cNvGrpSpPr/>
          <p:nvPr/>
        </p:nvGrpSpPr>
        <p:grpSpPr>
          <a:xfrm rot="0">
            <a:off x="11466002" y="2566987"/>
            <a:ext cx="529536" cy="533400"/>
            <a:chOff x="0" y="0"/>
            <a:chExt cx="887426" cy="893901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887426" cy="893901"/>
            </a:xfrm>
            <a:custGeom>
              <a:avLst/>
              <a:gdLst/>
              <a:ahLst/>
              <a:cxnLst/>
              <a:rect r="r" b="b" t="t" l="l"/>
              <a:pathLst>
                <a:path h="893901" w="887426">
                  <a:moveTo>
                    <a:pt x="443713" y="0"/>
                  </a:moveTo>
                  <a:cubicBezTo>
                    <a:pt x="198657" y="0"/>
                    <a:pt x="0" y="200107"/>
                    <a:pt x="0" y="446951"/>
                  </a:cubicBezTo>
                  <a:cubicBezTo>
                    <a:pt x="0" y="693795"/>
                    <a:pt x="198657" y="893901"/>
                    <a:pt x="443713" y="893901"/>
                  </a:cubicBezTo>
                  <a:cubicBezTo>
                    <a:pt x="688769" y="893901"/>
                    <a:pt x="887426" y="693795"/>
                    <a:pt x="887426" y="446951"/>
                  </a:cubicBezTo>
                  <a:cubicBezTo>
                    <a:pt x="887426" y="200107"/>
                    <a:pt x="688769" y="0"/>
                    <a:pt x="443713" y="0"/>
                  </a:cubicBezTo>
                  <a:close/>
                </a:path>
              </a:pathLst>
            </a:custGeom>
            <a:solidFill>
              <a:srgbClr val="16324F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83196" y="64753"/>
              <a:ext cx="721034" cy="7453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19"/>
                </a:lnSpc>
              </a:pPr>
              <a:r>
                <a:rPr lang="en-US" sz="1599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1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1483166" y="3976687"/>
            <a:ext cx="495208" cy="498822"/>
            <a:chOff x="0" y="0"/>
            <a:chExt cx="887426" cy="893901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887426" cy="893901"/>
            </a:xfrm>
            <a:custGeom>
              <a:avLst/>
              <a:gdLst/>
              <a:ahLst/>
              <a:cxnLst/>
              <a:rect r="r" b="b" t="t" l="l"/>
              <a:pathLst>
                <a:path h="893901" w="887426">
                  <a:moveTo>
                    <a:pt x="443713" y="0"/>
                  </a:moveTo>
                  <a:cubicBezTo>
                    <a:pt x="198657" y="0"/>
                    <a:pt x="0" y="200107"/>
                    <a:pt x="0" y="446951"/>
                  </a:cubicBezTo>
                  <a:cubicBezTo>
                    <a:pt x="0" y="693795"/>
                    <a:pt x="198657" y="893901"/>
                    <a:pt x="443713" y="893901"/>
                  </a:cubicBezTo>
                  <a:cubicBezTo>
                    <a:pt x="688769" y="893901"/>
                    <a:pt x="887426" y="693795"/>
                    <a:pt x="887426" y="446951"/>
                  </a:cubicBezTo>
                  <a:cubicBezTo>
                    <a:pt x="887426" y="200107"/>
                    <a:pt x="688769" y="0"/>
                    <a:pt x="443713" y="0"/>
                  </a:cubicBezTo>
                  <a:close/>
                </a:path>
              </a:pathLst>
            </a:custGeom>
            <a:solidFill>
              <a:srgbClr val="9C88F6"/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83196" y="64753"/>
              <a:ext cx="721034" cy="7453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19"/>
                </a:lnSpc>
              </a:pPr>
              <a:r>
                <a:rPr lang="en-US" sz="1599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2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1464070" y="5386387"/>
            <a:ext cx="533400" cy="537292"/>
            <a:chOff x="0" y="0"/>
            <a:chExt cx="887426" cy="893901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887426" cy="893901"/>
            </a:xfrm>
            <a:custGeom>
              <a:avLst/>
              <a:gdLst/>
              <a:ahLst/>
              <a:cxnLst/>
              <a:rect r="r" b="b" t="t" l="l"/>
              <a:pathLst>
                <a:path h="893901" w="887426">
                  <a:moveTo>
                    <a:pt x="443713" y="0"/>
                  </a:moveTo>
                  <a:cubicBezTo>
                    <a:pt x="198657" y="0"/>
                    <a:pt x="0" y="200107"/>
                    <a:pt x="0" y="446951"/>
                  </a:cubicBezTo>
                  <a:cubicBezTo>
                    <a:pt x="0" y="693795"/>
                    <a:pt x="198657" y="893901"/>
                    <a:pt x="443713" y="893901"/>
                  </a:cubicBezTo>
                  <a:cubicBezTo>
                    <a:pt x="688769" y="893901"/>
                    <a:pt x="887426" y="693795"/>
                    <a:pt x="887426" y="446951"/>
                  </a:cubicBezTo>
                  <a:cubicBezTo>
                    <a:pt x="887426" y="200107"/>
                    <a:pt x="688769" y="0"/>
                    <a:pt x="443713" y="0"/>
                  </a:cubicBezTo>
                  <a:close/>
                </a:path>
              </a:pathLst>
            </a:custGeom>
            <a:solidFill>
              <a:srgbClr val="DBE6F1"/>
            </a:solidFill>
          </p:spPr>
        </p:sp>
        <p:sp>
          <p:nvSpPr>
            <p:cNvPr name="TextBox 32" id="32"/>
            <p:cNvSpPr txBox="true"/>
            <p:nvPr/>
          </p:nvSpPr>
          <p:spPr>
            <a:xfrm>
              <a:off x="83196" y="64753"/>
              <a:ext cx="721034" cy="7453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19"/>
                </a:lnSpc>
              </a:pPr>
              <a:r>
                <a:rPr lang="en-US" sz="1599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3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11464070" y="6796087"/>
            <a:ext cx="533400" cy="537292"/>
            <a:chOff x="0" y="0"/>
            <a:chExt cx="887426" cy="893901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887426" cy="893901"/>
            </a:xfrm>
            <a:custGeom>
              <a:avLst/>
              <a:gdLst/>
              <a:ahLst/>
              <a:cxnLst/>
              <a:rect r="r" b="b" t="t" l="l"/>
              <a:pathLst>
                <a:path h="893901" w="887426">
                  <a:moveTo>
                    <a:pt x="443713" y="0"/>
                  </a:moveTo>
                  <a:cubicBezTo>
                    <a:pt x="198657" y="0"/>
                    <a:pt x="0" y="200107"/>
                    <a:pt x="0" y="446951"/>
                  </a:cubicBezTo>
                  <a:cubicBezTo>
                    <a:pt x="0" y="693795"/>
                    <a:pt x="198657" y="893901"/>
                    <a:pt x="443713" y="893901"/>
                  </a:cubicBezTo>
                  <a:cubicBezTo>
                    <a:pt x="688769" y="893901"/>
                    <a:pt x="887426" y="693795"/>
                    <a:pt x="887426" y="446951"/>
                  </a:cubicBezTo>
                  <a:cubicBezTo>
                    <a:pt x="887426" y="200107"/>
                    <a:pt x="688769" y="0"/>
                    <a:pt x="443713" y="0"/>
                  </a:cubicBezTo>
                  <a:close/>
                </a:path>
              </a:pathLst>
            </a:custGeom>
            <a:solidFill>
              <a:srgbClr val="64E09A"/>
            </a:solidFill>
          </p:spPr>
        </p:sp>
        <p:sp>
          <p:nvSpPr>
            <p:cNvPr name="TextBox 35" id="35"/>
            <p:cNvSpPr txBox="true"/>
            <p:nvPr/>
          </p:nvSpPr>
          <p:spPr>
            <a:xfrm>
              <a:off x="83196" y="64753"/>
              <a:ext cx="721034" cy="7453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19"/>
                </a:lnSpc>
              </a:pPr>
              <a:r>
                <a:rPr lang="en-US" sz="1599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4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11464070" y="8205787"/>
            <a:ext cx="533400" cy="537292"/>
            <a:chOff x="0" y="0"/>
            <a:chExt cx="887426" cy="893901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887426" cy="893901"/>
            </a:xfrm>
            <a:custGeom>
              <a:avLst/>
              <a:gdLst/>
              <a:ahLst/>
              <a:cxnLst/>
              <a:rect r="r" b="b" t="t" l="l"/>
              <a:pathLst>
                <a:path h="893901" w="887426">
                  <a:moveTo>
                    <a:pt x="443713" y="0"/>
                  </a:moveTo>
                  <a:cubicBezTo>
                    <a:pt x="198657" y="0"/>
                    <a:pt x="0" y="200107"/>
                    <a:pt x="0" y="446951"/>
                  </a:cubicBezTo>
                  <a:cubicBezTo>
                    <a:pt x="0" y="693795"/>
                    <a:pt x="198657" y="893901"/>
                    <a:pt x="443713" y="893901"/>
                  </a:cubicBezTo>
                  <a:cubicBezTo>
                    <a:pt x="688769" y="893901"/>
                    <a:pt x="887426" y="693795"/>
                    <a:pt x="887426" y="446951"/>
                  </a:cubicBezTo>
                  <a:cubicBezTo>
                    <a:pt x="887426" y="200107"/>
                    <a:pt x="688769" y="0"/>
                    <a:pt x="443713" y="0"/>
                  </a:cubicBezTo>
                  <a:close/>
                </a:path>
              </a:pathLst>
            </a:custGeom>
            <a:solidFill>
              <a:srgbClr val="E1F14F"/>
            </a:solidFill>
          </p:spPr>
        </p:sp>
        <p:sp>
          <p:nvSpPr>
            <p:cNvPr name="TextBox 38" id="38"/>
            <p:cNvSpPr txBox="true"/>
            <p:nvPr/>
          </p:nvSpPr>
          <p:spPr>
            <a:xfrm>
              <a:off x="83196" y="64753"/>
              <a:ext cx="721034" cy="7453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19"/>
                </a:lnSpc>
              </a:pPr>
              <a:r>
                <a:rPr lang="en-US" sz="1599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5</a:t>
              </a:r>
            </a:p>
          </p:txBody>
        </p:sp>
      </p:grpSp>
      <p:sp>
        <p:nvSpPr>
          <p:cNvPr name="AutoShape 39" id="39"/>
          <p:cNvSpPr/>
          <p:nvPr/>
        </p:nvSpPr>
        <p:spPr>
          <a:xfrm flipH="true">
            <a:off x="12507888" y="2566987"/>
            <a:ext cx="0" cy="885825"/>
          </a:xfrm>
          <a:prstGeom prst="line">
            <a:avLst/>
          </a:prstGeom>
          <a:ln cap="flat" w="38100">
            <a:solidFill>
              <a:srgbClr val="16324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0" id="40"/>
          <p:cNvSpPr/>
          <p:nvPr/>
        </p:nvSpPr>
        <p:spPr>
          <a:xfrm flipH="true">
            <a:off x="12507888" y="3976687"/>
            <a:ext cx="0" cy="885825"/>
          </a:xfrm>
          <a:prstGeom prst="line">
            <a:avLst/>
          </a:prstGeom>
          <a:ln cap="flat" w="38100">
            <a:solidFill>
              <a:srgbClr val="9C88F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1" id="41"/>
          <p:cNvSpPr/>
          <p:nvPr/>
        </p:nvSpPr>
        <p:spPr>
          <a:xfrm>
            <a:off x="12507888" y="5386387"/>
            <a:ext cx="0" cy="885825"/>
          </a:xfrm>
          <a:prstGeom prst="line">
            <a:avLst/>
          </a:prstGeom>
          <a:ln cap="flat" w="38100">
            <a:solidFill>
              <a:srgbClr val="DBE6F1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2" id="42"/>
          <p:cNvSpPr/>
          <p:nvPr/>
        </p:nvSpPr>
        <p:spPr>
          <a:xfrm>
            <a:off x="12507888" y="6796087"/>
            <a:ext cx="0" cy="885825"/>
          </a:xfrm>
          <a:prstGeom prst="line">
            <a:avLst/>
          </a:prstGeom>
          <a:ln cap="flat" w="38100">
            <a:solidFill>
              <a:srgbClr val="64E09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3" id="43"/>
          <p:cNvSpPr/>
          <p:nvPr/>
        </p:nvSpPr>
        <p:spPr>
          <a:xfrm>
            <a:off x="12507888" y="8205787"/>
            <a:ext cx="0" cy="885825"/>
          </a:xfrm>
          <a:prstGeom prst="line">
            <a:avLst/>
          </a:prstGeom>
          <a:ln cap="flat" w="38100">
            <a:solidFill>
              <a:srgbClr val="E1F14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4" id="44"/>
          <p:cNvSpPr txBox="true"/>
          <p:nvPr/>
        </p:nvSpPr>
        <p:spPr>
          <a:xfrm rot="0">
            <a:off x="12907988" y="2933700"/>
            <a:ext cx="3362745" cy="5467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400">
                <a:solidFill>
                  <a:srgbClr val="000000">
                    <a:alpha val="64706"/>
                  </a:srgbClr>
                </a:solidFill>
                <a:latin typeface="Arimo"/>
                <a:ea typeface="Arimo"/>
                <a:cs typeface="Arimo"/>
                <a:sym typeface="Arimo"/>
              </a:rPr>
              <a:t>Ignite the Ideation Spark, where creative flames illuminate paths to innovation. 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2907988" y="2557462"/>
            <a:ext cx="3154055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39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Ideation Spark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2907988" y="4343400"/>
            <a:ext cx="3648531" cy="5467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400">
                <a:solidFill>
                  <a:srgbClr val="000000">
                    <a:alpha val="64706"/>
                  </a:srgbClr>
                </a:solidFill>
                <a:latin typeface="Arimo"/>
                <a:ea typeface="Arimo"/>
                <a:cs typeface="Arimo"/>
                <a:sym typeface="Arimo"/>
              </a:rPr>
              <a:t>Craft a Blueprint Brilliance, sketching the future with strategic innovation.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12907988" y="3967162"/>
            <a:ext cx="4010083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39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Blueprint Brilliance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12907988" y="5753100"/>
            <a:ext cx="3648531" cy="5467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400">
                <a:solidFill>
                  <a:srgbClr val="000000">
                    <a:alpha val="64706"/>
                  </a:srgbClr>
                </a:solidFill>
                <a:latin typeface="Arimo"/>
                <a:ea typeface="Arimo"/>
                <a:cs typeface="Arimo"/>
                <a:sym typeface="Arimo"/>
              </a:rPr>
              <a:t>Execute with Precision, transforming innovative concepts into tangible success. 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12907988" y="5376862"/>
            <a:ext cx="4162945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39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Precision Execution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12907988" y="7162800"/>
            <a:ext cx="4162946" cy="5467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400">
                <a:solidFill>
                  <a:srgbClr val="000000">
                    <a:alpha val="64706"/>
                  </a:srgbClr>
                </a:solidFill>
                <a:latin typeface="Arimo"/>
                <a:ea typeface="Arimo"/>
                <a:cs typeface="Arimo"/>
                <a:sym typeface="Arimo"/>
              </a:rPr>
              <a:t>Ascend the Performance Peaks, surveying key metrics from the strategic summit. 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12907988" y="6786562"/>
            <a:ext cx="4101800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39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Performance Peaks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12907988" y="8572500"/>
            <a:ext cx="4162946" cy="5467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400">
                <a:solidFill>
                  <a:srgbClr val="000000">
                    <a:alpha val="64706"/>
                  </a:srgbClr>
                </a:solidFill>
                <a:latin typeface="Arimo"/>
                <a:ea typeface="Arimo"/>
                <a:cs typeface="Arimo"/>
                <a:sym typeface="Arimo"/>
              </a:rPr>
              <a:t>Reach the Innovation Zenith, where groundbreaking ideas flourish in the rarefied air. 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12907988" y="8196262"/>
            <a:ext cx="3750218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39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Innovation Zenith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822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184214" y="2384062"/>
            <a:ext cx="7128251" cy="6629273"/>
          </a:xfrm>
          <a:custGeom>
            <a:avLst/>
            <a:gdLst/>
            <a:ahLst/>
            <a:cxnLst/>
            <a:rect r="r" b="b" t="t" l="l"/>
            <a:pathLst>
              <a:path h="6629273" w="7128251">
                <a:moveTo>
                  <a:pt x="0" y="0"/>
                </a:moveTo>
                <a:lnTo>
                  <a:pt x="7128251" y="0"/>
                </a:lnTo>
                <a:lnTo>
                  <a:pt x="7128251" y="6629273"/>
                </a:lnTo>
                <a:lnTo>
                  <a:pt x="0" y="662927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025904" y="866775"/>
            <a:ext cx="14228953" cy="742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59"/>
              </a:lnSpc>
            </a:pPr>
            <a:r>
              <a:rPr lang="en-US" sz="48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Pyramid of Impact - 4 Stages 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5748339" y="2731235"/>
            <a:ext cx="8636208" cy="1297840"/>
            <a:chOff x="0" y="0"/>
            <a:chExt cx="2274557" cy="34181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274557" cy="341818"/>
            </a:xfrm>
            <a:custGeom>
              <a:avLst/>
              <a:gdLst/>
              <a:ahLst/>
              <a:cxnLst/>
              <a:rect r="r" b="b" t="t" l="l"/>
              <a:pathLst>
                <a:path h="341818" w="2274557">
                  <a:moveTo>
                    <a:pt x="31376" y="0"/>
                  </a:moveTo>
                  <a:lnTo>
                    <a:pt x="2243181" y="0"/>
                  </a:lnTo>
                  <a:cubicBezTo>
                    <a:pt x="2251502" y="0"/>
                    <a:pt x="2259483" y="3306"/>
                    <a:pt x="2265367" y="9190"/>
                  </a:cubicBezTo>
                  <a:cubicBezTo>
                    <a:pt x="2271251" y="15074"/>
                    <a:pt x="2274557" y="23054"/>
                    <a:pt x="2274557" y="31376"/>
                  </a:cubicBezTo>
                  <a:lnTo>
                    <a:pt x="2274557" y="310442"/>
                  </a:lnTo>
                  <a:cubicBezTo>
                    <a:pt x="2274557" y="318764"/>
                    <a:pt x="2271251" y="326744"/>
                    <a:pt x="2265367" y="332628"/>
                  </a:cubicBezTo>
                  <a:cubicBezTo>
                    <a:pt x="2259483" y="338512"/>
                    <a:pt x="2251502" y="341818"/>
                    <a:pt x="2243181" y="341818"/>
                  </a:cubicBezTo>
                  <a:lnTo>
                    <a:pt x="31376" y="341818"/>
                  </a:lnTo>
                  <a:cubicBezTo>
                    <a:pt x="23054" y="341818"/>
                    <a:pt x="15074" y="338512"/>
                    <a:pt x="9190" y="332628"/>
                  </a:cubicBezTo>
                  <a:cubicBezTo>
                    <a:pt x="3306" y="326744"/>
                    <a:pt x="0" y="318764"/>
                    <a:pt x="0" y="310442"/>
                  </a:cubicBezTo>
                  <a:lnTo>
                    <a:pt x="0" y="31376"/>
                  </a:lnTo>
                  <a:cubicBezTo>
                    <a:pt x="0" y="23054"/>
                    <a:pt x="3306" y="15074"/>
                    <a:pt x="9190" y="9190"/>
                  </a:cubicBezTo>
                  <a:cubicBezTo>
                    <a:pt x="15074" y="3306"/>
                    <a:pt x="23054" y="0"/>
                    <a:pt x="31376" y="0"/>
                  </a:cubicBezTo>
                  <a:close/>
                </a:path>
              </a:pathLst>
            </a:custGeom>
            <a:solidFill>
              <a:srgbClr val="E1F14F">
                <a:alpha val="89804"/>
              </a:srgbClr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9525"/>
              <a:ext cx="2274557" cy="3513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5748339" y="4286250"/>
            <a:ext cx="8636208" cy="1309688"/>
            <a:chOff x="0" y="0"/>
            <a:chExt cx="2274557" cy="34493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274557" cy="344938"/>
            </a:xfrm>
            <a:custGeom>
              <a:avLst/>
              <a:gdLst/>
              <a:ahLst/>
              <a:cxnLst/>
              <a:rect r="r" b="b" t="t" l="l"/>
              <a:pathLst>
                <a:path h="344938" w="2274557">
                  <a:moveTo>
                    <a:pt x="31376" y="0"/>
                  </a:moveTo>
                  <a:lnTo>
                    <a:pt x="2243181" y="0"/>
                  </a:lnTo>
                  <a:cubicBezTo>
                    <a:pt x="2251502" y="0"/>
                    <a:pt x="2259483" y="3306"/>
                    <a:pt x="2265367" y="9190"/>
                  </a:cubicBezTo>
                  <a:cubicBezTo>
                    <a:pt x="2271251" y="15074"/>
                    <a:pt x="2274557" y="23054"/>
                    <a:pt x="2274557" y="31376"/>
                  </a:cubicBezTo>
                  <a:lnTo>
                    <a:pt x="2274557" y="313563"/>
                  </a:lnTo>
                  <a:cubicBezTo>
                    <a:pt x="2274557" y="321884"/>
                    <a:pt x="2271251" y="329864"/>
                    <a:pt x="2265367" y="335749"/>
                  </a:cubicBezTo>
                  <a:cubicBezTo>
                    <a:pt x="2259483" y="341633"/>
                    <a:pt x="2251502" y="344938"/>
                    <a:pt x="2243181" y="344938"/>
                  </a:cubicBezTo>
                  <a:lnTo>
                    <a:pt x="31376" y="344938"/>
                  </a:lnTo>
                  <a:cubicBezTo>
                    <a:pt x="23054" y="344938"/>
                    <a:pt x="15074" y="341633"/>
                    <a:pt x="9190" y="335749"/>
                  </a:cubicBezTo>
                  <a:cubicBezTo>
                    <a:pt x="3306" y="329864"/>
                    <a:pt x="0" y="321884"/>
                    <a:pt x="0" y="313563"/>
                  </a:cubicBezTo>
                  <a:lnTo>
                    <a:pt x="0" y="31376"/>
                  </a:lnTo>
                  <a:cubicBezTo>
                    <a:pt x="0" y="23054"/>
                    <a:pt x="3306" y="15074"/>
                    <a:pt x="9190" y="9190"/>
                  </a:cubicBezTo>
                  <a:cubicBezTo>
                    <a:pt x="15074" y="3306"/>
                    <a:pt x="23054" y="0"/>
                    <a:pt x="31376" y="0"/>
                  </a:cubicBezTo>
                  <a:close/>
                </a:path>
              </a:pathLst>
            </a:custGeom>
            <a:solidFill>
              <a:srgbClr val="64E09A">
                <a:alpha val="89804"/>
              </a:srgbClr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9525"/>
              <a:ext cx="2274557" cy="3544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5748339" y="5848350"/>
            <a:ext cx="8636208" cy="1314450"/>
            <a:chOff x="0" y="0"/>
            <a:chExt cx="2274557" cy="34619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274557" cy="346193"/>
            </a:xfrm>
            <a:custGeom>
              <a:avLst/>
              <a:gdLst/>
              <a:ahLst/>
              <a:cxnLst/>
              <a:rect r="r" b="b" t="t" l="l"/>
              <a:pathLst>
                <a:path h="346193" w="2274557">
                  <a:moveTo>
                    <a:pt x="31376" y="0"/>
                  </a:moveTo>
                  <a:lnTo>
                    <a:pt x="2243181" y="0"/>
                  </a:lnTo>
                  <a:cubicBezTo>
                    <a:pt x="2251502" y="0"/>
                    <a:pt x="2259483" y="3306"/>
                    <a:pt x="2265367" y="9190"/>
                  </a:cubicBezTo>
                  <a:cubicBezTo>
                    <a:pt x="2271251" y="15074"/>
                    <a:pt x="2274557" y="23054"/>
                    <a:pt x="2274557" y="31376"/>
                  </a:cubicBezTo>
                  <a:lnTo>
                    <a:pt x="2274557" y="314817"/>
                  </a:lnTo>
                  <a:cubicBezTo>
                    <a:pt x="2274557" y="323138"/>
                    <a:pt x="2271251" y="331119"/>
                    <a:pt x="2265367" y="337003"/>
                  </a:cubicBezTo>
                  <a:cubicBezTo>
                    <a:pt x="2259483" y="342887"/>
                    <a:pt x="2251502" y="346193"/>
                    <a:pt x="2243181" y="346193"/>
                  </a:cubicBezTo>
                  <a:lnTo>
                    <a:pt x="31376" y="346193"/>
                  </a:lnTo>
                  <a:cubicBezTo>
                    <a:pt x="23054" y="346193"/>
                    <a:pt x="15074" y="342887"/>
                    <a:pt x="9190" y="337003"/>
                  </a:cubicBezTo>
                  <a:cubicBezTo>
                    <a:pt x="3306" y="331119"/>
                    <a:pt x="0" y="323138"/>
                    <a:pt x="0" y="314817"/>
                  </a:cubicBezTo>
                  <a:lnTo>
                    <a:pt x="0" y="31376"/>
                  </a:lnTo>
                  <a:cubicBezTo>
                    <a:pt x="0" y="23054"/>
                    <a:pt x="3306" y="15074"/>
                    <a:pt x="9190" y="9190"/>
                  </a:cubicBezTo>
                  <a:cubicBezTo>
                    <a:pt x="15074" y="3306"/>
                    <a:pt x="23054" y="0"/>
                    <a:pt x="31376" y="0"/>
                  </a:cubicBezTo>
                  <a:close/>
                </a:path>
              </a:pathLst>
            </a:custGeom>
            <a:solidFill>
              <a:srgbClr val="DBE6F1">
                <a:alpha val="89804"/>
              </a:srgbClr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9525"/>
              <a:ext cx="2274557" cy="3557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5748339" y="7410450"/>
            <a:ext cx="8636208" cy="1319212"/>
            <a:chOff x="0" y="0"/>
            <a:chExt cx="2274557" cy="347447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274557" cy="347447"/>
            </a:xfrm>
            <a:custGeom>
              <a:avLst/>
              <a:gdLst/>
              <a:ahLst/>
              <a:cxnLst/>
              <a:rect r="r" b="b" t="t" l="l"/>
              <a:pathLst>
                <a:path h="347447" w="2274557">
                  <a:moveTo>
                    <a:pt x="31376" y="0"/>
                  </a:moveTo>
                  <a:lnTo>
                    <a:pt x="2243181" y="0"/>
                  </a:lnTo>
                  <a:cubicBezTo>
                    <a:pt x="2251502" y="0"/>
                    <a:pt x="2259483" y="3306"/>
                    <a:pt x="2265367" y="9190"/>
                  </a:cubicBezTo>
                  <a:cubicBezTo>
                    <a:pt x="2271251" y="15074"/>
                    <a:pt x="2274557" y="23054"/>
                    <a:pt x="2274557" y="31376"/>
                  </a:cubicBezTo>
                  <a:lnTo>
                    <a:pt x="2274557" y="316071"/>
                  </a:lnTo>
                  <a:cubicBezTo>
                    <a:pt x="2274557" y="324393"/>
                    <a:pt x="2271251" y="332373"/>
                    <a:pt x="2265367" y="338257"/>
                  </a:cubicBezTo>
                  <a:cubicBezTo>
                    <a:pt x="2259483" y="344141"/>
                    <a:pt x="2251502" y="347447"/>
                    <a:pt x="2243181" y="347447"/>
                  </a:cubicBezTo>
                  <a:lnTo>
                    <a:pt x="31376" y="347447"/>
                  </a:lnTo>
                  <a:cubicBezTo>
                    <a:pt x="23054" y="347447"/>
                    <a:pt x="15074" y="344141"/>
                    <a:pt x="9190" y="338257"/>
                  </a:cubicBezTo>
                  <a:cubicBezTo>
                    <a:pt x="3306" y="332373"/>
                    <a:pt x="0" y="324393"/>
                    <a:pt x="0" y="316071"/>
                  </a:cubicBezTo>
                  <a:lnTo>
                    <a:pt x="0" y="31376"/>
                  </a:lnTo>
                  <a:cubicBezTo>
                    <a:pt x="0" y="23054"/>
                    <a:pt x="3306" y="15074"/>
                    <a:pt x="9190" y="9190"/>
                  </a:cubicBezTo>
                  <a:cubicBezTo>
                    <a:pt x="15074" y="3306"/>
                    <a:pt x="23054" y="0"/>
                    <a:pt x="31376" y="0"/>
                  </a:cubicBezTo>
                  <a:close/>
                </a:path>
              </a:pathLst>
            </a:custGeom>
            <a:solidFill>
              <a:srgbClr val="9C88F6">
                <a:alpha val="89804"/>
              </a:srgbClr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9525"/>
              <a:ext cx="2274557" cy="3569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5534027" y="3022307"/>
            <a:ext cx="428625" cy="571500"/>
          </a:xfrm>
          <a:custGeom>
            <a:avLst/>
            <a:gdLst/>
            <a:ahLst/>
            <a:cxnLst/>
            <a:rect r="r" b="b" t="t" l="l"/>
            <a:pathLst>
              <a:path h="571500" w="428625">
                <a:moveTo>
                  <a:pt x="0" y="0"/>
                </a:moveTo>
                <a:lnTo>
                  <a:pt x="428625" y="0"/>
                </a:lnTo>
                <a:lnTo>
                  <a:pt x="428625" y="571500"/>
                </a:lnTo>
                <a:lnTo>
                  <a:pt x="0" y="5715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5467352" y="4551696"/>
            <a:ext cx="561975" cy="561975"/>
          </a:xfrm>
          <a:custGeom>
            <a:avLst/>
            <a:gdLst/>
            <a:ahLst/>
            <a:cxnLst/>
            <a:rect r="r" b="b" t="t" l="l"/>
            <a:pathLst>
              <a:path h="561975" w="561975">
                <a:moveTo>
                  <a:pt x="0" y="0"/>
                </a:moveTo>
                <a:lnTo>
                  <a:pt x="561975" y="0"/>
                </a:lnTo>
                <a:lnTo>
                  <a:pt x="561975" y="561975"/>
                </a:lnTo>
                <a:lnTo>
                  <a:pt x="0" y="56197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5467352" y="6179996"/>
            <a:ext cx="561975" cy="561975"/>
          </a:xfrm>
          <a:custGeom>
            <a:avLst/>
            <a:gdLst/>
            <a:ahLst/>
            <a:cxnLst/>
            <a:rect r="r" b="b" t="t" l="l"/>
            <a:pathLst>
              <a:path h="561975" w="561975">
                <a:moveTo>
                  <a:pt x="0" y="0"/>
                </a:moveTo>
                <a:lnTo>
                  <a:pt x="561975" y="0"/>
                </a:lnTo>
                <a:lnTo>
                  <a:pt x="561975" y="561975"/>
                </a:lnTo>
                <a:lnTo>
                  <a:pt x="0" y="56197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5424489" y="7606365"/>
            <a:ext cx="647700" cy="647700"/>
          </a:xfrm>
          <a:custGeom>
            <a:avLst/>
            <a:gdLst/>
            <a:ahLst/>
            <a:cxnLst/>
            <a:rect r="r" b="b" t="t" l="l"/>
            <a:pathLst>
              <a:path h="647700" w="647700">
                <a:moveTo>
                  <a:pt x="0" y="0"/>
                </a:moveTo>
                <a:lnTo>
                  <a:pt x="647700" y="0"/>
                </a:lnTo>
                <a:lnTo>
                  <a:pt x="647700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7782898" y="3269328"/>
            <a:ext cx="3915264" cy="5467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4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Build on the Insight Foundation, extracting wisdom from market dynamics. 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7782898" y="2925550"/>
            <a:ext cx="3915264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Insight Foundation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8544993" y="4829828"/>
            <a:ext cx="3362745" cy="5467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4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Elevate with Strategy, plotting a course for success at higher altitudes. 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8544993" y="4486928"/>
            <a:ext cx="3153169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Strategy Elevation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9354719" y="6394309"/>
            <a:ext cx="3362745" cy="5467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4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Master Execution, where precision and agility converge for impactful results. 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9354719" y="6051409"/>
            <a:ext cx="2752012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Execution Mastery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0031079" y="7958790"/>
            <a:ext cx="3667583" cy="5467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4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Stand atop the Triumph Summit, savoring the sweet taste of strategic victory. 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0031079" y="7615890"/>
            <a:ext cx="2953993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Triumph Summit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5003750" y="2971800"/>
            <a:ext cx="1251107" cy="685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79"/>
              </a:lnSpc>
            </a:pPr>
            <a:r>
              <a:rPr lang="en-US" sz="43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01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5003750" y="4543425"/>
            <a:ext cx="1251107" cy="685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79"/>
              </a:lnSpc>
            </a:pPr>
            <a:r>
              <a:rPr lang="en-US" sz="43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02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5003750" y="6105525"/>
            <a:ext cx="1251107" cy="685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79"/>
              </a:lnSpc>
            </a:pPr>
            <a:r>
              <a:rPr lang="en-US" sz="43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03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5003750" y="7677150"/>
            <a:ext cx="1251107" cy="685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79"/>
              </a:lnSpc>
            </a:pPr>
            <a:r>
              <a:rPr lang="en-US" sz="43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04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DAHAGbOl0Vk</dc:identifier>
  <dcterms:modified xsi:type="dcterms:W3CDTF">2011-08-01T06:04:30Z</dcterms:modified>
  <cp:revision>1</cp:revision>
  <dc:title>Corporate Success Innovation Steps Infographic Presentation</dc:title>
</cp:coreProperties>
</file>